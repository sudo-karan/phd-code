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project: an unsupervised, multi-sensor Google Earth Engine pipeline that delineates forest stands from satellite time series. The experimental twist this deck reports: swap only the feature representation — hand-crafted stack vs the pretrained AlphaEarth embedding — and ask which produces more separable stands. All results are from Sanjay Van, Delhi.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motivating gap. Forest management happens at the stand level, but hand-drawn/operational stand maps almost never exist — so we cannot train a supervised model. A single vegetation index is too coarse; structure, phenology and moisture each matter. And managers need coherent polygons, not pixel labels. FMU answers this as unsupervised multi-sensor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end to end. Eight stages: mask to the habitat of interest; load Sentinel-2, Sentinel-1 and auxiliary data; build the multi-sensor feature stack; segment into SNIC superpixels; cluster superpixels into k=6 stand types; profile each cluster in real ecological units; export raster + vectors; and compute comparison metrics. It is entirely config-driven and cached in Earth Engine, so runs are reproducible and cheap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hand-crafted representation. Four sensor families — optical phenology from Sentinel-2, radar from Sentinel-1, canopy structure, and static terrain/climate — combine into a 22-band feature vector, all measured over one unified 2017–2022 window and robust-scaled. This is the "engineered" arm that the learned embedding will be tested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downstream half. SNIC segmentation gives spatially coherent superpixels — and because SNIC never sees the clustering feature vector, boundaries are byte-identical across arms, which is what makes the comparison controlled. k-means (k=6, fixed seed) is band-agnostic, so it runs unchanged on either representation. Profiling makes clusters interpretable; metrics produce the silhouette and cross-arm agreement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Rather than rebuild anything, we swap only the feature vector: the 22-band hand-crafted stack, or the 64-dimensional pretrained AlphaEarth embedding (mean over 2017–2022). Everything downstream — SNIC boundaries, k=6, seed, ROI, window — is held byte-identical. That isolation is what makes any difference in separability attributable to the representation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Restating the control explicitly. Only the feature vector — its dimensionality and its semantics — changes. SNIC boundaries, k, seed, ROI, window, scaling and metric definitions are all fixed. This is a single-variable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honesty. No reference stand map exists, so we cannot and do not claim either representation is more ecologically correct. Every result is bounded to three measurable signals: internal separation (silhouette), cross-representation agreement (ARI/NMI/overlap), and interpretability. The contribution is a methods comparison under label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Intrinsic silhouette — a reference-free measure of how tight and well-separated the clusters are — is +0.113 for AlphaEarth versus −0.007 for the hand-crafted baseline. The baseline is essentially at zero: its six stand types barely separate in feature space. The pretrained embedding yields substantially more separable stands. Because silhouette needs no ground truth, this comparison is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delineations, side by side, on identical SNIC boundaries. Note the colours are per-arm — the same colour means different stands across panels, so correspondence comes from the overlap matrix, not colour. Visually, AlphaEarth produces larger, more coherent stands while the baseline is more fragmented and salt-and-pepper — exactly what the higher silhouette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Agreement between arms. ARI 0.17, NMI 0.23, and about 41% of pixels in corresponding stands after Hungarian alignment — low to moderate. The confusion matrix green rings show best matches: a few stands correspond strongly (73, 49, 48%), others fragment. The point is not that one is right; it is that switching representation substantially reshapes the delineation.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by-product. We aggregate the per-pixel agreement map to each stand, giving a confidence value: mean 40%, with 33% of the area at 80%+ agreement. Framed honestly as consensus/stability between the two representations — where they agree, the stand is robust to the modelling choice — not as a measure of correctness, which would need ground truth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trade-off. The hand-crafted baseline produces clusters you can read in ecological units — canopy height, phenology, backscatter — so a stand is describable. The AlphaEarth embedding is more separable but its 64 dimensions are abstract (A00–A63); ecological meaning has to be recovered after the fact. Separability versus interpretability is the real tension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Tessera was meant to be the third arm — a second open pretrained embedding, giving a three-way comparison. Two things blocked it: for this Delhi ROI Tessera only covers 2024–2025 (a window mismatch with AlphaEarth), and the installed geotessera 0.9.0 reports a covering tile but exports no GeoTIFF, breaking ingestion. The scaffolding exists and the stage is source-agnostic, so it is well-defined future work — reported honestly as attempted,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limitations. No ground truth means no correctness claim. All figures are from a single ROI. The Tessera window gap is a real confound. Silhouette is one metric and k is fixed. The embedding’s separability advantage comes with opacity. And low agreement between arms tells us they differ, not which is better. These frame the scope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One: a reproducible, unsupervised, multi-sensor delineation pipeline that runs both arms to finished reports. Two: with a clean control, the pretrained AlphaEarth embedding produces more separable and more coherent stands (silhouette −0.007 → +0.113), but agrees with the baseline only ~41% and sacrifices interpretability. Three: framed honestly as a methods comparison under label scarcity, with a consensus/confidence layer — never a correctness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and close. Finish Tessera for the three-way comparison; test generalisation across multiple sites; seek any reference for a first external-validity check; and interpret or hybridise the embedding while sweeping k. Bottom line: a controlled swap shows the learned embedding separates stands better — a methods result under label scarcity, stated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62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62A"/>
          </a:solidFill>
          <a:ln/>
        </p:spPr>
      </p:sp>
      <p:pic>
        <p:nvPicPr>
          <p:cNvPr id="3" name="Image 0" descr="preencoded.png">    </p:cNvPr>
          <p:cNvPicPr>
            <a:picLocks noChangeAspect="1"/>
          </p:cNvPicPr>
          <p:nvPr/>
        </p:nvPicPr>
        <p:blipFill>
          <a:blip r:embed="rId1">
            <a:alphaModFix amt="22000"/>
          </a:blip>
          <a:stretch>
            <a:fillRect/>
          </a:stretch>
        </p:blipFill>
        <p:spPr>
          <a:xfrm>
            <a:off x="8869680" y="2103120"/>
            <a:ext cx="4206240" cy="4206240"/>
          </a:xfrm>
          <a:prstGeom prst="rect">
            <a:avLst/>
          </a:prstGeom>
        </p:spPr>
      </p:pic>
      <p:sp>
        <p:nvSpPr>
          <p:cNvPr id="4" name="Shape 1"/>
          <p:cNvSpPr/>
          <p:nvPr/>
        </p:nvSpPr>
        <p:spPr>
          <a:xfrm>
            <a:off x="640080" y="822960"/>
            <a:ext cx="822960" cy="822960"/>
          </a:xfrm>
          <a:prstGeom prst="ellipse">
            <a:avLst/>
          </a:prstGeom>
          <a:solidFill>
            <a:srgbClr val="7FA65B"/>
          </a:solidFill>
          <a:ln/>
        </p:spPr>
      </p:sp>
      <p:pic>
        <p:nvPicPr>
          <p:cNvPr id="5" name="Image 1" descr="preencoded.png">    </p:cNvPr>
          <p:cNvPicPr>
            <a:picLocks noChangeAspect="1"/>
          </p:cNvPicPr>
          <p:nvPr/>
        </p:nvPicPr>
        <p:blipFill>
          <a:blip r:embed="rId2"/>
          <a:stretch>
            <a:fillRect/>
          </a:stretch>
        </p:blipFill>
        <p:spPr>
          <a:xfrm>
            <a:off x="763524" y="946404"/>
            <a:ext cx="576072" cy="576072"/>
          </a:xfrm>
          <a:prstGeom prst="rect">
            <a:avLst/>
          </a:prstGeom>
        </p:spPr>
      </p:pic>
      <p:sp>
        <p:nvSpPr>
          <p:cNvPr id="6" name="Text 2"/>
          <p:cNvSpPr/>
          <p:nvPr/>
        </p:nvSpPr>
        <p:spPr>
          <a:xfrm>
            <a:off x="1600200" y="932688"/>
            <a:ext cx="8229600" cy="365760"/>
          </a:xfrm>
          <a:prstGeom prst="rect">
            <a:avLst/>
          </a:prstGeom>
          <a:noFill/>
          <a:ln/>
        </p:spPr>
        <p:txBody>
          <a:bodyPr wrap="square"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PhD RESEARCH  ·  FOREST REMOTE SENSING</a:t>
            </a:r>
            <a:endParaRPr lang="en-US" sz="1300" dirty="0"/>
          </a:p>
        </p:txBody>
      </p:sp>
      <p:sp>
        <p:nvSpPr>
          <p:cNvPr id="7" name="Text 3"/>
          <p:cNvSpPr/>
          <p:nvPr/>
        </p:nvSpPr>
        <p:spPr>
          <a:xfrm>
            <a:off x="548640" y="1965960"/>
            <a:ext cx="10515600" cy="100584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Forest Management Units</a:t>
            </a:r>
            <a:endParaRPr lang="en-US" sz="5200" dirty="0"/>
          </a:p>
        </p:txBody>
      </p:sp>
      <p:sp>
        <p:nvSpPr>
          <p:cNvPr id="8" name="Text 4"/>
          <p:cNvSpPr/>
          <p:nvPr/>
        </p:nvSpPr>
        <p:spPr>
          <a:xfrm>
            <a:off x="548640" y="3063240"/>
            <a:ext cx="9692640" cy="1005840"/>
          </a:xfrm>
          <a:prstGeom prst="rect">
            <a:avLst/>
          </a:prstGeom>
          <a:noFill/>
          <a:ln/>
        </p:spPr>
        <p:txBody>
          <a:bodyPr wrap="square" rtlCol="0" anchor="ctr"/>
          <a:lstStyle/>
          <a:p>
            <a:pPr indent="0" marL="0">
              <a:lnSpc>
                <a:spcPct val="110000"/>
              </a:lnSpc>
              <a:buNone/>
            </a:pPr>
            <a:r>
              <a:rPr lang="en-US" sz="2000" dirty="0">
                <a:solidFill>
                  <a:srgbClr val="D8E6D2"/>
                </a:solidFill>
                <a:latin typeface="Calibri" pitchFamily="34" charset="0"/>
                <a:ea typeface="Calibri" pitchFamily="34" charset="-122"/>
                <a:cs typeface="Calibri" pitchFamily="34" charset="-120"/>
              </a:rPr>
              <a:t>Delineating forest stands from satellite time series — and testing whether a learned embedding produces more separable stands than a hand-crafted feature stack</a:t>
            </a:r>
            <a:endParaRPr lang="en-US" sz="2000" dirty="0"/>
          </a:p>
        </p:txBody>
      </p:sp>
      <p:sp>
        <p:nvSpPr>
          <p:cNvPr id="9" name="Shape 5"/>
          <p:cNvSpPr/>
          <p:nvPr/>
        </p:nvSpPr>
        <p:spPr>
          <a:xfrm>
            <a:off x="548640" y="4709160"/>
            <a:ext cx="1953158" cy="566928"/>
          </a:xfrm>
          <a:prstGeom prst="roundRect">
            <a:avLst>
              <a:gd name="adj" fmla="val 50000"/>
            </a:avLst>
          </a:prstGeom>
          <a:solidFill>
            <a:srgbClr val="20492F"/>
          </a:solidFill>
          <a:ln w="12700">
            <a:solidFill>
              <a:srgbClr val="7FA65B"/>
            </a:solidFill>
            <a:prstDash val="solid"/>
          </a:ln>
        </p:spPr>
      </p:sp>
      <p:pic>
        <p:nvPicPr>
          <p:cNvPr id="10" name="Image 2" descr="preencoded.png">    </p:cNvPr>
          <p:cNvPicPr>
            <a:picLocks noChangeAspect="1"/>
          </p:cNvPicPr>
          <p:nvPr/>
        </p:nvPicPr>
        <p:blipFill>
          <a:blip r:embed="rId3"/>
          <a:stretch>
            <a:fillRect/>
          </a:stretch>
        </p:blipFill>
        <p:spPr>
          <a:xfrm>
            <a:off x="731520" y="4855464"/>
            <a:ext cx="274320" cy="274320"/>
          </a:xfrm>
          <a:prstGeom prst="rect">
            <a:avLst/>
          </a:prstGeom>
        </p:spPr>
      </p:pic>
      <p:sp>
        <p:nvSpPr>
          <p:cNvPr id="11" name="Text 6"/>
          <p:cNvSpPr/>
          <p:nvPr/>
        </p:nvSpPr>
        <p:spPr>
          <a:xfrm>
            <a:off x="1051560" y="4709160"/>
            <a:ext cx="1404518"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Unsupervised</a:t>
            </a:r>
            <a:endParaRPr lang="en-US" sz="1300" dirty="0"/>
          </a:p>
        </p:txBody>
      </p:sp>
      <p:sp>
        <p:nvSpPr>
          <p:cNvPr id="12" name="Shape 7"/>
          <p:cNvSpPr/>
          <p:nvPr/>
        </p:nvSpPr>
        <p:spPr>
          <a:xfrm>
            <a:off x="2730398" y="4709160"/>
            <a:ext cx="3434486" cy="566928"/>
          </a:xfrm>
          <a:prstGeom prst="roundRect">
            <a:avLst>
              <a:gd name="adj" fmla="val 50000"/>
            </a:avLst>
          </a:prstGeom>
          <a:solidFill>
            <a:srgbClr val="20492F"/>
          </a:solidFill>
          <a:ln w="12700">
            <a:solidFill>
              <a:srgbClr val="7FA65B"/>
            </a:solidFill>
            <a:prstDash val="solid"/>
          </a:ln>
        </p:spPr>
      </p:sp>
      <p:pic>
        <p:nvPicPr>
          <p:cNvPr id="13" name="Image 3" descr="preencoded.png">    </p:cNvPr>
          <p:cNvPicPr>
            <a:picLocks noChangeAspect="1"/>
          </p:cNvPicPr>
          <p:nvPr/>
        </p:nvPicPr>
        <p:blipFill>
          <a:blip r:embed="rId4"/>
          <a:stretch>
            <a:fillRect/>
          </a:stretch>
        </p:blipFill>
        <p:spPr>
          <a:xfrm>
            <a:off x="2913278" y="4855464"/>
            <a:ext cx="274320" cy="274320"/>
          </a:xfrm>
          <a:prstGeom prst="rect">
            <a:avLst/>
          </a:prstGeom>
        </p:spPr>
      </p:pic>
      <p:sp>
        <p:nvSpPr>
          <p:cNvPr id="14" name="Text 8"/>
          <p:cNvSpPr/>
          <p:nvPr/>
        </p:nvSpPr>
        <p:spPr>
          <a:xfrm>
            <a:off x="3233318" y="4709160"/>
            <a:ext cx="2885846"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Multi-sensor · Earth Engine</a:t>
            </a:r>
            <a:endParaRPr lang="en-US" sz="1300" dirty="0"/>
          </a:p>
        </p:txBody>
      </p:sp>
      <p:sp>
        <p:nvSpPr>
          <p:cNvPr id="15" name="Shape 9"/>
          <p:cNvSpPr/>
          <p:nvPr/>
        </p:nvSpPr>
        <p:spPr>
          <a:xfrm>
            <a:off x="6393485" y="4709160"/>
            <a:ext cx="3928262" cy="566928"/>
          </a:xfrm>
          <a:prstGeom prst="roundRect">
            <a:avLst>
              <a:gd name="adj" fmla="val 50000"/>
            </a:avLst>
          </a:prstGeom>
          <a:solidFill>
            <a:srgbClr val="20492F"/>
          </a:solidFill>
          <a:ln w="12700">
            <a:solidFill>
              <a:srgbClr val="7FA65B"/>
            </a:solidFill>
            <a:prstDash val="solid"/>
          </a:ln>
        </p:spPr>
      </p:sp>
      <p:pic>
        <p:nvPicPr>
          <p:cNvPr id="16" name="Image 4" descr="preencoded.png">    </p:cNvPr>
          <p:cNvPicPr>
            <a:picLocks noChangeAspect="1"/>
          </p:cNvPicPr>
          <p:nvPr/>
        </p:nvPicPr>
        <p:blipFill>
          <a:blip r:embed="rId5"/>
          <a:stretch>
            <a:fillRect/>
          </a:stretch>
        </p:blipFill>
        <p:spPr>
          <a:xfrm>
            <a:off x="6576365" y="4855464"/>
            <a:ext cx="274320" cy="274320"/>
          </a:xfrm>
          <a:prstGeom prst="rect">
            <a:avLst/>
          </a:prstGeom>
        </p:spPr>
      </p:pic>
      <p:sp>
        <p:nvSpPr>
          <p:cNvPr id="17" name="Text 10"/>
          <p:cNvSpPr/>
          <p:nvPr/>
        </p:nvSpPr>
        <p:spPr>
          <a:xfrm>
            <a:off x="6896405" y="4709160"/>
            <a:ext cx="3379622"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Baseline vs AlphaEarth embedding</a:t>
            </a:r>
            <a:endParaRPr lang="en-US" sz="1300" dirty="0"/>
          </a:p>
        </p:txBody>
      </p:sp>
      <p:sp>
        <p:nvSpPr>
          <p:cNvPr id="18" name="Text 11"/>
          <p:cNvSpPr/>
          <p:nvPr/>
        </p:nvSpPr>
        <p:spPr>
          <a:xfrm>
            <a:off x="548640" y="5989320"/>
            <a:ext cx="10058400" cy="365760"/>
          </a:xfrm>
          <a:prstGeom prst="rect">
            <a:avLst/>
          </a:prstGeom>
          <a:noFill/>
          <a:ln/>
        </p:spPr>
        <p:txBody>
          <a:bodyPr wrap="square" rtlCol="0" anchor="ctr"/>
          <a:lstStyle/>
          <a:p>
            <a:pPr indent="0" marL="0">
              <a:buNone/>
            </a:pPr>
            <a:r>
              <a:rPr lang="en-US" sz="1300" i="1" dirty="0">
                <a:solidFill>
                  <a:srgbClr val="A9C4A6"/>
                </a:solidFill>
                <a:latin typeface="Calibri" pitchFamily="34" charset="0"/>
                <a:ea typeface="Calibri" pitchFamily="34" charset="-122"/>
                <a:cs typeface="Calibri" pitchFamily="34" charset="-120"/>
              </a:rPr>
              <a:t>Study area: Sanjay Van, Delhi  ·  13.0 km²  ·  window 2017–2022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MOTIVATION</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Foresters manage in stands — but stand maps rarely exist</a:t>
            </a:r>
            <a:endParaRPr lang="en-US" sz="3200" dirty="0"/>
          </a:p>
        </p:txBody>
      </p:sp>
      <p:sp>
        <p:nvSpPr>
          <p:cNvPr id="4" name="Shape 2"/>
          <p:cNvSpPr/>
          <p:nvPr/>
        </p:nvSpPr>
        <p:spPr>
          <a:xfrm>
            <a:off x="548640" y="1828800"/>
            <a:ext cx="3453384" cy="4206240"/>
          </a:xfrm>
          <a:prstGeom prst="roundRect">
            <a:avLst>
              <a:gd name="adj" fmla="val 3177"/>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845820" y="2125980"/>
            <a:ext cx="777240" cy="777240"/>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962406" y="2242566"/>
            <a:ext cx="544068" cy="544068"/>
          </a:xfrm>
          <a:prstGeom prst="rect">
            <a:avLst/>
          </a:prstGeom>
        </p:spPr>
      </p:pic>
      <p:sp>
        <p:nvSpPr>
          <p:cNvPr id="7" name="Text 4"/>
          <p:cNvSpPr/>
          <p:nvPr/>
        </p:nvSpPr>
        <p:spPr>
          <a:xfrm>
            <a:off x="868680" y="3063240"/>
            <a:ext cx="2813304" cy="777240"/>
          </a:xfrm>
          <a:prstGeom prst="rect">
            <a:avLst/>
          </a:prstGeom>
          <a:noFill/>
          <a:ln/>
        </p:spPr>
        <p:txBody>
          <a:bodyPr wrap="square" rtlCol="0" anchor="ctr"/>
          <a:lstStyle/>
          <a:p>
            <a:pPr indent="0" marL="0">
              <a:buNone/>
            </a:pPr>
            <a:r>
              <a:rPr lang="en-US" sz="1850" b="1" dirty="0">
                <a:solidFill>
                  <a:srgbClr val="1A2620"/>
                </a:solidFill>
                <a:latin typeface="Cambria" pitchFamily="34" charset="0"/>
                <a:ea typeface="Cambria" pitchFamily="34" charset="-122"/>
                <a:cs typeface="Cambria" pitchFamily="34" charset="-120"/>
              </a:rPr>
              <a:t>No labels to learn from</a:t>
            </a:r>
            <a:endParaRPr lang="en-US" sz="1850" dirty="0"/>
          </a:p>
        </p:txBody>
      </p:sp>
      <p:sp>
        <p:nvSpPr>
          <p:cNvPr id="8" name="Text 5"/>
          <p:cNvSpPr/>
          <p:nvPr/>
        </p:nvSpPr>
        <p:spPr>
          <a:xfrm>
            <a:off x="868680" y="3886200"/>
            <a:ext cx="2813304" cy="1920240"/>
          </a:xfrm>
          <a:prstGeom prst="rect">
            <a:avLst/>
          </a:prstGeom>
          <a:noFill/>
          <a:ln/>
        </p:spPr>
        <p:txBody>
          <a:bodyPr wrap="square" rtlCol="0" anchor="ctr"/>
          <a:lstStyle/>
          <a:p>
            <a:pPr indent="0" marL="0">
              <a:lnSpc>
                <a:spcPct val="112000"/>
              </a:lnSpc>
              <a:buNone/>
            </a:pPr>
            <a:r>
              <a:rPr lang="en-US" sz="1450" dirty="0">
                <a:solidFill>
                  <a:srgbClr val="3E4B44"/>
                </a:solidFill>
                <a:latin typeface="Calibri" pitchFamily="34" charset="0"/>
                <a:ea typeface="Calibri" pitchFamily="34" charset="-122"/>
                <a:cs typeface="Calibri" pitchFamily="34" charset="-120"/>
              </a:rPr>
              <a:t>There is no field-drawn or operational stand map for most forests. Supervised segmentation has nothing to train against — so the problem is fundamentally unsupervised.</a:t>
            </a:r>
            <a:endParaRPr lang="en-US" sz="1450" dirty="0"/>
          </a:p>
        </p:txBody>
      </p:sp>
      <p:sp>
        <p:nvSpPr>
          <p:cNvPr id="9" name="Shape 6"/>
          <p:cNvSpPr/>
          <p:nvPr/>
        </p:nvSpPr>
        <p:spPr>
          <a:xfrm>
            <a:off x="4367784" y="1828800"/>
            <a:ext cx="3453384" cy="4206240"/>
          </a:xfrm>
          <a:prstGeom prst="roundRect">
            <a:avLst>
              <a:gd name="adj" fmla="val 3177"/>
            </a:avLst>
          </a:prstGeom>
          <a:solidFill>
            <a:srgbClr val="EEF3E9"/>
          </a:solidFill>
          <a:ln/>
          <a:effectLst>
            <a:outerShdw sx="100000" sy="100000" kx="0" ky="0" algn="bl" rotWithShape="0" blurRad="101600" dist="38100" dir="5400000">
              <a:srgbClr val="9AA9A0">
                <a:alpha val="35000"/>
              </a:srgbClr>
            </a:outerShdw>
          </a:effectLst>
        </p:spPr>
      </p:sp>
      <p:sp>
        <p:nvSpPr>
          <p:cNvPr id="10" name="Shape 7"/>
          <p:cNvSpPr/>
          <p:nvPr/>
        </p:nvSpPr>
        <p:spPr>
          <a:xfrm>
            <a:off x="4664964" y="2125980"/>
            <a:ext cx="777240" cy="777240"/>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4781550" y="2242566"/>
            <a:ext cx="544068" cy="544068"/>
          </a:xfrm>
          <a:prstGeom prst="rect">
            <a:avLst/>
          </a:prstGeom>
        </p:spPr>
      </p:pic>
      <p:sp>
        <p:nvSpPr>
          <p:cNvPr id="12" name="Text 8"/>
          <p:cNvSpPr/>
          <p:nvPr/>
        </p:nvSpPr>
        <p:spPr>
          <a:xfrm>
            <a:off x="4687824" y="3063240"/>
            <a:ext cx="2813304" cy="777240"/>
          </a:xfrm>
          <a:prstGeom prst="rect">
            <a:avLst/>
          </a:prstGeom>
          <a:noFill/>
          <a:ln/>
        </p:spPr>
        <p:txBody>
          <a:bodyPr wrap="square" rtlCol="0" anchor="ctr"/>
          <a:lstStyle/>
          <a:p>
            <a:pPr indent="0" marL="0">
              <a:buNone/>
            </a:pPr>
            <a:r>
              <a:rPr lang="en-US" sz="1850" b="1" dirty="0">
                <a:solidFill>
                  <a:srgbClr val="1A2620"/>
                </a:solidFill>
                <a:latin typeface="Cambria" pitchFamily="34" charset="0"/>
                <a:ea typeface="Cambria" pitchFamily="34" charset="-122"/>
                <a:cs typeface="Cambria" pitchFamily="34" charset="-120"/>
              </a:rPr>
              <a:t>One sensor is not enough</a:t>
            </a:r>
            <a:endParaRPr lang="en-US" sz="1850" dirty="0"/>
          </a:p>
        </p:txBody>
      </p:sp>
      <p:sp>
        <p:nvSpPr>
          <p:cNvPr id="13" name="Text 9"/>
          <p:cNvSpPr/>
          <p:nvPr/>
        </p:nvSpPr>
        <p:spPr>
          <a:xfrm>
            <a:off x="4687824" y="3886200"/>
            <a:ext cx="2813304" cy="1920240"/>
          </a:xfrm>
          <a:prstGeom prst="rect">
            <a:avLst/>
          </a:prstGeom>
          <a:noFill/>
          <a:ln/>
        </p:spPr>
        <p:txBody>
          <a:bodyPr wrap="square" rtlCol="0" anchor="ctr"/>
          <a:lstStyle/>
          <a:p>
            <a:pPr indent="0" marL="0">
              <a:lnSpc>
                <a:spcPct val="112000"/>
              </a:lnSpc>
              <a:buNone/>
            </a:pPr>
            <a:r>
              <a:rPr lang="en-US" sz="1450" dirty="0">
                <a:solidFill>
                  <a:srgbClr val="3E4B44"/>
                </a:solidFill>
                <a:latin typeface="Calibri" pitchFamily="34" charset="0"/>
                <a:ea typeface="Calibri" pitchFamily="34" charset="-122"/>
                <a:cs typeface="Calibri" pitchFamily="34" charset="-120"/>
              </a:rPr>
              <a:t>Canopy structure, phenology and moisture each reveal a different facet of a stand. A single index (e.g. mean NDVI) collapses ecologically distinct areas together.</a:t>
            </a:r>
            <a:endParaRPr lang="en-US" sz="1450" dirty="0"/>
          </a:p>
        </p:txBody>
      </p:sp>
      <p:sp>
        <p:nvSpPr>
          <p:cNvPr id="14" name="Shape 10"/>
          <p:cNvSpPr/>
          <p:nvPr/>
        </p:nvSpPr>
        <p:spPr>
          <a:xfrm>
            <a:off x="8186928" y="1828800"/>
            <a:ext cx="3453384" cy="4206240"/>
          </a:xfrm>
          <a:prstGeom prst="roundRect">
            <a:avLst>
              <a:gd name="adj" fmla="val 3177"/>
            </a:avLst>
          </a:prstGeom>
          <a:solidFill>
            <a:srgbClr val="EEF3E9"/>
          </a:solidFill>
          <a:ln/>
          <a:effectLst>
            <a:outerShdw sx="100000" sy="100000" kx="0" ky="0" algn="bl" rotWithShape="0" blurRad="101600" dist="38100" dir="5400000">
              <a:srgbClr val="9AA9A0">
                <a:alpha val="35000"/>
              </a:srgbClr>
            </a:outerShdw>
          </a:effectLst>
        </p:spPr>
      </p:sp>
      <p:sp>
        <p:nvSpPr>
          <p:cNvPr id="15" name="Shape 11"/>
          <p:cNvSpPr/>
          <p:nvPr/>
        </p:nvSpPr>
        <p:spPr>
          <a:xfrm>
            <a:off x="8484108" y="2125980"/>
            <a:ext cx="777240" cy="777240"/>
          </a:xfrm>
          <a:prstGeom prst="ellipse">
            <a:avLst/>
          </a:prstGeom>
          <a:solidFill>
            <a:srgbClr val="2C5F2D"/>
          </a:solidFill>
          <a:ln/>
        </p:spPr>
      </p:sp>
      <p:pic>
        <p:nvPicPr>
          <p:cNvPr id="16" name="Image 2" descr="preencoded.png">    </p:cNvPr>
          <p:cNvPicPr>
            <a:picLocks noChangeAspect="1"/>
          </p:cNvPicPr>
          <p:nvPr/>
        </p:nvPicPr>
        <p:blipFill>
          <a:blip r:embed="rId3"/>
          <a:stretch>
            <a:fillRect/>
          </a:stretch>
        </p:blipFill>
        <p:spPr>
          <a:xfrm>
            <a:off x="8600694" y="2242566"/>
            <a:ext cx="544068" cy="544068"/>
          </a:xfrm>
          <a:prstGeom prst="rect">
            <a:avLst/>
          </a:prstGeom>
        </p:spPr>
      </p:pic>
      <p:sp>
        <p:nvSpPr>
          <p:cNvPr id="17" name="Text 12"/>
          <p:cNvSpPr/>
          <p:nvPr/>
        </p:nvSpPr>
        <p:spPr>
          <a:xfrm>
            <a:off x="8506968" y="3063240"/>
            <a:ext cx="2813304" cy="777240"/>
          </a:xfrm>
          <a:prstGeom prst="rect">
            <a:avLst/>
          </a:prstGeom>
          <a:noFill/>
          <a:ln/>
        </p:spPr>
        <p:txBody>
          <a:bodyPr wrap="square" rtlCol="0" anchor="ctr"/>
          <a:lstStyle/>
          <a:p>
            <a:pPr indent="0" marL="0">
              <a:buNone/>
            </a:pPr>
            <a:r>
              <a:rPr lang="en-US" sz="1850" b="1" dirty="0">
                <a:solidFill>
                  <a:srgbClr val="1A2620"/>
                </a:solidFill>
                <a:latin typeface="Cambria" pitchFamily="34" charset="0"/>
                <a:ea typeface="Cambria" pitchFamily="34" charset="-122"/>
                <a:cs typeface="Cambria" pitchFamily="34" charset="-120"/>
              </a:rPr>
              <a:t>Pixels aren’t management units</a:t>
            </a:r>
            <a:endParaRPr lang="en-US" sz="1850" dirty="0"/>
          </a:p>
        </p:txBody>
      </p:sp>
      <p:sp>
        <p:nvSpPr>
          <p:cNvPr id="18" name="Text 13"/>
          <p:cNvSpPr/>
          <p:nvPr/>
        </p:nvSpPr>
        <p:spPr>
          <a:xfrm>
            <a:off x="8506968" y="3886200"/>
            <a:ext cx="2813304" cy="1920240"/>
          </a:xfrm>
          <a:prstGeom prst="rect">
            <a:avLst/>
          </a:prstGeom>
          <a:noFill/>
          <a:ln/>
        </p:spPr>
        <p:txBody>
          <a:bodyPr wrap="square" rtlCol="0" anchor="ctr"/>
          <a:lstStyle/>
          <a:p>
            <a:pPr indent="0" marL="0">
              <a:lnSpc>
                <a:spcPct val="112000"/>
              </a:lnSpc>
              <a:buNone/>
            </a:pPr>
            <a:r>
              <a:rPr lang="en-US" sz="1450" dirty="0">
                <a:solidFill>
                  <a:srgbClr val="3E4B44"/>
                </a:solidFill>
                <a:latin typeface="Calibri" pitchFamily="34" charset="0"/>
                <a:ea typeface="Calibri" pitchFamily="34" charset="-122"/>
                <a:cs typeface="Calibri" pitchFamily="34" charset="-120"/>
              </a:rPr>
              <a:t>Managers act on contiguous stands, not per-pixel classes. Delineation must yield coherent polygons with describable ecological character.</a:t>
            </a:r>
            <a:endParaRPr lang="en-US" sz="1450" dirty="0"/>
          </a:p>
        </p:txBody>
      </p:sp>
      <p:sp>
        <p:nvSpPr>
          <p:cNvPr id="19" name="Text 14"/>
          <p:cNvSpPr/>
          <p:nvPr/>
        </p:nvSpPr>
        <p:spPr>
          <a:xfrm>
            <a:off x="548640" y="6263640"/>
            <a:ext cx="11091672" cy="365760"/>
          </a:xfrm>
          <a:prstGeom prst="rect">
            <a:avLst/>
          </a:prstGeom>
          <a:noFill/>
          <a:ln/>
        </p:spPr>
        <p:txBody>
          <a:bodyPr wrap="square" rtlCol="0" anchor="ctr"/>
          <a:lstStyle/>
          <a:p>
            <a:pPr indent="0" marL="0">
              <a:buNone/>
            </a:pPr>
            <a:r>
              <a:rPr lang="en-US" sz="1400" b="1" i="1" dirty="0">
                <a:solidFill>
                  <a:srgbClr val="2C5F2D"/>
                </a:solidFill>
                <a:latin typeface="Calibri" pitchFamily="34" charset="0"/>
                <a:ea typeface="Calibri" pitchFamily="34" charset="-122"/>
                <a:cs typeface="Calibri" pitchFamily="34" charset="-120"/>
              </a:rPr>
              <a:t>FMU treats delineation as unsupervised segmentation of a multi-sensor time series — no labels required.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2C5F2D"/>
                </a:solidFill>
                <a:latin typeface="Calibri" pitchFamily="34" charset="0"/>
                <a:ea typeface="Calibri" pitchFamily="34" charset="-122"/>
                <a:cs typeface="Calibri" pitchFamily="34" charset="-120"/>
              </a:rPr>
              <a:t>WHAT WE BUILT</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FMU: a config-driven Earth Engine pipeline, satellite → stands</a:t>
            </a:r>
            <a:endParaRPr lang="en-US" sz="3200" dirty="0"/>
          </a:p>
        </p:txBody>
      </p:sp>
      <p:sp>
        <p:nvSpPr>
          <p:cNvPr id="4" name="Shape 2"/>
          <p:cNvSpPr/>
          <p:nvPr/>
        </p:nvSpPr>
        <p:spPr>
          <a:xfrm>
            <a:off x="548640"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5" name="Shape 3"/>
          <p:cNvSpPr/>
          <p:nvPr/>
        </p:nvSpPr>
        <p:spPr>
          <a:xfrm>
            <a:off x="749237" y="2569464"/>
            <a:ext cx="841248" cy="841248"/>
          </a:xfrm>
          <a:prstGeom prst="ellipse">
            <a:avLst/>
          </a:prstGeom>
          <a:solidFill>
            <a:srgbClr val="4E7080"/>
          </a:solidFill>
          <a:ln/>
        </p:spPr>
      </p:sp>
      <p:pic>
        <p:nvPicPr>
          <p:cNvPr id="6" name="Image 0" descr="preencoded.png">    </p:cNvPr>
          <p:cNvPicPr>
            <a:picLocks noChangeAspect="1"/>
          </p:cNvPicPr>
          <p:nvPr/>
        </p:nvPicPr>
        <p:blipFill>
          <a:blip r:embed="rId1"/>
          <a:stretch>
            <a:fillRect/>
          </a:stretch>
        </p:blipFill>
        <p:spPr>
          <a:xfrm>
            <a:off x="875424" y="2695651"/>
            <a:ext cx="588874" cy="588874"/>
          </a:xfrm>
          <a:prstGeom prst="rect">
            <a:avLst/>
          </a:prstGeom>
        </p:spPr>
      </p:pic>
      <p:sp>
        <p:nvSpPr>
          <p:cNvPr id="7" name="Text 4"/>
          <p:cNvSpPr/>
          <p:nvPr/>
        </p:nvSpPr>
        <p:spPr>
          <a:xfrm>
            <a:off x="548640"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Mask</a:t>
            </a:r>
            <a:endParaRPr lang="en-US" sz="1450" dirty="0"/>
          </a:p>
        </p:txBody>
      </p:sp>
      <p:sp>
        <p:nvSpPr>
          <p:cNvPr id="8" name="Text 5"/>
          <p:cNvSpPr/>
          <p:nvPr/>
        </p:nvSpPr>
        <p:spPr>
          <a:xfrm>
            <a:off x="502920"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habitat mask</a:t>
            </a:r>
            <a:endParaRPr lang="en-US" sz="1050" dirty="0"/>
          </a:p>
        </p:txBody>
      </p:sp>
      <p:sp>
        <p:nvSpPr>
          <p:cNvPr id="9" name="Text 6"/>
          <p:cNvSpPr/>
          <p:nvPr/>
        </p:nvSpPr>
        <p:spPr>
          <a:xfrm>
            <a:off x="1772793"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10" name="Shape 7"/>
          <p:cNvSpPr/>
          <p:nvPr/>
        </p:nvSpPr>
        <p:spPr>
          <a:xfrm>
            <a:off x="1955673"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11" name="Shape 8"/>
          <p:cNvSpPr/>
          <p:nvPr/>
        </p:nvSpPr>
        <p:spPr>
          <a:xfrm>
            <a:off x="2156270" y="2569464"/>
            <a:ext cx="841248" cy="841248"/>
          </a:xfrm>
          <a:prstGeom prst="ellipse">
            <a:avLst/>
          </a:prstGeom>
          <a:solidFill>
            <a:srgbClr val="4E7080"/>
          </a:solidFill>
          <a:ln/>
        </p:spPr>
      </p:sp>
      <p:pic>
        <p:nvPicPr>
          <p:cNvPr id="12" name="Image 1" descr="preencoded.png">    </p:cNvPr>
          <p:cNvPicPr>
            <a:picLocks noChangeAspect="1"/>
          </p:cNvPicPr>
          <p:nvPr/>
        </p:nvPicPr>
        <p:blipFill>
          <a:blip r:embed="rId2"/>
          <a:stretch>
            <a:fillRect/>
          </a:stretch>
        </p:blipFill>
        <p:spPr>
          <a:xfrm>
            <a:off x="2282457" y="2695651"/>
            <a:ext cx="588874" cy="588874"/>
          </a:xfrm>
          <a:prstGeom prst="rect">
            <a:avLst/>
          </a:prstGeom>
        </p:spPr>
      </p:pic>
      <p:sp>
        <p:nvSpPr>
          <p:cNvPr id="13" name="Text 9"/>
          <p:cNvSpPr/>
          <p:nvPr/>
        </p:nvSpPr>
        <p:spPr>
          <a:xfrm>
            <a:off x="1955673"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Load</a:t>
            </a:r>
            <a:endParaRPr lang="en-US" sz="1450" dirty="0"/>
          </a:p>
        </p:txBody>
      </p:sp>
      <p:sp>
        <p:nvSpPr>
          <p:cNvPr id="14" name="Text 10"/>
          <p:cNvSpPr/>
          <p:nvPr/>
        </p:nvSpPr>
        <p:spPr>
          <a:xfrm>
            <a:off x="1909953"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S2 / S1 / aux</a:t>
            </a:r>
            <a:endParaRPr lang="en-US" sz="1050" dirty="0"/>
          </a:p>
        </p:txBody>
      </p:sp>
      <p:sp>
        <p:nvSpPr>
          <p:cNvPr id="15" name="Text 11"/>
          <p:cNvSpPr/>
          <p:nvPr/>
        </p:nvSpPr>
        <p:spPr>
          <a:xfrm>
            <a:off x="3179826"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16" name="Shape 12"/>
          <p:cNvSpPr/>
          <p:nvPr/>
        </p:nvSpPr>
        <p:spPr>
          <a:xfrm>
            <a:off x="3362706"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17" name="Shape 13"/>
          <p:cNvSpPr/>
          <p:nvPr/>
        </p:nvSpPr>
        <p:spPr>
          <a:xfrm>
            <a:off x="3563303" y="2569464"/>
            <a:ext cx="841248" cy="841248"/>
          </a:xfrm>
          <a:prstGeom prst="ellipse">
            <a:avLst/>
          </a:prstGeom>
          <a:solidFill>
            <a:srgbClr val="4E7080"/>
          </a:solidFill>
          <a:ln/>
        </p:spPr>
      </p:sp>
      <p:pic>
        <p:nvPicPr>
          <p:cNvPr id="18" name="Image 2" descr="preencoded.png">    </p:cNvPr>
          <p:cNvPicPr>
            <a:picLocks noChangeAspect="1"/>
          </p:cNvPicPr>
          <p:nvPr/>
        </p:nvPicPr>
        <p:blipFill>
          <a:blip r:embed="rId3"/>
          <a:stretch>
            <a:fillRect/>
          </a:stretch>
        </p:blipFill>
        <p:spPr>
          <a:xfrm>
            <a:off x="3689490" y="2695651"/>
            <a:ext cx="588874" cy="588874"/>
          </a:xfrm>
          <a:prstGeom prst="rect">
            <a:avLst/>
          </a:prstGeom>
        </p:spPr>
      </p:pic>
      <p:sp>
        <p:nvSpPr>
          <p:cNvPr id="19" name="Text 14"/>
          <p:cNvSpPr/>
          <p:nvPr/>
        </p:nvSpPr>
        <p:spPr>
          <a:xfrm>
            <a:off x="3362706"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Features</a:t>
            </a:r>
            <a:endParaRPr lang="en-US" sz="1450" dirty="0"/>
          </a:p>
        </p:txBody>
      </p:sp>
      <p:sp>
        <p:nvSpPr>
          <p:cNvPr id="20" name="Text 15"/>
          <p:cNvSpPr/>
          <p:nvPr/>
        </p:nvSpPr>
        <p:spPr>
          <a:xfrm>
            <a:off x="3316986"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multi-sensor</a:t>
            </a:r>
            <a:endParaRPr lang="en-US" sz="1050" dirty="0"/>
          </a:p>
        </p:txBody>
      </p:sp>
      <p:sp>
        <p:nvSpPr>
          <p:cNvPr id="21" name="Text 16"/>
          <p:cNvSpPr/>
          <p:nvPr/>
        </p:nvSpPr>
        <p:spPr>
          <a:xfrm>
            <a:off x="4586859"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22" name="Shape 17"/>
          <p:cNvSpPr/>
          <p:nvPr/>
        </p:nvSpPr>
        <p:spPr>
          <a:xfrm>
            <a:off x="4769739"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23" name="Shape 18"/>
          <p:cNvSpPr/>
          <p:nvPr/>
        </p:nvSpPr>
        <p:spPr>
          <a:xfrm>
            <a:off x="4970336" y="2569464"/>
            <a:ext cx="841248" cy="841248"/>
          </a:xfrm>
          <a:prstGeom prst="ellipse">
            <a:avLst/>
          </a:prstGeom>
          <a:solidFill>
            <a:srgbClr val="2C5F2D"/>
          </a:solidFill>
          <a:ln/>
        </p:spPr>
      </p:sp>
      <p:pic>
        <p:nvPicPr>
          <p:cNvPr id="24" name="Image 3" descr="preencoded.png">    </p:cNvPr>
          <p:cNvPicPr>
            <a:picLocks noChangeAspect="1"/>
          </p:cNvPicPr>
          <p:nvPr/>
        </p:nvPicPr>
        <p:blipFill>
          <a:blip r:embed="rId4"/>
          <a:stretch>
            <a:fillRect/>
          </a:stretch>
        </p:blipFill>
        <p:spPr>
          <a:xfrm>
            <a:off x="5096523" y="2695651"/>
            <a:ext cx="588874" cy="588874"/>
          </a:xfrm>
          <a:prstGeom prst="rect">
            <a:avLst/>
          </a:prstGeom>
        </p:spPr>
      </p:pic>
      <p:sp>
        <p:nvSpPr>
          <p:cNvPr id="25" name="Text 19"/>
          <p:cNvSpPr/>
          <p:nvPr/>
        </p:nvSpPr>
        <p:spPr>
          <a:xfrm>
            <a:off x="4769739"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Segment</a:t>
            </a:r>
            <a:endParaRPr lang="en-US" sz="1450" dirty="0"/>
          </a:p>
        </p:txBody>
      </p:sp>
      <p:sp>
        <p:nvSpPr>
          <p:cNvPr id="26" name="Text 20"/>
          <p:cNvSpPr/>
          <p:nvPr/>
        </p:nvSpPr>
        <p:spPr>
          <a:xfrm>
            <a:off x="4724019"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SNIC superpixels</a:t>
            </a:r>
            <a:endParaRPr lang="en-US" sz="1050" dirty="0"/>
          </a:p>
        </p:txBody>
      </p:sp>
      <p:sp>
        <p:nvSpPr>
          <p:cNvPr id="27" name="Text 21"/>
          <p:cNvSpPr/>
          <p:nvPr/>
        </p:nvSpPr>
        <p:spPr>
          <a:xfrm>
            <a:off x="5993892"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28" name="Shape 22"/>
          <p:cNvSpPr/>
          <p:nvPr/>
        </p:nvSpPr>
        <p:spPr>
          <a:xfrm>
            <a:off x="6176772"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29" name="Shape 23"/>
          <p:cNvSpPr/>
          <p:nvPr/>
        </p:nvSpPr>
        <p:spPr>
          <a:xfrm>
            <a:off x="6377369" y="2569464"/>
            <a:ext cx="841248" cy="841248"/>
          </a:xfrm>
          <a:prstGeom prst="ellipse">
            <a:avLst/>
          </a:prstGeom>
          <a:solidFill>
            <a:srgbClr val="2C5F2D"/>
          </a:solidFill>
          <a:ln/>
        </p:spPr>
      </p:sp>
      <p:pic>
        <p:nvPicPr>
          <p:cNvPr id="30" name="Image 4" descr="preencoded.png">    </p:cNvPr>
          <p:cNvPicPr>
            <a:picLocks noChangeAspect="1"/>
          </p:cNvPicPr>
          <p:nvPr/>
        </p:nvPicPr>
        <p:blipFill>
          <a:blip r:embed="rId5"/>
          <a:stretch>
            <a:fillRect/>
          </a:stretch>
        </p:blipFill>
        <p:spPr>
          <a:xfrm>
            <a:off x="6503556" y="2695651"/>
            <a:ext cx="588874" cy="588874"/>
          </a:xfrm>
          <a:prstGeom prst="rect">
            <a:avLst/>
          </a:prstGeom>
        </p:spPr>
      </p:pic>
      <p:sp>
        <p:nvSpPr>
          <p:cNvPr id="31" name="Text 24"/>
          <p:cNvSpPr/>
          <p:nvPr/>
        </p:nvSpPr>
        <p:spPr>
          <a:xfrm>
            <a:off x="6176772"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Cluster</a:t>
            </a:r>
            <a:endParaRPr lang="en-US" sz="1450" dirty="0"/>
          </a:p>
        </p:txBody>
      </p:sp>
      <p:sp>
        <p:nvSpPr>
          <p:cNvPr id="32" name="Text 25"/>
          <p:cNvSpPr/>
          <p:nvPr/>
        </p:nvSpPr>
        <p:spPr>
          <a:xfrm>
            <a:off x="6131052"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k-means, k=6</a:t>
            </a:r>
            <a:endParaRPr lang="en-US" sz="1050" dirty="0"/>
          </a:p>
        </p:txBody>
      </p:sp>
      <p:sp>
        <p:nvSpPr>
          <p:cNvPr id="33" name="Text 26"/>
          <p:cNvSpPr/>
          <p:nvPr/>
        </p:nvSpPr>
        <p:spPr>
          <a:xfrm>
            <a:off x="7400925"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34" name="Shape 27"/>
          <p:cNvSpPr/>
          <p:nvPr/>
        </p:nvSpPr>
        <p:spPr>
          <a:xfrm>
            <a:off x="7583805"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35" name="Shape 28"/>
          <p:cNvSpPr/>
          <p:nvPr/>
        </p:nvSpPr>
        <p:spPr>
          <a:xfrm>
            <a:off x="7784402" y="2569464"/>
            <a:ext cx="841248" cy="841248"/>
          </a:xfrm>
          <a:prstGeom prst="ellipse">
            <a:avLst/>
          </a:prstGeom>
          <a:solidFill>
            <a:srgbClr val="2C5F2D"/>
          </a:solidFill>
          <a:ln/>
        </p:spPr>
      </p:sp>
      <p:pic>
        <p:nvPicPr>
          <p:cNvPr id="36" name="Image 5" descr="preencoded.png">    </p:cNvPr>
          <p:cNvPicPr>
            <a:picLocks noChangeAspect="1"/>
          </p:cNvPicPr>
          <p:nvPr/>
        </p:nvPicPr>
        <p:blipFill>
          <a:blip r:embed="rId6"/>
          <a:stretch>
            <a:fillRect/>
          </a:stretch>
        </p:blipFill>
        <p:spPr>
          <a:xfrm>
            <a:off x="7910589" y="2695651"/>
            <a:ext cx="588874" cy="588874"/>
          </a:xfrm>
          <a:prstGeom prst="rect">
            <a:avLst/>
          </a:prstGeom>
        </p:spPr>
      </p:pic>
      <p:sp>
        <p:nvSpPr>
          <p:cNvPr id="37" name="Text 29"/>
          <p:cNvSpPr/>
          <p:nvPr/>
        </p:nvSpPr>
        <p:spPr>
          <a:xfrm>
            <a:off x="7583805"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Profile</a:t>
            </a:r>
            <a:endParaRPr lang="en-US" sz="1450" dirty="0"/>
          </a:p>
        </p:txBody>
      </p:sp>
      <p:sp>
        <p:nvSpPr>
          <p:cNvPr id="38" name="Text 30"/>
          <p:cNvSpPr/>
          <p:nvPr/>
        </p:nvSpPr>
        <p:spPr>
          <a:xfrm>
            <a:off x="7538085"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per-stand stats</a:t>
            </a:r>
            <a:endParaRPr lang="en-US" sz="1050" dirty="0"/>
          </a:p>
        </p:txBody>
      </p:sp>
      <p:sp>
        <p:nvSpPr>
          <p:cNvPr id="39" name="Text 31"/>
          <p:cNvSpPr/>
          <p:nvPr/>
        </p:nvSpPr>
        <p:spPr>
          <a:xfrm>
            <a:off x="8807958"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40" name="Shape 32"/>
          <p:cNvSpPr/>
          <p:nvPr/>
        </p:nvSpPr>
        <p:spPr>
          <a:xfrm>
            <a:off x="8990838"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41" name="Shape 33"/>
          <p:cNvSpPr/>
          <p:nvPr/>
        </p:nvSpPr>
        <p:spPr>
          <a:xfrm>
            <a:off x="9191435" y="2569464"/>
            <a:ext cx="841248" cy="841248"/>
          </a:xfrm>
          <a:prstGeom prst="ellipse">
            <a:avLst/>
          </a:prstGeom>
          <a:solidFill>
            <a:srgbClr val="C77E33"/>
          </a:solidFill>
          <a:ln/>
        </p:spPr>
      </p:sp>
      <p:pic>
        <p:nvPicPr>
          <p:cNvPr id="42" name="Image 6" descr="preencoded.png">    </p:cNvPr>
          <p:cNvPicPr>
            <a:picLocks noChangeAspect="1"/>
          </p:cNvPicPr>
          <p:nvPr/>
        </p:nvPicPr>
        <p:blipFill>
          <a:blip r:embed="rId7"/>
          <a:stretch>
            <a:fillRect/>
          </a:stretch>
        </p:blipFill>
        <p:spPr>
          <a:xfrm>
            <a:off x="9317622" y="2695651"/>
            <a:ext cx="588874" cy="588874"/>
          </a:xfrm>
          <a:prstGeom prst="rect">
            <a:avLst/>
          </a:prstGeom>
        </p:spPr>
      </p:pic>
      <p:sp>
        <p:nvSpPr>
          <p:cNvPr id="43" name="Text 34"/>
          <p:cNvSpPr/>
          <p:nvPr/>
        </p:nvSpPr>
        <p:spPr>
          <a:xfrm>
            <a:off x="8990838"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Export</a:t>
            </a:r>
            <a:endParaRPr lang="en-US" sz="1450" dirty="0"/>
          </a:p>
        </p:txBody>
      </p:sp>
      <p:sp>
        <p:nvSpPr>
          <p:cNvPr id="44" name="Text 35"/>
          <p:cNvSpPr/>
          <p:nvPr/>
        </p:nvSpPr>
        <p:spPr>
          <a:xfrm>
            <a:off x="8945118"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raster + vectors</a:t>
            </a:r>
            <a:endParaRPr lang="en-US" sz="1050" dirty="0"/>
          </a:p>
        </p:txBody>
      </p:sp>
      <p:sp>
        <p:nvSpPr>
          <p:cNvPr id="45" name="Text 36"/>
          <p:cNvSpPr/>
          <p:nvPr/>
        </p:nvSpPr>
        <p:spPr>
          <a:xfrm>
            <a:off x="10214991" y="2834640"/>
            <a:ext cx="201168" cy="365760"/>
          </a:xfrm>
          <a:prstGeom prst="rect">
            <a:avLst/>
          </a:prstGeom>
          <a:noFill/>
          <a:ln/>
        </p:spPr>
        <p:txBody>
          <a:bodyPr wrap="square" rtlCol="0" anchor="ctr"/>
          <a:lstStyle/>
          <a:p>
            <a:pPr algn="ctr" indent="0" marL="0">
              <a:buNone/>
            </a:pPr>
            <a:r>
              <a:rPr lang="en-US" sz="1800" b="1" dirty="0">
                <a:solidFill>
                  <a:srgbClr val="7FA65B"/>
                </a:solidFill>
                <a:latin typeface="Calibri" pitchFamily="34" charset="0"/>
                <a:ea typeface="Calibri" pitchFamily="34" charset="-122"/>
                <a:cs typeface="Calibri" pitchFamily="34" charset="-120"/>
              </a:rPr>
              <a:t>›</a:t>
            </a:r>
            <a:endParaRPr lang="en-US" sz="1800" dirty="0"/>
          </a:p>
        </p:txBody>
      </p:sp>
      <p:sp>
        <p:nvSpPr>
          <p:cNvPr id="46" name="Shape 37"/>
          <p:cNvSpPr/>
          <p:nvPr/>
        </p:nvSpPr>
        <p:spPr>
          <a:xfrm>
            <a:off x="10397871" y="2331720"/>
            <a:ext cx="1242441" cy="2286000"/>
          </a:xfrm>
          <a:prstGeom prst="roundRect">
            <a:avLst>
              <a:gd name="adj" fmla="val 8832"/>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47" name="Shape 38"/>
          <p:cNvSpPr/>
          <p:nvPr/>
        </p:nvSpPr>
        <p:spPr>
          <a:xfrm>
            <a:off x="10598468" y="2569464"/>
            <a:ext cx="841248" cy="841248"/>
          </a:xfrm>
          <a:prstGeom prst="ellipse">
            <a:avLst/>
          </a:prstGeom>
          <a:solidFill>
            <a:srgbClr val="C77E33"/>
          </a:solidFill>
          <a:ln/>
        </p:spPr>
      </p:sp>
      <p:pic>
        <p:nvPicPr>
          <p:cNvPr id="48" name="Image 7" descr="preencoded.png">    </p:cNvPr>
          <p:cNvPicPr>
            <a:picLocks noChangeAspect="1"/>
          </p:cNvPicPr>
          <p:nvPr/>
        </p:nvPicPr>
        <p:blipFill>
          <a:blip r:embed="rId8"/>
          <a:stretch>
            <a:fillRect/>
          </a:stretch>
        </p:blipFill>
        <p:spPr>
          <a:xfrm>
            <a:off x="10724655" y="2695651"/>
            <a:ext cx="588874" cy="588874"/>
          </a:xfrm>
          <a:prstGeom prst="rect">
            <a:avLst/>
          </a:prstGeom>
        </p:spPr>
      </p:pic>
      <p:sp>
        <p:nvSpPr>
          <p:cNvPr id="49" name="Text 39"/>
          <p:cNvSpPr/>
          <p:nvPr/>
        </p:nvSpPr>
        <p:spPr>
          <a:xfrm>
            <a:off x="10397871" y="3566160"/>
            <a:ext cx="1242441" cy="320040"/>
          </a:xfrm>
          <a:prstGeom prst="rect">
            <a:avLst/>
          </a:prstGeom>
          <a:noFill/>
          <a:ln/>
        </p:spPr>
        <p:txBody>
          <a:bodyPr wrap="square" rtlCol="0" anchor="ctr"/>
          <a:lstStyle/>
          <a:p>
            <a:pPr algn="ctr" indent="0" marL="0">
              <a:buNone/>
            </a:pPr>
            <a:r>
              <a:rPr lang="en-US" sz="1450" b="1" dirty="0">
                <a:solidFill>
                  <a:srgbClr val="1A2620"/>
                </a:solidFill>
                <a:latin typeface="Cambria" pitchFamily="34" charset="0"/>
                <a:ea typeface="Cambria" pitchFamily="34" charset="-122"/>
                <a:cs typeface="Cambria" pitchFamily="34" charset="-120"/>
              </a:rPr>
              <a:t>Metrics</a:t>
            </a:r>
            <a:endParaRPr lang="en-US" sz="1450" dirty="0"/>
          </a:p>
        </p:txBody>
      </p:sp>
      <p:sp>
        <p:nvSpPr>
          <p:cNvPr id="50" name="Text 40"/>
          <p:cNvSpPr/>
          <p:nvPr/>
        </p:nvSpPr>
        <p:spPr>
          <a:xfrm>
            <a:off x="10352151" y="3931920"/>
            <a:ext cx="1333881" cy="548640"/>
          </a:xfrm>
          <a:prstGeom prst="rect">
            <a:avLst/>
          </a:prstGeom>
          <a:noFill/>
          <a:ln/>
        </p:spPr>
        <p:txBody>
          <a:bodyPr wrap="square" rtlCol="0" anchor="ctr"/>
          <a:lstStyle/>
          <a:p>
            <a:pPr algn="ctr" indent="0" marL="0">
              <a:lnSpc>
                <a:spcPct val="100000"/>
              </a:lnSpc>
              <a:buNone/>
            </a:pPr>
            <a:r>
              <a:rPr lang="en-US" sz="1050" dirty="0">
                <a:solidFill>
                  <a:srgbClr val="5F6F66"/>
                </a:solidFill>
                <a:latin typeface="Calibri" pitchFamily="34" charset="0"/>
                <a:ea typeface="Calibri" pitchFamily="34" charset="-122"/>
                <a:cs typeface="Calibri" pitchFamily="34" charset="-120"/>
              </a:rPr>
              <a:t>compare arms</a:t>
            </a:r>
            <a:endParaRPr lang="en-US" sz="1050" dirty="0"/>
          </a:p>
        </p:txBody>
      </p:sp>
      <p:sp>
        <p:nvSpPr>
          <p:cNvPr id="51" name="Shape 41"/>
          <p:cNvSpPr/>
          <p:nvPr/>
        </p:nvSpPr>
        <p:spPr>
          <a:xfrm>
            <a:off x="548640" y="5056632"/>
            <a:ext cx="219456" cy="219456"/>
          </a:xfrm>
          <a:prstGeom prst="ellipse">
            <a:avLst/>
          </a:prstGeom>
          <a:solidFill>
            <a:srgbClr val="4E7080"/>
          </a:solidFill>
          <a:ln/>
        </p:spPr>
      </p:sp>
      <p:sp>
        <p:nvSpPr>
          <p:cNvPr id="52" name="Text 42"/>
          <p:cNvSpPr/>
          <p:nvPr/>
        </p:nvSpPr>
        <p:spPr>
          <a:xfrm>
            <a:off x="841248" y="4974336"/>
            <a:ext cx="3017520" cy="365760"/>
          </a:xfrm>
          <a:prstGeom prst="rect">
            <a:avLst/>
          </a:prstGeom>
          <a:noFill/>
          <a:ln/>
        </p:spPr>
        <p:txBody>
          <a:bodyPr wrap="square" rtlCol="0" anchor="ctr"/>
          <a:lstStyle/>
          <a:p>
            <a:pPr indent="0" marL="0">
              <a:buNone/>
            </a:pPr>
            <a:r>
              <a:rPr lang="en-US" sz="1250" dirty="0">
                <a:solidFill>
                  <a:srgbClr val="1A2620"/>
                </a:solidFill>
                <a:latin typeface="Calibri" pitchFamily="34" charset="0"/>
                <a:ea typeface="Calibri" pitchFamily="34" charset="-122"/>
                <a:cs typeface="Calibri" pitchFamily="34" charset="-120"/>
              </a:rPr>
              <a:t>Inputs &amp; sensors</a:t>
            </a:r>
            <a:endParaRPr lang="en-US" sz="1250" dirty="0"/>
          </a:p>
        </p:txBody>
      </p:sp>
      <p:sp>
        <p:nvSpPr>
          <p:cNvPr id="53" name="Shape 43"/>
          <p:cNvSpPr/>
          <p:nvPr/>
        </p:nvSpPr>
        <p:spPr>
          <a:xfrm>
            <a:off x="3931920" y="5056632"/>
            <a:ext cx="219456" cy="219456"/>
          </a:xfrm>
          <a:prstGeom prst="ellipse">
            <a:avLst/>
          </a:prstGeom>
          <a:solidFill>
            <a:srgbClr val="2C5F2D"/>
          </a:solidFill>
          <a:ln/>
        </p:spPr>
      </p:sp>
      <p:sp>
        <p:nvSpPr>
          <p:cNvPr id="54" name="Text 44"/>
          <p:cNvSpPr/>
          <p:nvPr/>
        </p:nvSpPr>
        <p:spPr>
          <a:xfrm>
            <a:off x="4224528" y="4974336"/>
            <a:ext cx="3017520" cy="365760"/>
          </a:xfrm>
          <a:prstGeom prst="rect">
            <a:avLst/>
          </a:prstGeom>
          <a:noFill/>
          <a:ln/>
        </p:spPr>
        <p:txBody>
          <a:bodyPr wrap="square" rtlCol="0" anchor="ctr"/>
          <a:lstStyle/>
          <a:p>
            <a:pPr indent="0" marL="0">
              <a:buNone/>
            </a:pPr>
            <a:r>
              <a:rPr lang="en-US" sz="1250" dirty="0">
                <a:solidFill>
                  <a:srgbClr val="1A2620"/>
                </a:solidFill>
                <a:latin typeface="Calibri" pitchFamily="34" charset="0"/>
                <a:ea typeface="Calibri" pitchFamily="34" charset="-122"/>
                <a:cs typeface="Calibri" pitchFamily="34" charset="-120"/>
              </a:rPr>
              <a:t>Delineation core</a:t>
            </a:r>
            <a:endParaRPr lang="en-US" sz="1250" dirty="0"/>
          </a:p>
        </p:txBody>
      </p:sp>
      <p:sp>
        <p:nvSpPr>
          <p:cNvPr id="55" name="Shape 45"/>
          <p:cNvSpPr/>
          <p:nvPr/>
        </p:nvSpPr>
        <p:spPr>
          <a:xfrm>
            <a:off x="7315200" y="5056632"/>
            <a:ext cx="219456" cy="219456"/>
          </a:xfrm>
          <a:prstGeom prst="ellipse">
            <a:avLst/>
          </a:prstGeom>
          <a:solidFill>
            <a:srgbClr val="C77E33"/>
          </a:solidFill>
          <a:ln/>
        </p:spPr>
      </p:sp>
      <p:sp>
        <p:nvSpPr>
          <p:cNvPr id="56" name="Text 46"/>
          <p:cNvSpPr/>
          <p:nvPr/>
        </p:nvSpPr>
        <p:spPr>
          <a:xfrm>
            <a:off x="7607808" y="4974336"/>
            <a:ext cx="3017520" cy="365760"/>
          </a:xfrm>
          <a:prstGeom prst="rect">
            <a:avLst/>
          </a:prstGeom>
          <a:noFill/>
          <a:ln/>
        </p:spPr>
        <p:txBody>
          <a:bodyPr wrap="square" rtlCol="0" anchor="ctr"/>
          <a:lstStyle/>
          <a:p>
            <a:pPr indent="0" marL="0">
              <a:buNone/>
            </a:pPr>
            <a:r>
              <a:rPr lang="en-US" sz="1250" dirty="0">
                <a:solidFill>
                  <a:srgbClr val="1A2620"/>
                </a:solidFill>
                <a:latin typeface="Calibri" pitchFamily="34" charset="0"/>
                <a:ea typeface="Calibri" pitchFamily="34" charset="-122"/>
                <a:cs typeface="Calibri" pitchFamily="34" charset="-120"/>
              </a:rPr>
              <a:t>Analysis &amp; comparison</a:t>
            </a:r>
            <a:endParaRPr lang="en-US" sz="1250" dirty="0"/>
          </a:p>
        </p:txBody>
      </p:sp>
      <p:sp>
        <p:nvSpPr>
          <p:cNvPr id="57" name="Text 47"/>
          <p:cNvSpPr/>
          <p:nvPr/>
        </p:nvSpPr>
        <p:spPr>
          <a:xfrm>
            <a:off x="548640" y="5806440"/>
            <a:ext cx="11091672" cy="640080"/>
          </a:xfrm>
          <a:prstGeom prst="rect">
            <a:avLst/>
          </a:prstGeom>
          <a:noFill/>
          <a:ln/>
        </p:spPr>
        <p:txBody>
          <a:bodyPr wrap="square" rtlCol="0" anchor="ctr"/>
          <a:lstStyle/>
          <a:p>
            <a:pPr indent="0" marL="0">
              <a:lnSpc>
                <a:spcPct val="110000"/>
              </a:lnSpc>
              <a:buNone/>
            </a:pPr>
            <a:r>
              <a:rPr lang="en-US" sz="1450" i="1" dirty="0">
                <a:solidFill>
                  <a:srgbClr val="3E4B44"/>
                </a:solidFill>
                <a:latin typeface="Calibri" pitchFamily="34" charset="0"/>
                <a:ea typeface="Calibri" pitchFamily="34" charset="-122"/>
                <a:cs typeface="Calibri" pitchFamily="34" charset="-120"/>
              </a:rPr>
              <a:t>Every stage is defined in a Pydantic-validated YAML config and cached as an Earth Engine asset — the whole run is reproducible and re-runs are cheap.</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2C5F2D"/>
                </a:solidFill>
                <a:latin typeface="Calibri" pitchFamily="34" charset="0"/>
                <a:ea typeface="Calibri" pitchFamily="34" charset="-122"/>
                <a:cs typeface="Calibri" pitchFamily="34" charset="-120"/>
              </a:rPr>
              <a:t>METHODOLOGY · 1 OF 2</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The hand-crafted feature stack: four sensor families</a:t>
            </a:r>
            <a:endParaRPr lang="en-US" sz="3200" dirty="0"/>
          </a:p>
        </p:txBody>
      </p:sp>
      <p:sp>
        <p:nvSpPr>
          <p:cNvPr id="4" name="Shape 2"/>
          <p:cNvSpPr/>
          <p:nvPr/>
        </p:nvSpPr>
        <p:spPr>
          <a:xfrm>
            <a:off x="548640" y="1828800"/>
            <a:ext cx="5362956" cy="1874520"/>
          </a:xfrm>
          <a:prstGeom prst="roundRect">
            <a:avLst>
              <a:gd name="adj" fmla="val 5854"/>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822960" y="2084832"/>
            <a:ext cx="731520" cy="731520"/>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932688" y="2194560"/>
            <a:ext cx="512064" cy="512064"/>
          </a:xfrm>
          <a:prstGeom prst="rect">
            <a:avLst/>
          </a:prstGeom>
        </p:spPr>
      </p:pic>
      <p:sp>
        <p:nvSpPr>
          <p:cNvPr id="7" name="Text 4"/>
          <p:cNvSpPr/>
          <p:nvPr/>
        </p:nvSpPr>
        <p:spPr>
          <a:xfrm>
            <a:off x="1691640" y="2048256"/>
            <a:ext cx="3991356" cy="36576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Optical / phenology</a:t>
            </a:r>
            <a:endParaRPr lang="en-US" sz="1700" dirty="0"/>
          </a:p>
        </p:txBody>
      </p:sp>
      <p:sp>
        <p:nvSpPr>
          <p:cNvPr id="8" name="Text 5"/>
          <p:cNvSpPr/>
          <p:nvPr/>
        </p:nvSpPr>
        <p:spPr>
          <a:xfrm>
            <a:off x="1691640" y="2432304"/>
            <a:ext cx="3991356" cy="274320"/>
          </a:xfrm>
          <a:prstGeom prst="rect">
            <a:avLst/>
          </a:prstGeom>
          <a:noFill/>
          <a:ln/>
        </p:spPr>
        <p:txBody>
          <a:bodyPr wrap="square" rtlCol="0" anchor="ctr"/>
          <a:lstStyle/>
          <a:p>
            <a:pPr indent="0" marL="0">
              <a:buNone/>
            </a:pPr>
            <a:r>
              <a:rPr lang="en-US" sz="1200" b="1" dirty="0">
                <a:solidFill>
                  <a:srgbClr val="A9631F"/>
                </a:solidFill>
                <a:latin typeface="Calibri" pitchFamily="34" charset="0"/>
                <a:ea typeface="Calibri" pitchFamily="34" charset="-122"/>
                <a:cs typeface="Calibri" pitchFamily="34" charset="-120"/>
              </a:rPr>
              <a:t>Sentinel-2</a:t>
            </a:r>
            <a:endParaRPr lang="en-US" sz="1200" dirty="0"/>
          </a:p>
        </p:txBody>
      </p:sp>
      <p:sp>
        <p:nvSpPr>
          <p:cNvPr id="9" name="Text 6"/>
          <p:cNvSpPr/>
          <p:nvPr/>
        </p:nvSpPr>
        <p:spPr>
          <a:xfrm>
            <a:off x="868680" y="2816352"/>
            <a:ext cx="4722876" cy="77724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NDVI mean, amplitude, phase, trend &amp; residual variance — the seasonal signature of the canopy.</a:t>
            </a:r>
            <a:endParaRPr lang="en-US" sz="1300" dirty="0"/>
          </a:p>
        </p:txBody>
      </p:sp>
      <p:sp>
        <p:nvSpPr>
          <p:cNvPr id="10" name="Shape 7"/>
          <p:cNvSpPr/>
          <p:nvPr/>
        </p:nvSpPr>
        <p:spPr>
          <a:xfrm>
            <a:off x="6277356" y="1828800"/>
            <a:ext cx="5362956" cy="1874520"/>
          </a:xfrm>
          <a:prstGeom prst="roundRect">
            <a:avLst>
              <a:gd name="adj" fmla="val 5854"/>
            </a:avLst>
          </a:prstGeom>
          <a:solidFill>
            <a:srgbClr val="EEF3E9"/>
          </a:solidFill>
          <a:ln/>
          <a:effectLst>
            <a:outerShdw sx="100000" sy="100000" kx="0" ky="0" algn="bl" rotWithShape="0" blurRad="101600" dist="38100" dir="5400000">
              <a:srgbClr val="9AA9A0">
                <a:alpha val="35000"/>
              </a:srgbClr>
            </a:outerShdw>
          </a:effectLst>
        </p:spPr>
      </p:sp>
      <p:sp>
        <p:nvSpPr>
          <p:cNvPr id="11" name="Shape 8"/>
          <p:cNvSpPr/>
          <p:nvPr/>
        </p:nvSpPr>
        <p:spPr>
          <a:xfrm>
            <a:off x="6551676" y="2084832"/>
            <a:ext cx="731520" cy="731520"/>
          </a:xfrm>
          <a:prstGeom prst="ellipse">
            <a:avLst/>
          </a:prstGeom>
          <a:solidFill>
            <a:srgbClr val="2C5F2D"/>
          </a:solidFill>
          <a:ln/>
        </p:spPr>
      </p:sp>
      <p:pic>
        <p:nvPicPr>
          <p:cNvPr id="12" name="Image 1" descr="preencoded.png">    </p:cNvPr>
          <p:cNvPicPr>
            <a:picLocks noChangeAspect="1"/>
          </p:cNvPicPr>
          <p:nvPr/>
        </p:nvPicPr>
        <p:blipFill>
          <a:blip r:embed="rId2"/>
          <a:stretch>
            <a:fillRect/>
          </a:stretch>
        </p:blipFill>
        <p:spPr>
          <a:xfrm>
            <a:off x="6661404" y="2194560"/>
            <a:ext cx="512064" cy="512064"/>
          </a:xfrm>
          <a:prstGeom prst="rect">
            <a:avLst/>
          </a:prstGeom>
        </p:spPr>
      </p:pic>
      <p:sp>
        <p:nvSpPr>
          <p:cNvPr id="13" name="Text 9"/>
          <p:cNvSpPr/>
          <p:nvPr/>
        </p:nvSpPr>
        <p:spPr>
          <a:xfrm>
            <a:off x="7420356" y="2048256"/>
            <a:ext cx="3991356" cy="36576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Radar / structure-moisture</a:t>
            </a:r>
            <a:endParaRPr lang="en-US" sz="1700" dirty="0"/>
          </a:p>
        </p:txBody>
      </p:sp>
      <p:sp>
        <p:nvSpPr>
          <p:cNvPr id="14" name="Text 10"/>
          <p:cNvSpPr/>
          <p:nvPr/>
        </p:nvSpPr>
        <p:spPr>
          <a:xfrm>
            <a:off x="7420356" y="2432304"/>
            <a:ext cx="3991356" cy="274320"/>
          </a:xfrm>
          <a:prstGeom prst="rect">
            <a:avLst/>
          </a:prstGeom>
          <a:noFill/>
          <a:ln/>
        </p:spPr>
        <p:txBody>
          <a:bodyPr wrap="square" rtlCol="0" anchor="ctr"/>
          <a:lstStyle/>
          <a:p>
            <a:pPr indent="0" marL="0">
              <a:buNone/>
            </a:pPr>
            <a:r>
              <a:rPr lang="en-US" sz="1200" b="1" dirty="0">
                <a:solidFill>
                  <a:srgbClr val="A9631F"/>
                </a:solidFill>
                <a:latin typeface="Calibri" pitchFamily="34" charset="0"/>
                <a:ea typeface="Calibri" pitchFamily="34" charset="-122"/>
                <a:cs typeface="Calibri" pitchFamily="34" charset="-120"/>
              </a:rPr>
              <a:t>Sentinel-1</a:t>
            </a:r>
            <a:endParaRPr lang="en-US" sz="1200" dirty="0"/>
          </a:p>
        </p:txBody>
      </p:sp>
      <p:sp>
        <p:nvSpPr>
          <p:cNvPr id="15" name="Text 11"/>
          <p:cNvSpPr/>
          <p:nvPr/>
        </p:nvSpPr>
        <p:spPr>
          <a:xfrm>
            <a:off x="6597396" y="2816352"/>
            <a:ext cx="4722876" cy="77724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VV &amp; VH backscatter percentiles (p10/p50/p90) and spread — sensitive to structure and moisture, cloud-free.</a:t>
            </a:r>
            <a:endParaRPr lang="en-US" sz="1300" dirty="0"/>
          </a:p>
        </p:txBody>
      </p:sp>
      <p:sp>
        <p:nvSpPr>
          <p:cNvPr id="16" name="Shape 12"/>
          <p:cNvSpPr/>
          <p:nvPr/>
        </p:nvSpPr>
        <p:spPr>
          <a:xfrm>
            <a:off x="548640" y="4023360"/>
            <a:ext cx="5362956" cy="1874520"/>
          </a:xfrm>
          <a:prstGeom prst="roundRect">
            <a:avLst>
              <a:gd name="adj" fmla="val 5854"/>
            </a:avLst>
          </a:prstGeom>
          <a:solidFill>
            <a:srgbClr val="EEF3E9"/>
          </a:solidFill>
          <a:ln/>
          <a:effectLst>
            <a:outerShdw sx="100000" sy="100000" kx="0" ky="0" algn="bl" rotWithShape="0" blurRad="101600" dist="38100" dir="5400000">
              <a:srgbClr val="9AA9A0">
                <a:alpha val="35000"/>
              </a:srgbClr>
            </a:outerShdw>
          </a:effectLst>
        </p:spPr>
      </p:sp>
      <p:sp>
        <p:nvSpPr>
          <p:cNvPr id="17" name="Shape 13"/>
          <p:cNvSpPr/>
          <p:nvPr/>
        </p:nvSpPr>
        <p:spPr>
          <a:xfrm>
            <a:off x="822960" y="4279392"/>
            <a:ext cx="731520" cy="731520"/>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32688" y="4389120"/>
            <a:ext cx="512064" cy="512064"/>
          </a:xfrm>
          <a:prstGeom prst="rect">
            <a:avLst/>
          </a:prstGeom>
        </p:spPr>
      </p:pic>
      <p:sp>
        <p:nvSpPr>
          <p:cNvPr id="19" name="Text 14"/>
          <p:cNvSpPr/>
          <p:nvPr/>
        </p:nvSpPr>
        <p:spPr>
          <a:xfrm>
            <a:off x="1691640" y="4242816"/>
            <a:ext cx="3991356" cy="36576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Canopy structure</a:t>
            </a:r>
            <a:endParaRPr lang="en-US" sz="1700" dirty="0"/>
          </a:p>
        </p:txBody>
      </p:sp>
      <p:sp>
        <p:nvSpPr>
          <p:cNvPr id="20" name="Text 15"/>
          <p:cNvSpPr/>
          <p:nvPr/>
        </p:nvSpPr>
        <p:spPr>
          <a:xfrm>
            <a:off x="1691640" y="4626864"/>
            <a:ext cx="3991356" cy="274320"/>
          </a:xfrm>
          <a:prstGeom prst="rect">
            <a:avLst/>
          </a:prstGeom>
          <a:noFill/>
          <a:ln/>
        </p:spPr>
        <p:txBody>
          <a:bodyPr wrap="square" rtlCol="0" anchor="ctr"/>
          <a:lstStyle/>
          <a:p>
            <a:pPr indent="0" marL="0">
              <a:buNone/>
            </a:pPr>
            <a:r>
              <a:rPr lang="en-US" sz="1200" b="1" dirty="0">
                <a:solidFill>
                  <a:srgbClr val="A9631F"/>
                </a:solidFill>
                <a:latin typeface="Calibri" pitchFamily="34" charset="0"/>
                <a:ea typeface="Calibri" pitchFamily="34" charset="-122"/>
                <a:cs typeface="Calibri" pitchFamily="34" charset="-120"/>
              </a:rPr>
              <a:t>GEDI / CHM</a:t>
            </a:r>
            <a:endParaRPr lang="en-US" sz="1200" dirty="0"/>
          </a:p>
        </p:txBody>
      </p:sp>
      <p:sp>
        <p:nvSpPr>
          <p:cNvPr id="21" name="Text 16"/>
          <p:cNvSpPr/>
          <p:nvPr/>
        </p:nvSpPr>
        <p:spPr>
          <a:xfrm>
            <a:off x="868680" y="5010912"/>
            <a:ext cx="4722876" cy="77724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Canopy height (mean, max, std) — vertical structure that optical bands cannot see.</a:t>
            </a:r>
            <a:endParaRPr lang="en-US" sz="1300" dirty="0"/>
          </a:p>
        </p:txBody>
      </p:sp>
      <p:sp>
        <p:nvSpPr>
          <p:cNvPr id="22" name="Shape 17"/>
          <p:cNvSpPr/>
          <p:nvPr/>
        </p:nvSpPr>
        <p:spPr>
          <a:xfrm>
            <a:off x="6277356" y="4023360"/>
            <a:ext cx="5362956" cy="1874520"/>
          </a:xfrm>
          <a:prstGeom prst="roundRect">
            <a:avLst>
              <a:gd name="adj" fmla="val 5854"/>
            </a:avLst>
          </a:prstGeom>
          <a:solidFill>
            <a:srgbClr val="EEF3E9"/>
          </a:solidFill>
          <a:ln/>
          <a:effectLst>
            <a:outerShdw sx="100000" sy="100000" kx="0" ky="0" algn="bl" rotWithShape="0" blurRad="101600" dist="38100" dir="5400000">
              <a:srgbClr val="9AA9A0">
                <a:alpha val="35000"/>
              </a:srgbClr>
            </a:outerShdw>
          </a:effectLst>
        </p:spPr>
      </p:sp>
      <p:sp>
        <p:nvSpPr>
          <p:cNvPr id="23" name="Shape 18"/>
          <p:cNvSpPr/>
          <p:nvPr/>
        </p:nvSpPr>
        <p:spPr>
          <a:xfrm>
            <a:off x="6551676" y="4279392"/>
            <a:ext cx="731520" cy="731520"/>
          </a:xfrm>
          <a:prstGeom prst="ellipse">
            <a:avLst/>
          </a:prstGeom>
          <a:solidFill>
            <a:srgbClr val="2C5F2D"/>
          </a:solidFill>
          <a:ln/>
        </p:spPr>
      </p:sp>
      <p:pic>
        <p:nvPicPr>
          <p:cNvPr id="24" name="Image 3" descr="preencoded.png">    </p:cNvPr>
          <p:cNvPicPr>
            <a:picLocks noChangeAspect="1"/>
          </p:cNvPicPr>
          <p:nvPr/>
        </p:nvPicPr>
        <p:blipFill>
          <a:blip r:embed="rId4"/>
          <a:stretch>
            <a:fillRect/>
          </a:stretch>
        </p:blipFill>
        <p:spPr>
          <a:xfrm>
            <a:off x="6661404" y="4389120"/>
            <a:ext cx="512064" cy="512064"/>
          </a:xfrm>
          <a:prstGeom prst="rect">
            <a:avLst/>
          </a:prstGeom>
        </p:spPr>
      </p:pic>
      <p:sp>
        <p:nvSpPr>
          <p:cNvPr id="25" name="Text 19"/>
          <p:cNvSpPr/>
          <p:nvPr/>
        </p:nvSpPr>
        <p:spPr>
          <a:xfrm>
            <a:off x="7420356" y="4242816"/>
            <a:ext cx="3991356" cy="36576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Static terrain &amp; climate</a:t>
            </a:r>
            <a:endParaRPr lang="en-US" sz="1700" dirty="0"/>
          </a:p>
        </p:txBody>
      </p:sp>
      <p:sp>
        <p:nvSpPr>
          <p:cNvPr id="26" name="Text 20"/>
          <p:cNvSpPr/>
          <p:nvPr/>
        </p:nvSpPr>
        <p:spPr>
          <a:xfrm>
            <a:off x="7420356" y="4626864"/>
            <a:ext cx="3991356" cy="274320"/>
          </a:xfrm>
          <a:prstGeom prst="rect">
            <a:avLst/>
          </a:prstGeom>
          <a:noFill/>
          <a:ln/>
        </p:spPr>
        <p:txBody>
          <a:bodyPr wrap="square" rtlCol="0" anchor="ctr"/>
          <a:lstStyle/>
          <a:p>
            <a:pPr indent="0" marL="0">
              <a:buNone/>
            </a:pPr>
            <a:r>
              <a:rPr lang="en-US" sz="1200" b="1" dirty="0">
                <a:solidFill>
                  <a:srgbClr val="A9631F"/>
                </a:solidFill>
                <a:latin typeface="Calibri" pitchFamily="34" charset="0"/>
                <a:ea typeface="Calibri" pitchFamily="34" charset="-122"/>
                <a:cs typeface="Calibri" pitchFamily="34" charset="-120"/>
              </a:rPr>
              <a:t>DEM / aux</a:t>
            </a:r>
            <a:endParaRPr lang="en-US" sz="1200" dirty="0"/>
          </a:p>
        </p:txBody>
      </p:sp>
      <p:sp>
        <p:nvSpPr>
          <p:cNvPr id="27" name="Text 21"/>
          <p:cNvSpPr/>
          <p:nvPr/>
        </p:nvSpPr>
        <p:spPr>
          <a:xfrm>
            <a:off x="6597396" y="5010912"/>
            <a:ext cx="4722876" cy="77724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Elevation, slope, aspect, annual rainfall, distance to water — the physical template.</a:t>
            </a:r>
            <a:endParaRPr lang="en-US" sz="1300" dirty="0"/>
          </a:p>
        </p:txBody>
      </p:sp>
      <p:sp>
        <p:nvSpPr>
          <p:cNvPr id="28" name="Text 22"/>
          <p:cNvSpPr/>
          <p:nvPr/>
        </p:nvSpPr>
        <p:spPr>
          <a:xfrm>
            <a:off x="548640" y="6172200"/>
            <a:ext cx="11091672" cy="365760"/>
          </a:xfrm>
          <a:prstGeom prst="rect">
            <a:avLst/>
          </a:prstGeom>
          <a:noFill/>
          <a:ln/>
        </p:spPr>
        <p:txBody>
          <a:bodyPr wrap="square" rtlCol="0" anchor="ctr"/>
          <a:lstStyle/>
          <a:p>
            <a:pPr algn="ctr" indent="0" marL="0">
              <a:buNone/>
            </a:pPr>
            <a:r>
              <a:rPr lang="en-US" sz="1450" b="1" dirty="0">
                <a:solidFill>
                  <a:srgbClr val="2C5F2D"/>
                </a:solidFill>
                <a:latin typeface="Calibri" pitchFamily="34" charset="0"/>
                <a:ea typeface="Calibri" pitchFamily="34" charset="-122"/>
                <a:cs typeface="Calibri" pitchFamily="34" charset="-120"/>
              </a:rPr>
              <a:t>22 feature bands</a:t>
            </a:r>
            <a:pPr algn="ctr" indent="0" marL="0">
              <a:buNone/>
            </a:pPr>
            <a:r>
              <a:rPr lang="en-US" sz="1450" dirty="0">
                <a:solidFill>
                  <a:srgbClr val="3E4B44"/>
                </a:solidFill>
                <a:latin typeface="Calibri" pitchFamily="34" charset="0"/>
                <a:ea typeface="Calibri" pitchFamily="34" charset="-122"/>
                <a:cs typeface="Calibri" pitchFamily="34" charset="-120"/>
              </a:rPr>
              <a:t>  ·  all reduced over a single unified 2017–2022 window  ·  robust-scaled before clustering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2C5F2D"/>
                </a:solidFill>
                <a:latin typeface="Calibri" pitchFamily="34" charset="0"/>
                <a:ea typeface="Calibri" pitchFamily="34" charset="-122"/>
                <a:cs typeface="Calibri" pitchFamily="34" charset="-120"/>
              </a:rPr>
              <a:t>METHODOLOGY · 2 OF 2</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From features to describable, comparable stands</a:t>
            </a:r>
            <a:endParaRPr lang="en-US" sz="3200" dirty="0"/>
          </a:p>
        </p:txBody>
      </p:sp>
      <p:sp>
        <p:nvSpPr>
          <p:cNvPr id="4" name="Shape 2"/>
          <p:cNvSpPr/>
          <p:nvPr/>
        </p:nvSpPr>
        <p:spPr>
          <a:xfrm>
            <a:off x="548640" y="1828800"/>
            <a:ext cx="11091672" cy="1060704"/>
          </a:xfrm>
          <a:prstGeom prst="roundRect">
            <a:avLst>
              <a:gd name="adj" fmla="val 10345"/>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832104" y="2002536"/>
            <a:ext cx="713232" cy="713232"/>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939089" y="2109521"/>
            <a:ext cx="499262" cy="499262"/>
          </a:xfrm>
          <a:prstGeom prst="rect">
            <a:avLst/>
          </a:prstGeom>
        </p:spPr>
      </p:pic>
      <p:sp>
        <p:nvSpPr>
          <p:cNvPr id="7" name="Text 4"/>
          <p:cNvSpPr/>
          <p:nvPr/>
        </p:nvSpPr>
        <p:spPr>
          <a:xfrm>
            <a:off x="1737360" y="1956816"/>
            <a:ext cx="9628632" cy="365760"/>
          </a:xfrm>
          <a:prstGeom prst="rect">
            <a:avLst/>
          </a:prstGeom>
          <a:noFill/>
          <a:ln/>
        </p:spPr>
        <p:txBody>
          <a:bodyPr wrap="square" rtlCol="0" anchor="ctr"/>
          <a:lstStyle/>
          <a:p>
            <a:pPr indent="0" marL="0">
              <a:buNone/>
            </a:pPr>
            <a:r>
              <a:rPr lang="en-US" sz="1650" b="1" dirty="0">
                <a:solidFill>
                  <a:srgbClr val="1A2620"/>
                </a:solidFill>
                <a:latin typeface="Cambria" pitchFamily="34" charset="0"/>
                <a:ea typeface="Cambria" pitchFamily="34" charset="-122"/>
                <a:cs typeface="Cambria" pitchFamily="34" charset="-120"/>
              </a:rPr>
              <a:t>Segment — SNIC superpixels</a:t>
            </a:r>
            <a:endParaRPr lang="en-US" sz="1650" dirty="0"/>
          </a:p>
        </p:txBody>
      </p:sp>
      <p:sp>
        <p:nvSpPr>
          <p:cNvPr id="8" name="Text 5"/>
          <p:cNvSpPr/>
          <p:nvPr/>
        </p:nvSpPr>
        <p:spPr>
          <a:xfrm>
            <a:off x="1737360" y="2304288"/>
            <a:ext cx="9537192" cy="548640"/>
          </a:xfrm>
          <a:prstGeom prst="rect">
            <a:avLst/>
          </a:prstGeom>
          <a:noFill/>
          <a:ln/>
        </p:spPr>
        <p:txBody>
          <a:bodyPr wrap="square" rtlCol="0" anchor="ctr"/>
          <a:lstStyle/>
          <a:p>
            <a:pPr indent="0" marL="0">
              <a:lnSpc>
                <a:spcPct val="104000"/>
              </a:lnSpc>
              <a:buNone/>
            </a:pPr>
            <a:r>
              <a:rPr lang="en-US" sz="1250" dirty="0">
                <a:solidFill>
                  <a:srgbClr val="3E4B44"/>
                </a:solidFill>
                <a:latin typeface="Calibri" pitchFamily="34" charset="0"/>
                <a:ea typeface="Calibri" pitchFamily="34" charset="-122"/>
                <a:cs typeface="Calibri" pitchFamily="34" charset="-120"/>
              </a:rPr>
              <a:t>Group pixels into spatially coherent superpixels. Crucially, SNIC uses only composite + structure + radar, so the boundaries are identical across every feature arm — the experiment’s control.</a:t>
            </a:r>
            <a:endParaRPr lang="en-US" sz="1250" dirty="0"/>
          </a:p>
        </p:txBody>
      </p:sp>
      <p:sp>
        <p:nvSpPr>
          <p:cNvPr id="9" name="Shape 6"/>
          <p:cNvSpPr/>
          <p:nvPr/>
        </p:nvSpPr>
        <p:spPr>
          <a:xfrm>
            <a:off x="548640" y="3035808"/>
            <a:ext cx="11091672" cy="1060704"/>
          </a:xfrm>
          <a:prstGeom prst="roundRect">
            <a:avLst>
              <a:gd name="adj" fmla="val 10345"/>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10" name="Shape 7"/>
          <p:cNvSpPr/>
          <p:nvPr/>
        </p:nvSpPr>
        <p:spPr>
          <a:xfrm>
            <a:off x="832104" y="3209544"/>
            <a:ext cx="713232" cy="713232"/>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939089" y="3316529"/>
            <a:ext cx="499262" cy="499262"/>
          </a:xfrm>
          <a:prstGeom prst="rect">
            <a:avLst/>
          </a:prstGeom>
        </p:spPr>
      </p:pic>
      <p:sp>
        <p:nvSpPr>
          <p:cNvPr id="12" name="Text 8"/>
          <p:cNvSpPr/>
          <p:nvPr/>
        </p:nvSpPr>
        <p:spPr>
          <a:xfrm>
            <a:off x="1737360" y="3163824"/>
            <a:ext cx="9628632" cy="365760"/>
          </a:xfrm>
          <a:prstGeom prst="rect">
            <a:avLst/>
          </a:prstGeom>
          <a:noFill/>
          <a:ln/>
        </p:spPr>
        <p:txBody>
          <a:bodyPr wrap="square" rtlCol="0" anchor="ctr"/>
          <a:lstStyle/>
          <a:p>
            <a:pPr indent="0" marL="0">
              <a:buNone/>
            </a:pPr>
            <a:r>
              <a:rPr lang="en-US" sz="1650" b="1" dirty="0">
                <a:solidFill>
                  <a:srgbClr val="1A2620"/>
                </a:solidFill>
                <a:latin typeface="Cambria" pitchFamily="34" charset="0"/>
                <a:ea typeface="Cambria" pitchFamily="34" charset="-122"/>
                <a:cs typeface="Cambria" pitchFamily="34" charset="-120"/>
              </a:rPr>
              <a:t>Cluster — weka k-means (k=6)</a:t>
            </a:r>
            <a:endParaRPr lang="en-US" sz="1650" dirty="0"/>
          </a:p>
        </p:txBody>
      </p:sp>
      <p:sp>
        <p:nvSpPr>
          <p:cNvPr id="13" name="Text 9"/>
          <p:cNvSpPr/>
          <p:nvPr/>
        </p:nvSpPr>
        <p:spPr>
          <a:xfrm>
            <a:off x="1737360" y="3511296"/>
            <a:ext cx="9537192" cy="548640"/>
          </a:xfrm>
          <a:prstGeom prst="rect">
            <a:avLst/>
          </a:prstGeom>
          <a:noFill/>
          <a:ln/>
        </p:spPr>
        <p:txBody>
          <a:bodyPr wrap="square" rtlCol="0" anchor="ctr"/>
          <a:lstStyle/>
          <a:p>
            <a:pPr indent="0" marL="0">
              <a:lnSpc>
                <a:spcPct val="104000"/>
              </a:lnSpc>
              <a:buNone/>
            </a:pPr>
            <a:r>
              <a:rPr lang="en-US" sz="1250" dirty="0">
                <a:solidFill>
                  <a:srgbClr val="3E4B44"/>
                </a:solidFill>
                <a:latin typeface="Calibri" pitchFamily="34" charset="0"/>
                <a:ea typeface="Calibri" pitchFamily="34" charset="-122"/>
                <a:cs typeface="Calibri" pitchFamily="34" charset="-120"/>
              </a:rPr>
              <a:t>Cluster superpixel-mean features into 6 stand types with a fixed seed. The chain is band-name-agnostic, so it runs unchanged on 22 hand-crafted bands or 64 embedding dims.</a:t>
            </a:r>
            <a:endParaRPr lang="en-US" sz="1250" dirty="0"/>
          </a:p>
        </p:txBody>
      </p:sp>
      <p:sp>
        <p:nvSpPr>
          <p:cNvPr id="14" name="Shape 10"/>
          <p:cNvSpPr/>
          <p:nvPr/>
        </p:nvSpPr>
        <p:spPr>
          <a:xfrm>
            <a:off x="548640" y="4242816"/>
            <a:ext cx="11091672" cy="1060704"/>
          </a:xfrm>
          <a:prstGeom prst="roundRect">
            <a:avLst>
              <a:gd name="adj" fmla="val 10345"/>
            </a:avLst>
          </a:prstGeom>
          <a:solidFill>
            <a:srgbClr val="EEF3E9"/>
          </a:solidFill>
          <a:ln/>
          <a:effectLst>
            <a:outerShdw sx="100000" sy="100000" kx="0" ky="0" algn="bl" rotWithShape="0" blurRad="101600" dist="38100" dir="5400000">
              <a:srgbClr val="9AA9A0">
                <a:alpha val="35000"/>
              </a:srgbClr>
            </a:outerShdw>
          </a:effectLst>
        </p:spPr>
      </p:sp>
      <p:sp>
        <p:nvSpPr>
          <p:cNvPr id="15" name="Shape 11"/>
          <p:cNvSpPr/>
          <p:nvPr/>
        </p:nvSpPr>
        <p:spPr>
          <a:xfrm>
            <a:off x="832104" y="4416552"/>
            <a:ext cx="713232" cy="713232"/>
          </a:xfrm>
          <a:prstGeom prst="ellipse">
            <a:avLst/>
          </a:prstGeom>
          <a:solidFill>
            <a:srgbClr val="C77E33"/>
          </a:solidFill>
          <a:ln/>
        </p:spPr>
      </p:sp>
      <p:pic>
        <p:nvPicPr>
          <p:cNvPr id="16" name="Image 2" descr="preencoded.png">    </p:cNvPr>
          <p:cNvPicPr>
            <a:picLocks noChangeAspect="1"/>
          </p:cNvPicPr>
          <p:nvPr/>
        </p:nvPicPr>
        <p:blipFill>
          <a:blip r:embed="rId3"/>
          <a:stretch>
            <a:fillRect/>
          </a:stretch>
        </p:blipFill>
        <p:spPr>
          <a:xfrm>
            <a:off x="939089" y="4523537"/>
            <a:ext cx="499262" cy="499262"/>
          </a:xfrm>
          <a:prstGeom prst="rect">
            <a:avLst/>
          </a:prstGeom>
        </p:spPr>
      </p:pic>
      <p:sp>
        <p:nvSpPr>
          <p:cNvPr id="17" name="Text 12"/>
          <p:cNvSpPr/>
          <p:nvPr/>
        </p:nvSpPr>
        <p:spPr>
          <a:xfrm>
            <a:off x="1737360" y="4370832"/>
            <a:ext cx="9628632" cy="365760"/>
          </a:xfrm>
          <a:prstGeom prst="rect">
            <a:avLst/>
          </a:prstGeom>
          <a:noFill/>
          <a:ln/>
        </p:spPr>
        <p:txBody>
          <a:bodyPr wrap="square" rtlCol="0" anchor="ctr"/>
          <a:lstStyle/>
          <a:p>
            <a:pPr indent="0" marL="0">
              <a:buNone/>
            </a:pPr>
            <a:r>
              <a:rPr lang="en-US" sz="1650" b="1" dirty="0">
                <a:solidFill>
                  <a:srgbClr val="1A2620"/>
                </a:solidFill>
                <a:latin typeface="Cambria" pitchFamily="34" charset="0"/>
                <a:ea typeface="Cambria" pitchFamily="34" charset="-122"/>
                <a:cs typeface="Cambria" pitchFamily="34" charset="-120"/>
              </a:rPr>
              <a:t>Profile — ecological signatures</a:t>
            </a:r>
            <a:endParaRPr lang="en-US" sz="1650" dirty="0"/>
          </a:p>
        </p:txBody>
      </p:sp>
      <p:sp>
        <p:nvSpPr>
          <p:cNvPr id="18" name="Text 13"/>
          <p:cNvSpPr/>
          <p:nvPr/>
        </p:nvSpPr>
        <p:spPr>
          <a:xfrm>
            <a:off x="1737360" y="4718304"/>
            <a:ext cx="9537192" cy="548640"/>
          </a:xfrm>
          <a:prstGeom prst="rect">
            <a:avLst/>
          </a:prstGeom>
          <a:noFill/>
          <a:ln/>
        </p:spPr>
        <p:txBody>
          <a:bodyPr wrap="square" rtlCol="0" anchor="ctr"/>
          <a:lstStyle/>
          <a:p>
            <a:pPr indent="0" marL="0">
              <a:lnSpc>
                <a:spcPct val="104000"/>
              </a:lnSpc>
              <a:buNone/>
            </a:pPr>
            <a:r>
              <a:rPr lang="en-US" sz="1250" dirty="0">
                <a:solidFill>
                  <a:srgbClr val="3E4B44"/>
                </a:solidFill>
                <a:latin typeface="Calibri" pitchFamily="34" charset="0"/>
                <a:ea typeface="Calibri" pitchFamily="34" charset="-122"/>
                <a:cs typeface="Calibri" pitchFamily="34" charset="-120"/>
              </a:rPr>
              <a:t>Summarise every stand in original units (canopy height, NDVI, backscatter…) so a cluster ID becomes a describable forest type.</a:t>
            </a:r>
            <a:endParaRPr lang="en-US" sz="1250" dirty="0"/>
          </a:p>
        </p:txBody>
      </p:sp>
      <p:sp>
        <p:nvSpPr>
          <p:cNvPr id="19" name="Shape 14"/>
          <p:cNvSpPr/>
          <p:nvPr/>
        </p:nvSpPr>
        <p:spPr>
          <a:xfrm>
            <a:off x="548640" y="5449824"/>
            <a:ext cx="11091672" cy="1060704"/>
          </a:xfrm>
          <a:prstGeom prst="roundRect">
            <a:avLst>
              <a:gd name="adj" fmla="val 10345"/>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20" name="Shape 15"/>
          <p:cNvSpPr/>
          <p:nvPr/>
        </p:nvSpPr>
        <p:spPr>
          <a:xfrm>
            <a:off x="832104" y="5623560"/>
            <a:ext cx="713232" cy="713232"/>
          </a:xfrm>
          <a:prstGeom prst="ellipse">
            <a:avLst/>
          </a:prstGeom>
          <a:solidFill>
            <a:srgbClr val="C77E33"/>
          </a:solidFill>
          <a:ln/>
        </p:spPr>
      </p:sp>
      <p:pic>
        <p:nvPicPr>
          <p:cNvPr id="21" name="Image 3" descr="preencoded.png">    </p:cNvPr>
          <p:cNvPicPr>
            <a:picLocks noChangeAspect="1"/>
          </p:cNvPicPr>
          <p:nvPr/>
        </p:nvPicPr>
        <p:blipFill>
          <a:blip r:embed="rId4"/>
          <a:stretch>
            <a:fillRect/>
          </a:stretch>
        </p:blipFill>
        <p:spPr>
          <a:xfrm>
            <a:off x="939089" y="5730545"/>
            <a:ext cx="499262" cy="499262"/>
          </a:xfrm>
          <a:prstGeom prst="rect">
            <a:avLst/>
          </a:prstGeom>
        </p:spPr>
      </p:pic>
      <p:sp>
        <p:nvSpPr>
          <p:cNvPr id="22" name="Text 16"/>
          <p:cNvSpPr/>
          <p:nvPr/>
        </p:nvSpPr>
        <p:spPr>
          <a:xfrm>
            <a:off x="1737360" y="5577840"/>
            <a:ext cx="9628632" cy="365760"/>
          </a:xfrm>
          <a:prstGeom prst="rect">
            <a:avLst/>
          </a:prstGeom>
          <a:noFill/>
          <a:ln/>
        </p:spPr>
        <p:txBody>
          <a:bodyPr wrap="square" rtlCol="0" anchor="ctr"/>
          <a:lstStyle/>
          <a:p>
            <a:pPr indent="0" marL="0">
              <a:buNone/>
            </a:pPr>
            <a:r>
              <a:rPr lang="en-US" sz="1650" b="1" dirty="0">
                <a:solidFill>
                  <a:srgbClr val="1A2620"/>
                </a:solidFill>
                <a:latin typeface="Cambria" pitchFamily="34" charset="0"/>
                <a:ea typeface="Cambria" pitchFamily="34" charset="-122"/>
                <a:cs typeface="Cambria" pitchFamily="34" charset="-120"/>
              </a:rPr>
              <a:t>Metrics — compare arms</a:t>
            </a:r>
            <a:endParaRPr lang="en-US" sz="1650" dirty="0"/>
          </a:p>
        </p:txBody>
      </p:sp>
      <p:sp>
        <p:nvSpPr>
          <p:cNvPr id="23" name="Text 17"/>
          <p:cNvSpPr/>
          <p:nvPr/>
        </p:nvSpPr>
        <p:spPr>
          <a:xfrm>
            <a:off x="1737360" y="5925312"/>
            <a:ext cx="9537192" cy="548640"/>
          </a:xfrm>
          <a:prstGeom prst="rect">
            <a:avLst/>
          </a:prstGeom>
          <a:noFill/>
          <a:ln/>
        </p:spPr>
        <p:txBody>
          <a:bodyPr wrap="square" rtlCol="0" anchor="ctr"/>
          <a:lstStyle/>
          <a:p>
            <a:pPr indent="0" marL="0">
              <a:lnSpc>
                <a:spcPct val="104000"/>
              </a:lnSpc>
              <a:buNone/>
            </a:pPr>
            <a:r>
              <a:rPr lang="en-US" sz="1250" dirty="0">
                <a:solidFill>
                  <a:srgbClr val="3E4B44"/>
                </a:solidFill>
                <a:latin typeface="Calibri" pitchFamily="34" charset="0"/>
                <a:ea typeface="Calibri" pitchFamily="34" charset="-122"/>
                <a:cs typeface="Calibri" pitchFamily="34" charset="-120"/>
              </a:rPr>
              <a:t>Silhouette per arm, plus ARI / NMI / Hungarian overlap / agreement map against a reference config — the basis for the whole comparison.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362A"/>
        </a:solidFill>
      </p:bgPr>
    </p:bg>
    <p:spTree>
      <p:nvGrpSpPr>
        <p:cNvPr id="1" name=""/>
        <p:cNvGrpSpPr/>
        <p:nvPr/>
      </p:nvGrpSpPr>
      <p:grpSpPr>
        <a:xfrm>
          <a:off x="0" y="0"/>
          <a:ext cx="0" cy="0"/>
          <a:chOff x="0" y="0"/>
          <a:chExt cx="0" cy="0"/>
        </a:xfrm>
      </p:grpSpPr>
      <p:sp>
        <p:nvSpPr>
          <p:cNvPr id="2" name="Text 0"/>
          <p:cNvSpPr/>
          <p:nvPr/>
        </p:nvSpPr>
        <p:spPr>
          <a:xfrm>
            <a:off x="548640" y="548640"/>
            <a:ext cx="11091672" cy="320040"/>
          </a:xfrm>
          <a:prstGeom prst="rect">
            <a:avLst/>
          </a:prstGeom>
          <a:noFill/>
          <a:ln/>
        </p:spPr>
        <p:txBody>
          <a:bodyPr wrap="square" rtlCol="0" anchor="ctr"/>
          <a:lstStyle/>
          <a:p>
            <a:pPr indent="0" marL="0">
              <a:buNone/>
            </a:pPr>
            <a:r>
              <a:rPr lang="en-US" sz="1250" b="1" spc="300" kern="0" dirty="0">
                <a:solidFill>
                  <a:srgbClr val="97BC62"/>
                </a:solidFill>
                <a:latin typeface="Calibri" pitchFamily="34" charset="0"/>
                <a:ea typeface="Calibri" pitchFamily="34" charset="-122"/>
                <a:cs typeface="Calibri" pitchFamily="34" charset="-120"/>
              </a:rPr>
              <a:t>THE EXPERIMENT</a:t>
            </a:r>
            <a:endParaRPr lang="en-US" sz="1250" dirty="0"/>
          </a:p>
        </p:txBody>
      </p:sp>
      <p:sp>
        <p:nvSpPr>
          <p:cNvPr id="3" name="Text 1"/>
          <p:cNvSpPr/>
          <p:nvPr/>
        </p:nvSpPr>
        <p:spPr>
          <a:xfrm>
            <a:off x="548640" y="896112"/>
            <a:ext cx="11091672"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Swap only the feature arm</a:t>
            </a:r>
            <a:endParaRPr lang="en-US" sz="3200" dirty="0"/>
          </a:p>
        </p:txBody>
      </p:sp>
      <p:sp>
        <p:nvSpPr>
          <p:cNvPr id="4" name="Text 2"/>
          <p:cNvSpPr/>
          <p:nvPr/>
        </p:nvSpPr>
        <p:spPr>
          <a:xfrm>
            <a:off x="548640" y="1691640"/>
            <a:ext cx="10789920" cy="457200"/>
          </a:xfrm>
          <a:prstGeom prst="rect">
            <a:avLst/>
          </a:prstGeom>
          <a:noFill/>
          <a:ln/>
        </p:spPr>
        <p:txBody>
          <a:bodyPr wrap="square" rtlCol="0" anchor="ctr"/>
          <a:lstStyle/>
          <a:p>
            <a:pPr indent="0" marL="0">
              <a:buNone/>
            </a:pPr>
            <a:r>
              <a:rPr lang="en-US" sz="1550" dirty="0">
                <a:solidFill>
                  <a:srgbClr val="D8E6D2"/>
                </a:solidFill>
                <a:latin typeface="Calibri" pitchFamily="34" charset="0"/>
                <a:ea typeface="Calibri" pitchFamily="34" charset="-122"/>
                <a:cs typeface="Calibri" pitchFamily="34" charset="-120"/>
              </a:rPr>
              <a:t>The field has moved from hand-engineering features to clustering pretrained per-pixel embeddings. The falsifiable question:</a:t>
            </a:r>
            <a:endParaRPr lang="en-US" sz="1550" dirty="0"/>
          </a:p>
        </p:txBody>
      </p:sp>
      <p:sp>
        <p:nvSpPr>
          <p:cNvPr id="5" name="Shape 3"/>
          <p:cNvSpPr/>
          <p:nvPr/>
        </p:nvSpPr>
        <p:spPr>
          <a:xfrm>
            <a:off x="548640" y="2240280"/>
            <a:ext cx="11091672" cy="777240"/>
          </a:xfrm>
          <a:prstGeom prst="roundRect">
            <a:avLst>
              <a:gd name="adj" fmla="val 14118"/>
            </a:avLst>
          </a:prstGeom>
          <a:solidFill>
            <a:srgbClr val="20492F"/>
          </a:solidFill>
          <a:ln w="12700">
            <a:solidFill>
              <a:srgbClr val="7FA65B"/>
            </a:solidFill>
            <a:prstDash val="solid"/>
          </a:ln>
        </p:spPr>
      </p:sp>
      <p:pic>
        <p:nvPicPr>
          <p:cNvPr id="6" name="Image 0" descr="preencoded.png">    </p:cNvPr>
          <p:cNvPicPr>
            <a:picLocks noChangeAspect="1"/>
          </p:cNvPicPr>
          <p:nvPr/>
        </p:nvPicPr>
        <p:blipFill>
          <a:blip r:embed="rId1"/>
          <a:stretch>
            <a:fillRect/>
          </a:stretch>
        </p:blipFill>
        <p:spPr>
          <a:xfrm>
            <a:off x="822960" y="2450592"/>
            <a:ext cx="384048" cy="384048"/>
          </a:xfrm>
          <a:prstGeom prst="rect">
            <a:avLst/>
          </a:prstGeom>
        </p:spPr>
      </p:pic>
      <p:sp>
        <p:nvSpPr>
          <p:cNvPr id="7" name="Text 4"/>
          <p:cNvSpPr/>
          <p:nvPr/>
        </p:nvSpPr>
        <p:spPr>
          <a:xfrm>
            <a:off x="1417320" y="2240280"/>
            <a:ext cx="9994392" cy="777240"/>
          </a:xfrm>
          <a:prstGeom prst="rect">
            <a:avLst/>
          </a:prstGeom>
          <a:noFill/>
          <a:ln/>
        </p:spPr>
        <p:txBody>
          <a:bodyPr wrap="square" rtlCol="0" anchor="ctr"/>
          <a:lstStyle/>
          <a:p>
            <a:pPr indent="0" marL="0">
              <a:buNone/>
            </a:pPr>
            <a:r>
              <a:rPr lang="en-US" sz="1650" b="1" i="1" dirty="0">
                <a:solidFill>
                  <a:srgbClr val="FFFFFF"/>
                </a:solidFill>
                <a:latin typeface="Cambria" pitchFamily="34" charset="0"/>
                <a:ea typeface="Cambria" pitchFamily="34" charset="-122"/>
                <a:cs typeface="Cambria" pitchFamily="34" charset="-120"/>
              </a:rPr>
              <a:t>Does a learned embedding produce more-separable stands than the hand-crafted stack — with everything downstream held fixed?</a:t>
            </a:r>
            <a:endParaRPr lang="en-US" sz="1650" dirty="0"/>
          </a:p>
        </p:txBody>
      </p:sp>
      <p:sp>
        <p:nvSpPr>
          <p:cNvPr id="8" name="Shape 5"/>
          <p:cNvSpPr/>
          <p:nvPr/>
        </p:nvSpPr>
        <p:spPr>
          <a:xfrm>
            <a:off x="548640" y="3383280"/>
            <a:ext cx="3453384" cy="2286000"/>
          </a:xfrm>
          <a:prstGeom prst="roundRect">
            <a:avLst>
              <a:gd name="adj" fmla="val 4800"/>
            </a:avLst>
          </a:prstGeom>
          <a:solidFill>
            <a:srgbClr val="EAF1F3"/>
          </a:solidFill>
          <a:ln/>
        </p:spPr>
      </p:sp>
      <p:sp>
        <p:nvSpPr>
          <p:cNvPr id="9" name="Shape 6"/>
          <p:cNvSpPr/>
          <p:nvPr/>
        </p:nvSpPr>
        <p:spPr>
          <a:xfrm>
            <a:off x="758952" y="3593592"/>
            <a:ext cx="713232" cy="713232"/>
          </a:xfrm>
          <a:prstGeom prst="ellipse">
            <a:avLst/>
          </a:prstGeom>
          <a:solidFill>
            <a:srgbClr val="3A5561"/>
          </a:solidFill>
          <a:ln/>
        </p:spPr>
      </p:sp>
      <p:pic>
        <p:nvPicPr>
          <p:cNvPr id="10" name="Image 1" descr="preencoded.png">    </p:cNvPr>
          <p:cNvPicPr>
            <a:picLocks noChangeAspect="1"/>
          </p:cNvPicPr>
          <p:nvPr/>
        </p:nvPicPr>
        <p:blipFill>
          <a:blip r:embed="rId2"/>
          <a:stretch>
            <a:fillRect/>
          </a:stretch>
        </p:blipFill>
        <p:spPr>
          <a:xfrm>
            <a:off x="865937" y="3700577"/>
            <a:ext cx="499262" cy="499262"/>
          </a:xfrm>
          <a:prstGeom prst="rect">
            <a:avLst/>
          </a:prstGeom>
        </p:spPr>
      </p:pic>
      <p:sp>
        <p:nvSpPr>
          <p:cNvPr id="11" name="Text 7"/>
          <p:cNvSpPr/>
          <p:nvPr/>
        </p:nvSpPr>
        <p:spPr>
          <a:xfrm>
            <a:off x="1600200" y="3657600"/>
            <a:ext cx="2264664" cy="347472"/>
          </a:xfrm>
          <a:prstGeom prst="rect">
            <a:avLst/>
          </a:prstGeom>
          <a:noFill/>
          <a:ln/>
        </p:spPr>
        <p:txBody>
          <a:bodyPr wrap="square" rtlCol="0" anchor="ctr"/>
          <a:lstStyle/>
          <a:p>
            <a:pPr indent="0" marL="0">
              <a:buNone/>
            </a:pPr>
            <a:r>
              <a:rPr lang="en-US" sz="1550" b="1" dirty="0">
                <a:solidFill>
                  <a:srgbClr val="1A2620"/>
                </a:solidFill>
                <a:latin typeface="Cambria" pitchFamily="34" charset="0"/>
                <a:ea typeface="Cambria" pitchFamily="34" charset="-122"/>
                <a:cs typeface="Cambria" pitchFamily="34" charset="-120"/>
              </a:rPr>
              <a:t>Baseline arm</a:t>
            </a:r>
            <a:endParaRPr lang="en-US" sz="1550" dirty="0"/>
          </a:p>
        </p:txBody>
      </p:sp>
      <p:sp>
        <p:nvSpPr>
          <p:cNvPr id="12" name="Text 8"/>
          <p:cNvSpPr/>
          <p:nvPr/>
        </p:nvSpPr>
        <p:spPr>
          <a:xfrm>
            <a:off x="1600200" y="4023360"/>
            <a:ext cx="2264664" cy="274320"/>
          </a:xfrm>
          <a:prstGeom prst="rect">
            <a:avLst/>
          </a:prstGeom>
          <a:noFill/>
          <a:ln/>
        </p:spPr>
        <p:txBody>
          <a:bodyPr wrap="square" rtlCol="0" anchor="ctr"/>
          <a:lstStyle/>
          <a:p>
            <a:pPr indent="0" marL="0">
              <a:buNone/>
            </a:pPr>
            <a:r>
              <a:rPr lang="en-US" sz="1080" b="1" dirty="0">
                <a:solidFill>
                  <a:srgbClr val="3A5561"/>
                </a:solidFill>
                <a:latin typeface="Calibri" pitchFamily="34" charset="0"/>
                <a:ea typeface="Calibri" pitchFamily="34" charset="-122"/>
                <a:cs typeface="Calibri" pitchFamily="34" charset="-120"/>
              </a:rPr>
              <a:t>22 hand-crafted bands</a:t>
            </a:r>
            <a:endParaRPr lang="en-US" sz="1080" dirty="0"/>
          </a:p>
        </p:txBody>
      </p:sp>
      <p:sp>
        <p:nvSpPr>
          <p:cNvPr id="13" name="Text 9"/>
          <p:cNvSpPr/>
          <p:nvPr/>
        </p:nvSpPr>
        <p:spPr>
          <a:xfrm>
            <a:off x="841248" y="4517136"/>
            <a:ext cx="2868168" cy="1051560"/>
          </a:xfrm>
          <a:prstGeom prst="rect">
            <a:avLst/>
          </a:prstGeom>
          <a:noFill/>
          <a:ln/>
        </p:spPr>
        <p:txBody>
          <a:bodyPr wrap="square" rtlCol="0" anchor="ctr"/>
          <a:lstStyle/>
          <a:p>
            <a:pPr indent="0" marL="0">
              <a:lnSpc>
                <a:spcPct val="110000"/>
              </a:lnSpc>
              <a:buNone/>
            </a:pPr>
            <a:r>
              <a:rPr lang="en-US" sz="1250" dirty="0">
                <a:solidFill>
                  <a:srgbClr val="3E4B44"/>
                </a:solidFill>
                <a:latin typeface="Calibri" pitchFamily="34" charset="0"/>
                <a:ea typeface="Calibri" pitchFamily="34" charset="-122"/>
                <a:cs typeface="Calibri" pitchFamily="34" charset="-120"/>
              </a:rPr>
              <a:t>Optical phenology · radar · structure · terrain — engineered by hand.</a:t>
            </a:r>
            <a:endParaRPr lang="en-US" sz="1250" dirty="0"/>
          </a:p>
        </p:txBody>
      </p:sp>
      <p:sp>
        <p:nvSpPr>
          <p:cNvPr id="14" name="Shape 10"/>
          <p:cNvSpPr/>
          <p:nvPr/>
        </p:nvSpPr>
        <p:spPr>
          <a:xfrm>
            <a:off x="4367784" y="3383280"/>
            <a:ext cx="3453384" cy="2286000"/>
          </a:xfrm>
          <a:prstGeom prst="roundRect">
            <a:avLst>
              <a:gd name="adj" fmla="val 4800"/>
            </a:avLst>
          </a:prstGeom>
          <a:solidFill>
            <a:srgbClr val="F7EEE1"/>
          </a:solidFill>
          <a:ln/>
        </p:spPr>
      </p:sp>
      <p:sp>
        <p:nvSpPr>
          <p:cNvPr id="15" name="Shape 11"/>
          <p:cNvSpPr/>
          <p:nvPr/>
        </p:nvSpPr>
        <p:spPr>
          <a:xfrm>
            <a:off x="4578096" y="3593592"/>
            <a:ext cx="713232" cy="713232"/>
          </a:xfrm>
          <a:prstGeom prst="ellipse">
            <a:avLst/>
          </a:prstGeom>
          <a:solidFill>
            <a:srgbClr val="A9631F"/>
          </a:solidFill>
          <a:ln/>
        </p:spPr>
      </p:sp>
      <p:pic>
        <p:nvPicPr>
          <p:cNvPr id="16" name="Image 2" descr="preencoded.png">    </p:cNvPr>
          <p:cNvPicPr>
            <a:picLocks noChangeAspect="1"/>
          </p:cNvPicPr>
          <p:nvPr/>
        </p:nvPicPr>
        <p:blipFill>
          <a:blip r:embed="rId3"/>
          <a:stretch>
            <a:fillRect/>
          </a:stretch>
        </p:blipFill>
        <p:spPr>
          <a:xfrm>
            <a:off x="4685081" y="3700577"/>
            <a:ext cx="499262" cy="499262"/>
          </a:xfrm>
          <a:prstGeom prst="rect">
            <a:avLst/>
          </a:prstGeom>
        </p:spPr>
      </p:pic>
      <p:sp>
        <p:nvSpPr>
          <p:cNvPr id="17" name="Text 12"/>
          <p:cNvSpPr/>
          <p:nvPr/>
        </p:nvSpPr>
        <p:spPr>
          <a:xfrm>
            <a:off x="5419344" y="3657600"/>
            <a:ext cx="2264664" cy="347472"/>
          </a:xfrm>
          <a:prstGeom prst="rect">
            <a:avLst/>
          </a:prstGeom>
          <a:noFill/>
          <a:ln/>
        </p:spPr>
        <p:txBody>
          <a:bodyPr wrap="square" rtlCol="0" anchor="ctr"/>
          <a:lstStyle/>
          <a:p>
            <a:pPr indent="0" marL="0">
              <a:buNone/>
            </a:pPr>
            <a:r>
              <a:rPr lang="en-US" sz="1550" b="1" dirty="0">
                <a:solidFill>
                  <a:srgbClr val="1A2620"/>
                </a:solidFill>
                <a:latin typeface="Cambria" pitchFamily="34" charset="0"/>
                <a:ea typeface="Cambria" pitchFamily="34" charset="-122"/>
                <a:cs typeface="Cambria" pitchFamily="34" charset="-120"/>
              </a:rPr>
              <a:t>AlphaEarth arm</a:t>
            </a:r>
            <a:endParaRPr lang="en-US" sz="1550" dirty="0"/>
          </a:p>
        </p:txBody>
      </p:sp>
      <p:sp>
        <p:nvSpPr>
          <p:cNvPr id="18" name="Text 13"/>
          <p:cNvSpPr/>
          <p:nvPr/>
        </p:nvSpPr>
        <p:spPr>
          <a:xfrm>
            <a:off x="5419344" y="4023360"/>
            <a:ext cx="2264664" cy="274320"/>
          </a:xfrm>
          <a:prstGeom prst="rect">
            <a:avLst/>
          </a:prstGeom>
          <a:noFill/>
          <a:ln/>
        </p:spPr>
        <p:txBody>
          <a:bodyPr wrap="square" rtlCol="0" anchor="ctr"/>
          <a:lstStyle/>
          <a:p>
            <a:pPr indent="0" marL="0">
              <a:buNone/>
            </a:pPr>
            <a:r>
              <a:rPr lang="en-US" sz="1080" b="1" dirty="0">
                <a:solidFill>
                  <a:srgbClr val="A9631F"/>
                </a:solidFill>
                <a:latin typeface="Calibri" pitchFamily="34" charset="0"/>
                <a:ea typeface="Calibri" pitchFamily="34" charset="-122"/>
                <a:cs typeface="Calibri" pitchFamily="34" charset="-120"/>
              </a:rPr>
              <a:t>64-D pretrained embedding</a:t>
            </a:r>
            <a:endParaRPr lang="en-US" sz="1080" dirty="0"/>
          </a:p>
        </p:txBody>
      </p:sp>
      <p:sp>
        <p:nvSpPr>
          <p:cNvPr id="19" name="Text 14"/>
          <p:cNvSpPr/>
          <p:nvPr/>
        </p:nvSpPr>
        <p:spPr>
          <a:xfrm>
            <a:off x="4660392" y="4517136"/>
            <a:ext cx="2868168" cy="1051560"/>
          </a:xfrm>
          <a:prstGeom prst="rect">
            <a:avLst/>
          </a:prstGeom>
          <a:noFill/>
          <a:ln/>
        </p:spPr>
        <p:txBody>
          <a:bodyPr wrap="square" rtlCol="0" anchor="ctr"/>
          <a:lstStyle/>
          <a:p>
            <a:pPr indent="0" marL="0">
              <a:lnSpc>
                <a:spcPct val="110000"/>
              </a:lnSpc>
              <a:buNone/>
            </a:pPr>
            <a:r>
              <a:rPr lang="en-US" sz="1250" dirty="0">
                <a:solidFill>
                  <a:srgbClr val="3E4B44"/>
                </a:solidFill>
                <a:latin typeface="Calibri" pitchFamily="34" charset="0"/>
                <a:ea typeface="Calibri" pitchFamily="34" charset="-122"/>
                <a:cs typeface="Calibri" pitchFamily="34" charset="-120"/>
              </a:rPr>
              <a:t>One learned vector per pixel (Google Satellite Embedding), mean over 2017–2022.</a:t>
            </a:r>
            <a:endParaRPr lang="en-US" sz="1250" dirty="0"/>
          </a:p>
        </p:txBody>
      </p:sp>
      <p:sp>
        <p:nvSpPr>
          <p:cNvPr id="20" name="Shape 15"/>
          <p:cNvSpPr/>
          <p:nvPr/>
        </p:nvSpPr>
        <p:spPr>
          <a:xfrm>
            <a:off x="8186928" y="3383280"/>
            <a:ext cx="3453384" cy="2286000"/>
          </a:xfrm>
          <a:prstGeom prst="roundRect">
            <a:avLst>
              <a:gd name="adj" fmla="val 4800"/>
            </a:avLst>
          </a:prstGeom>
          <a:solidFill>
            <a:srgbClr val="2C5F2D"/>
          </a:solidFill>
          <a:ln/>
        </p:spPr>
      </p:sp>
      <p:sp>
        <p:nvSpPr>
          <p:cNvPr id="21" name="Shape 16"/>
          <p:cNvSpPr/>
          <p:nvPr/>
        </p:nvSpPr>
        <p:spPr>
          <a:xfrm>
            <a:off x="8397240" y="3593592"/>
            <a:ext cx="713232" cy="713232"/>
          </a:xfrm>
          <a:prstGeom prst="ellipse">
            <a:avLst/>
          </a:prstGeom>
          <a:solidFill>
            <a:srgbClr val="17362A"/>
          </a:solidFill>
          <a:ln/>
        </p:spPr>
      </p:sp>
      <p:pic>
        <p:nvPicPr>
          <p:cNvPr id="22" name="Image 3" descr="preencoded.png">    </p:cNvPr>
          <p:cNvPicPr>
            <a:picLocks noChangeAspect="1"/>
          </p:cNvPicPr>
          <p:nvPr/>
        </p:nvPicPr>
        <p:blipFill>
          <a:blip r:embed="rId4"/>
          <a:stretch>
            <a:fillRect/>
          </a:stretch>
        </p:blipFill>
        <p:spPr>
          <a:xfrm>
            <a:off x="8504225" y="3700577"/>
            <a:ext cx="499262" cy="499262"/>
          </a:xfrm>
          <a:prstGeom prst="rect">
            <a:avLst/>
          </a:prstGeom>
        </p:spPr>
      </p:pic>
      <p:sp>
        <p:nvSpPr>
          <p:cNvPr id="23" name="Text 17"/>
          <p:cNvSpPr/>
          <p:nvPr/>
        </p:nvSpPr>
        <p:spPr>
          <a:xfrm>
            <a:off x="9238488" y="3657600"/>
            <a:ext cx="2264664" cy="347472"/>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Held fixed</a:t>
            </a:r>
            <a:endParaRPr lang="en-US" sz="1550" dirty="0"/>
          </a:p>
        </p:txBody>
      </p:sp>
      <p:sp>
        <p:nvSpPr>
          <p:cNvPr id="24" name="Text 18"/>
          <p:cNvSpPr/>
          <p:nvPr/>
        </p:nvSpPr>
        <p:spPr>
          <a:xfrm>
            <a:off x="9238488" y="4023360"/>
            <a:ext cx="2264664" cy="274320"/>
          </a:xfrm>
          <a:prstGeom prst="rect">
            <a:avLst/>
          </a:prstGeom>
          <a:noFill/>
          <a:ln/>
        </p:spPr>
        <p:txBody>
          <a:bodyPr wrap="square" rtlCol="0" anchor="ctr"/>
          <a:lstStyle/>
          <a:p>
            <a:pPr indent="0" marL="0">
              <a:buNone/>
            </a:pPr>
            <a:r>
              <a:rPr lang="en-US" sz="1080" b="1" dirty="0">
                <a:solidFill>
                  <a:srgbClr val="BFD8B4"/>
                </a:solidFill>
                <a:latin typeface="Calibri" pitchFamily="34" charset="0"/>
                <a:ea typeface="Calibri" pitchFamily="34" charset="-122"/>
                <a:cs typeface="Calibri" pitchFamily="34" charset="-120"/>
              </a:rPr>
              <a:t>same for both arms</a:t>
            </a:r>
            <a:endParaRPr lang="en-US" sz="1080" dirty="0"/>
          </a:p>
        </p:txBody>
      </p:sp>
      <p:sp>
        <p:nvSpPr>
          <p:cNvPr id="25" name="Text 19"/>
          <p:cNvSpPr/>
          <p:nvPr/>
        </p:nvSpPr>
        <p:spPr>
          <a:xfrm>
            <a:off x="8479536" y="4517136"/>
            <a:ext cx="2868168" cy="1051560"/>
          </a:xfrm>
          <a:prstGeom prst="rect">
            <a:avLst/>
          </a:prstGeom>
          <a:noFill/>
          <a:ln/>
        </p:spPr>
        <p:txBody>
          <a:bodyPr wrap="square" rtlCol="0" anchor="ctr"/>
          <a:lstStyle/>
          <a:p>
            <a:pPr indent="0" marL="0">
              <a:lnSpc>
                <a:spcPct val="110000"/>
              </a:lnSpc>
              <a:buNone/>
            </a:pPr>
            <a:r>
              <a:rPr lang="en-US" sz="1250" dirty="0">
                <a:solidFill>
                  <a:srgbClr val="E7F0E2"/>
                </a:solidFill>
                <a:latin typeface="Calibri" pitchFamily="34" charset="0"/>
                <a:ea typeface="Calibri" pitchFamily="34" charset="-122"/>
                <a:cs typeface="Calibri" pitchFamily="34" charset="-120"/>
              </a:rPr>
              <a:t>Same SNIC boundaries · k = 6 · seed · ROI · window.</a:t>
            </a:r>
            <a:endParaRPr lang="en-US" sz="1250" dirty="0"/>
          </a:p>
        </p:txBody>
      </p:sp>
      <p:sp>
        <p:nvSpPr>
          <p:cNvPr id="26" name="Text 20"/>
          <p:cNvSpPr/>
          <p:nvPr/>
        </p:nvSpPr>
        <p:spPr>
          <a:xfrm>
            <a:off x="548640" y="5989320"/>
            <a:ext cx="11091672" cy="365760"/>
          </a:xfrm>
          <a:prstGeom prst="rect">
            <a:avLst/>
          </a:prstGeom>
          <a:noFill/>
          <a:ln/>
        </p:spPr>
        <p:txBody>
          <a:bodyPr wrap="square" rtlCol="0" anchor="ctr"/>
          <a:lstStyle/>
          <a:p>
            <a:pPr algn="ctr" indent="0" marL="0">
              <a:buNone/>
            </a:pPr>
            <a:r>
              <a:rPr lang="en-US" sz="1400" i="1" dirty="0">
                <a:solidFill>
                  <a:srgbClr val="97BC62"/>
                </a:solidFill>
                <a:latin typeface="Calibri" pitchFamily="34" charset="0"/>
                <a:ea typeface="Calibri" pitchFamily="34" charset="-122"/>
                <a:cs typeface="Calibri" pitchFamily="34" charset="-120"/>
              </a:rPr>
              <a:t>Two arms in, one delineation engine — only the feature vector changes.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EXPERIMENTAL CONTROL</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What changes vs what is held constant</a:t>
            </a:r>
            <a:endParaRPr lang="en-US" sz="3200" dirty="0"/>
          </a:p>
        </p:txBody>
      </p:sp>
      <p:sp>
        <p:nvSpPr>
          <p:cNvPr id="4" name="Shape 2"/>
          <p:cNvSpPr/>
          <p:nvPr/>
        </p:nvSpPr>
        <p:spPr>
          <a:xfrm>
            <a:off x="548640" y="1828800"/>
            <a:ext cx="5317236" cy="4023360"/>
          </a:xfrm>
          <a:prstGeom prst="roundRect">
            <a:avLst>
              <a:gd name="adj" fmla="val 2727"/>
            </a:avLst>
          </a:prstGeom>
          <a:solidFill>
            <a:srgbClr val="F7EEE1"/>
          </a:solidFill>
          <a:ln/>
          <a:effectLst>
            <a:outerShdw sx="100000" sy="100000" kx="0" ky="0" algn="bl" rotWithShape="0" blurRad="101600" dist="38100" dir="5400000">
              <a:srgbClr val="9AA9A0">
                <a:alpha val="35000"/>
              </a:srgbClr>
            </a:outerShdw>
          </a:effectLst>
        </p:spPr>
      </p:sp>
      <p:sp>
        <p:nvSpPr>
          <p:cNvPr id="5" name="Shape 3"/>
          <p:cNvSpPr/>
          <p:nvPr/>
        </p:nvSpPr>
        <p:spPr>
          <a:xfrm>
            <a:off x="822960" y="2103120"/>
            <a:ext cx="731520" cy="731520"/>
          </a:xfrm>
          <a:prstGeom prst="ellipse">
            <a:avLst/>
          </a:prstGeom>
          <a:solidFill>
            <a:srgbClr val="A9631F"/>
          </a:solidFill>
          <a:ln/>
        </p:spPr>
      </p:sp>
      <p:pic>
        <p:nvPicPr>
          <p:cNvPr id="6" name="Image 0" descr="preencoded.png">    </p:cNvPr>
          <p:cNvPicPr>
            <a:picLocks noChangeAspect="1"/>
          </p:cNvPicPr>
          <p:nvPr/>
        </p:nvPicPr>
        <p:blipFill>
          <a:blip r:embed="rId1"/>
          <a:stretch>
            <a:fillRect/>
          </a:stretch>
        </p:blipFill>
        <p:spPr>
          <a:xfrm>
            <a:off x="932688" y="2212848"/>
            <a:ext cx="512064" cy="512064"/>
          </a:xfrm>
          <a:prstGeom prst="rect">
            <a:avLst/>
          </a:prstGeom>
        </p:spPr>
      </p:pic>
      <p:sp>
        <p:nvSpPr>
          <p:cNvPr id="7" name="Text 4"/>
          <p:cNvSpPr/>
          <p:nvPr/>
        </p:nvSpPr>
        <p:spPr>
          <a:xfrm>
            <a:off x="1691640" y="2212848"/>
            <a:ext cx="4023360" cy="502920"/>
          </a:xfrm>
          <a:prstGeom prst="rect">
            <a:avLst/>
          </a:prstGeom>
          <a:noFill/>
          <a:ln/>
        </p:spPr>
        <p:txBody>
          <a:bodyPr wrap="square" rtlCol="0" anchor="ctr"/>
          <a:lstStyle/>
          <a:p>
            <a:pPr indent="0" marL="0">
              <a:buNone/>
            </a:pPr>
            <a:r>
              <a:rPr lang="en-US" sz="1800" b="1" dirty="0">
                <a:solidFill>
                  <a:srgbClr val="1A2620"/>
                </a:solidFill>
                <a:latin typeface="Cambria" pitchFamily="34" charset="0"/>
                <a:ea typeface="Cambria" pitchFamily="34" charset="-122"/>
                <a:cs typeface="Cambria" pitchFamily="34" charset="-120"/>
              </a:rPr>
              <a:t>The one thing we vary</a:t>
            </a:r>
            <a:endParaRPr lang="en-US" sz="1800" dirty="0"/>
          </a:p>
        </p:txBody>
      </p:sp>
      <p:sp>
        <p:nvSpPr>
          <p:cNvPr id="8" name="Text 5"/>
          <p:cNvSpPr/>
          <p:nvPr/>
        </p:nvSpPr>
        <p:spPr>
          <a:xfrm>
            <a:off x="914400" y="3154680"/>
            <a:ext cx="4663440" cy="274320"/>
          </a:xfrm>
          <a:prstGeom prst="rect">
            <a:avLst/>
          </a:prstGeom>
          <a:noFill/>
          <a:ln/>
        </p:spPr>
        <p:txBody>
          <a:bodyPr wrap="square" rtlCol="0" anchor="ctr"/>
          <a:lstStyle/>
          <a:p>
            <a:pPr indent="0" marL="0">
              <a:buNone/>
            </a:pPr>
            <a:r>
              <a:rPr lang="en-US" sz="1350" b="1" dirty="0">
                <a:solidFill>
                  <a:srgbClr val="A9631F"/>
                </a:solidFill>
                <a:latin typeface="Calibri" pitchFamily="34" charset="0"/>
                <a:ea typeface="Calibri" pitchFamily="34" charset="-122"/>
                <a:cs typeface="Calibri" pitchFamily="34" charset="-120"/>
              </a:rPr>
              <a:t>Feature vector</a:t>
            </a:r>
            <a:endParaRPr lang="en-US" sz="1350" dirty="0"/>
          </a:p>
        </p:txBody>
      </p:sp>
      <p:sp>
        <p:nvSpPr>
          <p:cNvPr id="9" name="Text 6"/>
          <p:cNvSpPr/>
          <p:nvPr/>
        </p:nvSpPr>
        <p:spPr>
          <a:xfrm>
            <a:off x="914400" y="3447288"/>
            <a:ext cx="4663440" cy="502920"/>
          </a:xfrm>
          <a:prstGeom prst="rect">
            <a:avLst/>
          </a:prstGeom>
          <a:noFill/>
          <a:ln/>
        </p:spPr>
        <p:txBody>
          <a:bodyPr wrap="square" rtlCol="0" anchor="ctr"/>
          <a:lstStyle/>
          <a:p>
            <a:pPr indent="0" marL="0">
              <a:lnSpc>
                <a:spcPct val="105000"/>
              </a:lnSpc>
              <a:buNone/>
            </a:pPr>
            <a:r>
              <a:rPr lang="en-US" sz="1250" dirty="0">
                <a:solidFill>
                  <a:srgbClr val="3E4B44"/>
                </a:solidFill>
                <a:latin typeface="Calibri" pitchFamily="34" charset="0"/>
                <a:ea typeface="Calibri" pitchFamily="34" charset="-122"/>
                <a:cs typeface="Calibri" pitchFamily="34" charset="-120"/>
              </a:rPr>
              <a:t>22 hand-crafted bands  →  64-D AlphaEarth embedding</a:t>
            </a:r>
            <a:endParaRPr lang="en-US" sz="1250" dirty="0"/>
          </a:p>
        </p:txBody>
      </p:sp>
      <p:sp>
        <p:nvSpPr>
          <p:cNvPr id="10" name="Text 7"/>
          <p:cNvSpPr/>
          <p:nvPr/>
        </p:nvSpPr>
        <p:spPr>
          <a:xfrm>
            <a:off x="914400" y="4050792"/>
            <a:ext cx="4663440" cy="274320"/>
          </a:xfrm>
          <a:prstGeom prst="rect">
            <a:avLst/>
          </a:prstGeom>
          <a:noFill/>
          <a:ln/>
        </p:spPr>
        <p:txBody>
          <a:bodyPr wrap="square" rtlCol="0" anchor="ctr"/>
          <a:lstStyle/>
          <a:p>
            <a:pPr indent="0" marL="0">
              <a:buNone/>
            </a:pPr>
            <a:r>
              <a:rPr lang="en-US" sz="1350" b="1" dirty="0">
                <a:solidFill>
                  <a:srgbClr val="A9631F"/>
                </a:solidFill>
                <a:latin typeface="Calibri" pitchFamily="34" charset="0"/>
                <a:ea typeface="Calibri" pitchFamily="34" charset="-122"/>
                <a:cs typeface="Calibri" pitchFamily="34" charset="-120"/>
              </a:rPr>
              <a:t>Feature semantics</a:t>
            </a:r>
            <a:endParaRPr lang="en-US" sz="1350" dirty="0"/>
          </a:p>
        </p:txBody>
      </p:sp>
      <p:sp>
        <p:nvSpPr>
          <p:cNvPr id="11" name="Text 8"/>
          <p:cNvSpPr/>
          <p:nvPr/>
        </p:nvSpPr>
        <p:spPr>
          <a:xfrm>
            <a:off x="914400" y="4343400"/>
            <a:ext cx="4663440" cy="502920"/>
          </a:xfrm>
          <a:prstGeom prst="rect">
            <a:avLst/>
          </a:prstGeom>
          <a:noFill/>
          <a:ln/>
        </p:spPr>
        <p:txBody>
          <a:bodyPr wrap="square" rtlCol="0" anchor="ctr"/>
          <a:lstStyle/>
          <a:p>
            <a:pPr indent="0" marL="0">
              <a:lnSpc>
                <a:spcPct val="105000"/>
              </a:lnSpc>
              <a:buNone/>
            </a:pPr>
            <a:r>
              <a:rPr lang="en-US" sz="1250" dirty="0">
                <a:solidFill>
                  <a:srgbClr val="3E4B44"/>
                </a:solidFill>
                <a:latin typeface="Calibri" pitchFamily="34" charset="0"/>
                <a:ea typeface="Calibri" pitchFamily="34" charset="-122"/>
                <a:cs typeface="Calibri" pitchFamily="34" charset="-120"/>
              </a:rPr>
              <a:t>Named ecological metrics  →  abstract learned dims A00–A63</a:t>
            </a:r>
            <a:endParaRPr lang="en-US" sz="1250" dirty="0"/>
          </a:p>
        </p:txBody>
      </p:sp>
      <p:sp>
        <p:nvSpPr>
          <p:cNvPr id="12" name="Text 9"/>
          <p:cNvSpPr/>
          <p:nvPr/>
        </p:nvSpPr>
        <p:spPr>
          <a:xfrm>
            <a:off x="914400" y="4946904"/>
            <a:ext cx="4663440" cy="274320"/>
          </a:xfrm>
          <a:prstGeom prst="rect">
            <a:avLst/>
          </a:prstGeom>
          <a:noFill/>
          <a:ln/>
        </p:spPr>
        <p:txBody>
          <a:bodyPr wrap="square" rtlCol="0" anchor="ctr"/>
          <a:lstStyle/>
          <a:p>
            <a:pPr indent="0" marL="0">
              <a:buNone/>
            </a:pPr>
            <a:r>
              <a:rPr lang="en-US" sz="1350" b="1" dirty="0">
                <a:solidFill>
                  <a:srgbClr val="A9631F"/>
                </a:solidFill>
                <a:latin typeface="Calibri" pitchFamily="34" charset="0"/>
                <a:ea typeface="Calibri" pitchFamily="34" charset="-122"/>
                <a:cs typeface="Calibri" pitchFamily="34" charset="-120"/>
              </a:rPr>
              <a:t>Feature stages</a:t>
            </a:r>
            <a:endParaRPr lang="en-US" sz="1350" dirty="0"/>
          </a:p>
        </p:txBody>
      </p:sp>
      <p:sp>
        <p:nvSpPr>
          <p:cNvPr id="13" name="Text 10"/>
          <p:cNvSpPr/>
          <p:nvPr/>
        </p:nvSpPr>
        <p:spPr>
          <a:xfrm>
            <a:off x="914400" y="5239512"/>
            <a:ext cx="4663440" cy="502920"/>
          </a:xfrm>
          <a:prstGeom prst="rect">
            <a:avLst/>
          </a:prstGeom>
          <a:noFill/>
          <a:ln/>
        </p:spPr>
        <p:txBody>
          <a:bodyPr wrap="square" rtlCol="0" anchor="ctr"/>
          <a:lstStyle/>
          <a:p>
            <a:pPr indent="0" marL="0">
              <a:lnSpc>
                <a:spcPct val="105000"/>
              </a:lnSpc>
              <a:buNone/>
            </a:pPr>
            <a:r>
              <a:rPr lang="en-US" sz="1250" dirty="0">
                <a:solidFill>
                  <a:srgbClr val="3E4B44"/>
                </a:solidFill>
                <a:latin typeface="Calibri" pitchFamily="34" charset="0"/>
                <a:ea typeface="Calibri" pitchFamily="34" charset="-122"/>
                <a:cs typeface="Calibri" pitchFamily="34" charset="-120"/>
              </a:rPr>
              <a:t>features_optical/static  →  a single features_embedding stage</a:t>
            </a:r>
            <a:endParaRPr lang="en-US" sz="1250" dirty="0"/>
          </a:p>
        </p:txBody>
      </p:sp>
      <p:sp>
        <p:nvSpPr>
          <p:cNvPr id="14" name="Shape 11"/>
          <p:cNvSpPr/>
          <p:nvPr/>
        </p:nvSpPr>
        <p:spPr>
          <a:xfrm>
            <a:off x="6323076" y="1828800"/>
            <a:ext cx="5317236" cy="4023360"/>
          </a:xfrm>
          <a:prstGeom prst="roundRect">
            <a:avLst>
              <a:gd name="adj" fmla="val 2727"/>
            </a:avLst>
          </a:prstGeom>
          <a:solidFill>
            <a:srgbClr val="EEF3E9"/>
          </a:solidFill>
          <a:ln/>
          <a:effectLst>
            <a:outerShdw sx="100000" sy="100000" kx="0" ky="0" algn="bl" rotWithShape="0" blurRad="101600" dist="38100" dir="5400000">
              <a:srgbClr val="9AA9A0">
                <a:alpha val="35000"/>
              </a:srgbClr>
            </a:outerShdw>
          </a:effectLst>
        </p:spPr>
      </p:sp>
      <p:sp>
        <p:nvSpPr>
          <p:cNvPr id="15" name="Shape 12"/>
          <p:cNvSpPr/>
          <p:nvPr/>
        </p:nvSpPr>
        <p:spPr>
          <a:xfrm>
            <a:off x="6597396" y="2103120"/>
            <a:ext cx="731520" cy="731520"/>
          </a:xfrm>
          <a:prstGeom prst="ellipse">
            <a:avLst/>
          </a:prstGeom>
          <a:solidFill>
            <a:srgbClr val="2C5F2D"/>
          </a:solidFill>
          <a:ln/>
        </p:spPr>
      </p:sp>
      <p:pic>
        <p:nvPicPr>
          <p:cNvPr id="16" name="Image 1" descr="preencoded.png">    </p:cNvPr>
          <p:cNvPicPr>
            <a:picLocks noChangeAspect="1"/>
          </p:cNvPicPr>
          <p:nvPr/>
        </p:nvPicPr>
        <p:blipFill>
          <a:blip r:embed="rId2"/>
          <a:stretch>
            <a:fillRect/>
          </a:stretch>
        </p:blipFill>
        <p:spPr>
          <a:xfrm>
            <a:off x="6707124" y="2212848"/>
            <a:ext cx="512064" cy="512064"/>
          </a:xfrm>
          <a:prstGeom prst="rect">
            <a:avLst/>
          </a:prstGeom>
        </p:spPr>
      </p:pic>
      <p:sp>
        <p:nvSpPr>
          <p:cNvPr id="17" name="Text 13"/>
          <p:cNvSpPr/>
          <p:nvPr/>
        </p:nvSpPr>
        <p:spPr>
          <a:xfrm>
            <a:off x="7466076" y="2212848"/>
            <a:ext cx="4206240" cy="502920"/>
          </a:xfrm>
          <a:prstGeom prst="rect">
            <a:avLst/>
          </a:prstGeom>
          <a:noFill/>
          <a:ln/>
        </p:spPr>
        <p:txBody>
          <a:bodyPr wrap="square" rtlCol="0" anchor="ctr"/>
          <a:lstStyle/>
          <a:p>
            <a:pPr indent="0" marL="0">
              <a:buNone/>
            </a:pPr>
            <a:r>
              <a:rPr lang="en-US" sz="1800" b="1" dirty="0">
                <a:solidFill>
                  <a:srgbClr val="1A2620"/>
                </a:solidFill>
                <a:latin typeface="Cambria" pitchFamily="34" charset="0"/>
                <a:ea typeface="Cambria" pitchFamily="34" charset="-122"/>
                <a:cs typeface="Cambria" pitchFamily="34" charset="-120"/>
              </a:rPr>
              <a:t>Everything else held constant</a:t>
            </a:r>
            <a:endParaRPr lang="en-US" sz="1800" dirty="0"/>
          </a:p>
        </p:txBody>
      </p:sp>
      <p:sp>
        <p:nvSpPr>
          <p:cNvPr id="18" name="Text 14"/>
          <p:cNvSpPr/>
          <p:nvPr/>
        </p:nvSpPr>
        <p:spPr>
          <a:xfrm>
            <a:off x="6688836" y="3154680"/>
            <a:ext cx="4663440" cy="2560320"/>
          </a:xfrm>
          <a:prstGeom prst="rect">
            <a:avLst/>
          </a:prstGeom>
          <a:noFill/>
          <a:ln/>
        </p:spPr>
        <p:txBody>
          <a:bodyPr wrap="square" rtlCol="0" anchor="ctr"/>
          <a:lstStyle/>
          <a:p>
            <a:pPr marL="342900" indent="-342900">
              <a:lnSpc>
                <a:spcPct val="105000"/>
              </a:lnSpc>
              <a:spcAft>
                <a:spcPts val="1000"/>
              </a:spcAft>
              <a:buSzPct val="100000"/>
              <a:buChar char="•"/>
            </a:pPr>
            <a:r>
              <a:rPr lang="en-US" sz="1350" dirty="0">
                <a:solidFill>
                  <a:srgbClr val="3E4B44"/>
                </a:solidFill>
                <a:latin typeface="Calibri" pitchFamily="34" charset="0"/>
                <a:ea typeface="Calibri" pitchFamily="34" charset="-122"/>
                <a:cs typeface="Calibri" pitchFamily="34" charset="-120"/>
              </a:rPr>
              <a:t>SNIC segmentation — boundaries byte-identical across arms</a:t>
            </a:r>
            <a:endParaRPr lang="en-US" sz="1350" dirty="0"/>
          </a:p>
          <a:p>
            <a:pPr marL="342900" indent="-342900">
              <a:lnSpc>
                <a:spcPct val="105000"/>
              </a:lnSpc>
              <a:spcAft>
                <a:spcPts val="1000"/>
              </a:spcAft>
              <a:buSzPct val="100000"/>
              <a:buChar char="•"/>
            </a:pPr>
            <a:r>
              <a:rPr lang="en-US" sz="1350" dirty="0">
                <a:solidFill>
                  <a:srgbClr val="3E4B44"/>
                </a:solidFill>
                <a:latin typeface="Calibri" pitchFamily="34" charset="0"/>
                <a:ea typeface="Calibri" pitchFamily="34" charset="-122"/>
                <a:cs typeface="Calibri" pitchFamily="34" charset="-120"/>
              </a:rPr>
              <a:t>Cluster count k = 6 and the random seed</a:t>
            </a:r>
            <a:endParaRPr lang="en-US" sz="1350" dirty="0"/>
          </a:p>
          <a:p>
            <a:pPr marL="342900" indent="-342900">
              <a:lnSpc>
                <a:spcPct val="105000"/>
              </a:lnSpc>
              <a:spcAft>
                <a:spcPts val="1000"/>
              </a:spcAft>
              <a:buSzPct val="100000"/>
              <a:buChar char="•"/>
            </a:pPr>
            <a:r>
              <a:rPr lang="en-US" sz="1350" dirty="0">
                <a:solidFill>
                  <a:srgbClr val="3E4B44"/>
                </a:solidFill>
                <a:latin typeface="Calibri" pitchFamily="34" charset="0"/>
                <a:ea typeface="Calibri" pitchFamily="34" charset="-122"/>
                <a:cs typeface="Calibri" pitchFamily="34" charset="-120"/>
              </a:rPr>
              <a:t>Region of interest — Sanjay Van, 13.0 km²</a:t>
            </a:r>
            <a:endParaRPr lang="en-US" sz="1350" dirty="0"/>
          </a:p>
          <a:p>
            <a:pPr marL="342900" indent="-342900">
              <a:lnSpc>
                <a:spcPct val="105000"/>
              </a:lnSpc>
              <a:spcAft>
                <a:spcPts val="1000"/>
              </a:spcAft>
              <a:buSzPct val="100000"/>
              <a:buChar char="•"/>
            </a:pPr>
            <a:r>
              <a:rPr lang="en-US" sz="1350" dirty="0">
                <a:solidFill>
                  <a:srgbClr val="3E4B44"/>
                </a:solidFill>
                <a:latin typeface="Calibri" pitchFamily="34" charset="0"/>
                <a:ea typeface="Calibri" pitchFamily="34" charset="-122"/>
                <a:cs typeface="Calibri" pitchFamily="34" charset="-120"/>
              </a:rPr>
              <a:t>Time window — 2017-01-01 → 2022-12-31</a:t>
            </a:r>
            <a:endParaRPr lang="en-US" sz="1350" dirty="0"/>
          </a:p>
          <a:p>
            <a:pPr marL="342900" indent="-342900">
              <a:lnSpc>
                <a:spcPct val="105000"/>
              </a:lnSpc>
              <a:spcAft>
                <a:spcPts val="1000"/>
              </a:spcAft>
              <a:buSzPct val="100000"/>
              <a:buChar char="•"/>
            </a:pPr>
            <a:r>
              <a:rPr lang="en-US" sz="1350" dirty="0">
                <a:solidFill>
                  <a:srgbClr val="3E4B44"/>
                </a:solidFill>
                <a:latin typeface="Calibri" pitchFamily="34" charset="0"/>
                <a:ea typeface="Calibri" pitchFamily="34" charset="-122"/>
                <a:cs typeface="Calibri" pitchFamily="34" charset="-120"/>
              </a:rPr>
              <a:t>Robust scaling, profiling and metric definitions</a:t>
            </a:r>
            <a:endParaRPr lang="en-US" sz="1350" dirty="0"/>
          </a:p>
        </p:txBody>
      </p:sp>
      <p:sp>
        <p:nvSpPr>
          <p:cNvPr id="19" name="Text 15"/>
          <p:cNvSpPr/>
          <p:nvPr/>
        </p:nvSpPr>
        <p:spPr>
          <a:xfrm>
            <a:off x="548640" y="6172200"/>
            <a:ext cx="11091672" cy="365760"/>
          </a:xfrm>
          <a:prstGeom prst="rect">
            <a:avLst/>
          </a:prstGeom>
          <a:noFill/>
          <a:ln/>
        </p:spPr>
        <p:txBody>
          <a:bodyPr wrap="square" rtlCol="0" anchor="ctr"/>
          <a:lstStyle/>
          <a:p>
            <a:pPr algn="ctr" indent="0" marL="0">
              <a:buNone/>
            </a:pPr>
            <a:r>
              <a:rPr lang="en-US" sz="1400" b="1" i="1" dirty="0">
                <a:solidFill>
                  <a:srgbClr val="2C5F2D"/>
                </a:solidFill>
                <a:latin typeface="Calibri" pitchFamily="34" charset="0"/>
                <a:ea typeface="Calibri" pitchFamily="34" charset="-122"/>
                <a:cs typeface="Calibri" pitchFamily="34" charset="-120"/>
              </a:rPr>
              <a:t>A clean single-variable experiment: any change in stand separability is attributable to the representation, not the plumbing.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36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9052560" y="3291840"/>
            <a:ext cx="3200400" cy="3200400"/>
          </a:xfrm>
          <a:prstGeom prst="rect">
            <a:avLst/>
          </a:prstGeom>
        </p:spPr>
      </p:pic>
      <p:sp>
        <p:nvSpPr>
          <p:cNvPr id="3" name="Text 0"/>
          <p:cNvSpPr/>
          <p:nvPr/>
        </p:nvSpPr>
        <p:spPr>
          <a:xfrm>
            <a:off x="548640" y="548640"/>
            <a:ext cx="11091672" cy="320040"/>
          </a:xfrm>
          <a:prstGeom prst="rect">
            <a:avLst/>
          </a:prstGeom>
          <a:noFill/>
          <a:ln/>
        </p:spPr>
        <p:txBody>
          <a:bodyPr wrap="square" rtlCol="0" anchor="ctr"/>
          <a:lstStyle/>
          <a:p>
            <a:pPr indent="0" marL="0">
              <a:buNone/>
            </a:pPr>
            <a:r>
              <a:rPr lang="en-US" sz="1250" b="1" spc="300" kern="0" dirty="0">
                <a:solidFill>
                  <a:srgbClr val="C77E33"/>
                </a:solidFill>
                <a:latin typeface="Calibri" pitchFamily="34" charset="0"/>
                <a:ea typeface="Calibri" pitchFamily="34" charset="-122"/>
                <a:cs typeface="Calibri" pitchFamily="34" charset="-120"/>
              </a:rPr>
              <a:t>THE HARD CONSTRAINT</a:t>
            </a:r>
            <a:endParaRPr lang="en-US" sz="1250" dirty="0"/>
          </a:p>
        </p:txBody>
      </p:sp>
      <p:sp>
        <p:nvSpPr>
          <p:cNvPr id="4" name="Text 1"/>
          <p:cNvSpPr/>
          <p:nvPr/>
        </p:nvSpPr>
        <p:spPr>
          <a:xfrm>
            <a:off x="548640" y="896112"/>
            <a:ext cx="11091672"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 ground truth — so we never claim “more correct”</a:t>
            </a:r>
            <a:endParaRPr lang="en-US" sz="3000" dirty="0"/>
          </a:p>
        </p:txBody>
      </p:sp>
      <p:sp>
        <p:nvSpPr>
          <p:cNvPr id="5" name="Text 2"/>
          <p:cNvSpPr/>
          <p:nvPr/>
        </p:nvSpPr>
        <p:spPr>
          <a:xfrm>
            <a:off x="548640" y="1737360"/>
            <a:ext cx="8138160" cy="914400"/>
          </a:xfrm>
          <a:prstGeom prst="rect">
            <a:avLst/>
          </a:prstGeom>
          <a:noFill/>
          <a:ln/>
        </p:spPr>
        <p:txBody>
          <a:bodyPr wrap="square" rtlCol="0" anchor="ctr"/>
          <a:lstStyle/>
          <a:p>
            <a:pPr indent="0" marL="0">
              <a:lnSpc>
                <a:spcPct val="112000"/>
              </a:lnSpc>
              <a:buNone/>
            </a:pPr>
            <a:r>
              <a:rPr lang="en-US" sz="1500" dirty="0">
                <a:solidFill>
                  <a:srgbClr val="D8E6D2"/>
                </a:solidFill>
                <a:latin typeface="Calibri" pitchFamily="34" charset="0"/>
                <a:ea typeface="Calibri" pitchFamily="34" charset="-122"/>
                <a:cs typeface="Calibri" pitchFamily="34" charset="-120"/>
              </a:rPr>
              <a:t>There is no field-drawn or operational reference stand map for this forest. External validity — which representation is ecologically “right” — is simply off the table. We bound every claim to three things we can actually measure:</a:t>
            </a:r>
            <a:endParaRPr lang="en-US" sz="1500" dirty="0"/>
          </a:p>
        </p:txBody>
      </p:sp>
      <p:sp>
        <p:nvSpPr>
          <p:cNvPr id="6" name="Shape 3"/>
          <p:cNvSpPr/>
          <p:nvPr/>
        </p:nvSpPr>
        <p:spPr>
          <a:xfrm>
            <a:off x="548640" y="2971800"/>
            <a:ext cx="3453384" cy="2788920"/>
          </a:xfrm>
          <a:prstGeom prst="roundRect">
            <a:avLst>
              <a:gd name="adj" fmla="val 3934"/>
            </a:avLst>
          </a:prstGeom>
          <a:solidFill>
            <a:srgbClr val="20492F"/>
          </a:solidFill>
          <a:ln w="12700">
            <a:solidFill>
              <a:srgbClr val="7FA65B"/>
            </a:solidFill>
            <a:prstDash val="solid"/>
          </a:ln>
        </p:spPr>
      </p:sp>
      <p:sp>
        <p:nvSpPr>
          <p:cNvPr id="7" name="Shape 4"/>
          <p:cNvSpPr/>
          <p:nvPr/>
        </p:nvSpPr>
        <p:spPr>
          <a:xfrm>
            <a:off x="813816" y="3236976"/>
            <a:ext cx="749808" cy="749808"/>
          </a:xfrm>
          <a:prstGeom prst="ellipse">
            <a:avLst/>
          </a:prstGeom>
          <a:solidFill>
            <a:srgbClr val="C77E33"/>
          </a:solidFill>
          <a:ln/>
        </p:spPr>
      </p:sp>
      <p:pic>
        <p:nvPicPr>
          <p:cNvPr id="8" name="Image 1" descr="preencoded.png">    </p:cNvPr>
          <p:cNvPicPr>
            <a:picLocks noChangeAspect="1"/>
          </p:cNvPicPr>
          <p:nvPr/>
        </p:nvPicPr>
        <p:blipFill>
          <a:blip r:embed="rId2"/>
          <a:stretch>
            <a:fillRect/>
          </a:stretch>
        </p:blipFill>
        <p:spPr>
          <a:xfrm>
            <a:off x="926287" y="3349447"/>
            <a:ext cx="524866" cy="524866"/>
          </a:xfrm>
          <a:prstGeom prst="rect">
            <a:avLst/>
          </a:prstGeom>
        </p:spPr>
      </p:pic>
      <p:sp>
        <p:nvSpPr>
          <p:cNvPr id="9" name="Text 5"/>
          <p:cNvSpPr/>
          <p:nvPr/>
        </p:nvSpPr>
        <p:spPr>
          <a:xfrm>
            <a:off x="3316224" y="3090672"/>
            <a:ext cx="457200" cy="365760"/>
          </a:xfrm>
          <a:prstGeom prst="rect">
            <a:avLst/>
          </a:prstGeom>
          <a:noFill/>
          <a:ln/>
        </p:spPr>
        <p:txBody>
          <a:bodyPr wrap="square" rtlCol="0" anchor="ctr"/>
          <a:lstStyle/>
          <a:p>
            <a:pPr algn="r" indent="0" marL="0">
              <a:buNone/>
            </a:pPr>
            <a:r>
              <a:rPr lang="en-US" sz="2000" b="1" dirty="0">
                <a:solidFill>
                  <a:srgbClr val="7FA65B"/>
                </a:solidFill>
                <a:latin typeface="Cambria" pitchFamily="34" charset="0"/>
                <a:ea typeface="Cambria" pitchFamily="34" charset="-122"/>
                <a:cs typeface="Cambria" pitchFamily="34" charset="-120"/>
              </a:rPr>
              <a:t>1</a:t>
            </a:r>
            <a:endParaRPr lang="en-US" sz="2000" dirty="0"/>
          </a:p>
        </p:txBody>
      </p:sp>
      <p:sp>
        <p:nvSpPr>
          <p:cNvPr id="10" name="Text 6"/>
          <p:cNvSpPr/>
          <p:nvPr/>
        </p:nvSpPr>
        <p:spPr>
          <a:xfrm>
            <a:off x="841248" y="4160520"/>
            <a:ext cx="2904744"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Internal separation</a:t>
            </a:r>
            <a:endParaRPr lang="en-US" sz="1650" dirty="0"/>
          </a:p>
        </p:txBody>
      </p:sp>
      <p:sp>
        <p:nvSpPr>
          <p:cNvPr id="11" name="Text 7"/>
          <p:cNvSpPr/>
          <p:nvPr/>
        </p:nvSpPr>
        <p:spPr>
          <a:xfrm>
            <a:off x="841248" y="4846320"/>
            <a:ext cx="2904744" cy="868680"/>
          </a:xfrm>
          <a:prstGeom prst="rect">
            <a:avLst/>
          </a:prstGeom>
          <a:noFill/>
          <a:ln/>
        </p:spPr>
        <p:txBody>
          <a:bodyPr wrap="square" rtlCol="0" anchor="ctr"/>
          <a:lstStyle/>
          <a:p>
            <a:pPr indent="0" marL="0">
              <a:lnSpc>
                <a:spcPct val="108000"/>
              </a:lnSpc>
              <a:buNone/>
            </a:pPr>
            <a:r>
              <a:rPr lang="en-US" sz="1250" dirty="0">
                <a:solidFill>
                  <a:srgbClr val="C9DCC2"/>
                </a:solidFill>
                <a:latin typeface="Calibri" pitchFamily="34" charset="0"/>
                <a:ea typeface="Calibri" pitchFamily="34" charset="-122"/>
                <a:cs typeface="Calibri" pitchFamily="34" charset="-120"/>
              </a:rPr>
              <a:t>Silhouette per arm — intrinsic, needs no reference, directly comparable across arms.</a:t>
            </a:r>
            <a:endParaRPr lang="en-US" sz="1250" dirty="0"/>
          </a:p>
        </p:txBody>
      </p:sp>
      <p:sp>
        <p:nvSpPr>
          <p:cNvPr id="12" name="Shape 8"/>
          <p:cNvSpPr/>
          <p:nvPr/>
        </p:nvSpPr>
        <p:spPr>
          <a:xfrm>
            <a:off x="4367784" y="2971800"/>
            <a:ext cx="3453384" cy="2788920"/>
          </a:xfrm>
          <a:prstGeom prst="roundRect">
            <a:avLst>
              <a:gd name="adj" fmla="val 3934"/>
            </a:avLst>
          </a:prstGeom>
          <a:solidFill>
            <a:srgbClr val="20492F"/>
          </a:solidFill>
          <a:ln w="12700">
            <a:solidFill>
              <a:srgbClr val="7FA65B"/>
            </a:solidFill>
            <a:prstDash val="solid"/>
          </a:ln>
        </p:spPr>
      </p:sp>
      <p:sp>
        <p:nvSpPr>
          <p:cNvPr id="13" name="Shape 9"/>
          <p:cNvSpPr/>
          <p:nvPr/>
        </p:nvSpPr>
        <p:spPr>
          <a:xfrm>
            <a:off x="4632960" y="3236976"/>
            <a:ext cx="749808" cy="749808"/>
          </a:xfrm>
          <a:prstGeom prst="ellipse">
            <a:avLst/>
          </a:prstGeom>
          <a:solidFill>
            <a:srgbClr val="C77E33"/>
          </a:solidFill>
          <a:ln/>
        </p:spPr>
      </p:sp>
      <p:pic>
        <p:nvPicPr>
          <p:cNvPr id="14" name="Image 2" descr="preencoded.png">    </p:cNvPr>
          <p:cNvPicPr>
            <a:picLocks noChangeAspect="1"/>
          </p:cNvPicPr>
          <p:nvPr/>
        </p:nvPicPr>
        <p:blipFill>
          <a:blip r:embed="rId3"/>
          <a:stretch>
            <a:fillRect/>
          </a:stretch>
        </p:blipFill>
        <p:spPr>
          <a:xfrm>
            <a:off x="4745431" y="3349447"/>
            <a:ext cx="524866" cy="524866"/>
          </a:xfrm>
          <a:prstGeom prst="rect">
            <a:avLst/>
          </a:prstGeom>
        </p:spPr>
      </p:pic>
      <p:sp>
        <p:nvSpPr>
          <p:cNvPr id="15" name="Text 10"/>
          <p:cNvSpPr/>
          <p:nvPr/>
        </p:nvSpPr>
        <p:spPr>
          <a:xfrm>
            <a:off x="7135368" y="3090672"/>
            <a:ext cx="457200" cy="365760"/>
          </a:xfrm>
          <a:prstGeom prst="rect">
            <a:avLst/>
          </a:prstGeom>
          <a:noFill/>
          <a:ln/>
        </p:spPr>
        <p:txBody>
          <a:bodyPr wrap="square" rtlCol="0" anchor="ctr"/>
          <a:lstStyle/>
          <a:p>
            <a:pPr algn="r" indent="0" marL="0">
              <a:buNone/>
            </a:pPr>
            <a:r>
              <a:rPr lang="en-US" sz="2000" b="1" dirty="0">
                <a:solidFill>
                  <a:srgbClr val="7FA65B"/>
                </a:solidFill>
                <a:latin typeface="Cambria" pitchFamily="34" charset="0"/>
                <a:ea typeface="Cambria" pitchFamily="34" charset="-122"/>
                <a:cs typeface="Cambria" pitchFamily="34" charset="-120"/>
              </a:rPr>
              <a:t>2</a:t>
            </a:r>
            <a:endParaRPr lang="en-US" sz="2000" dirty="0"/>
          </a:p>
        </p:txBody>
      </p:sp>
      <p:sp>
        <p:nvSpPr>
          <p:cNvPr id="16" name="Text 11"/>
          <p:cNvSpPr/>
          <p:nvPr/>
        </p:nvSpPr>
        <p:spPr>
          <a:xfrm>
            <a:off x="4660392" y="4160520"/>
            <a:ext cx="2904744"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Cross-representation agreement</a:t>
            </a:r>
            <a:endParaRPr lang="en-US" sz="1650" dirty="0"/>
          </a:p>
        </p:txBody>
      </p:sp>
      <p:sp>
        <p:nvSpPr>
          <p:cNvPr id="17" name="Text 12"/>
          <p:cNvSpPr/>
          <p:nvPr/>
        </p:nvSpPr>
        <p:spPr>
          <a:xfrm>
            <a:off x="4660392" y="4846320"/>
            <a:ext cx="2904744" cy="868680"/>
          </a:xfrm>
          <a:prstGeom prst="rect">
            <a:avLst/>
          </a:prstGeom>
          <a:noFill/>
          <a:ln/>
        </p:spPr>
        <p:txBody>
          <a:bodyPr wrap="square" rtlCol="0" anchor="ctr"/>
          <a:lstStyle/>
          <a:p>
            <a:pPr indent="0" marL="0">
              <a:lnSpc>
                <a:spcPct val="108000"/>
              </a:lnSpc>
              <a:buNone/>
            </a:pPr>
            <a:r>
              <a:rPr lang="en-US" sz="1250" dirty="0">
                <a:solidFill>
                  <a:srgbClr val="C9DCC2"/>
                </a:solidFill>
                <a:latin typeface="Calibri" pitchFamily="34" charset="0"/>
                <a:ea typeface="Calibri" pitchFamily="34" charset="-122"/>
                <a:cs typeface="Calibri" pitchFamily="34" charset="-120"/>
              </a:rPr>
              <a:t>ARI · NMI · Hungarian overlap · agreement map — how differently the two arms carve the forest.</a:t>
            </a:r>
            <a:endParaRPr lang="en-US" sz="1250" dirty="0"/>
          </a:p>
        </p:txBody>
      </p:sp>
      <p:sp>
        <p:nvSpPr>
          <p:cNvPr id="18" name="Shape 13"/>
          <p:cNvSpPr/>
          <p:nvPr/>
        </p:nvSpPr>
        <p:spPr>
          <a:xfrm>
            <a:off x="8186928" y="2971800"/>
            <a:ext cx="3453384" cy="2788920"/>
          </a:xfrm>
          <a:prstGeom prst="roundRect">
            <a:avLst>
              <a:gd name="adj" fmla="val 3934"/>
            </a:avLst>
          </a:prstGeom>
          <a:solidFill>
            <a:srgbClr val="20492F"/>
          </a:solidFill>
          <a:ln w="12700">
            <a:solidFill>
              <a:srgbClr val="7FA65B"/>
            </a:solidFill>
            <a:prstDash val="solid"/>
          </a:ln>
        </p:spPr>
      </p:sp>
      <p:sp>
        <p:nvSpPr>
          <p:cNvPr id="19" name="Shape 14"/>
          <p:cNvSpPr/>
          <p:nvPr/>
        </p:nvSpPr>
        <p:spPr>
          <a:xfrm>
            <a:off x="8452104" y="3236976"/>
            <a:ext cx="749808" cy="749808"/>
          </a:xfrm>
          <a:prstGeom prst="ellipse">
            <a:avLst/>
          </a:prstGeom>
          <a:solidFill>
            <a:srgbClr val="C77E33"/>
          </a:solidFill>
          <a:ln/>
        </p:spPr>
      </p:sp>
      <p:pic>
        <p:nvPicPr>
          <p:cNvPr id="20" name="Image 3" descr="preencoded.png">    </p:cNvPr>
          <p:cNvPicPr>
            <a:picLocks noChangeAspect="1"/>
          </p:cNvPicPr>
          <p:nvPr/>
        </p:nvPicPr>
        <p:blipFill>
          <a:blip r:embed="rId4"/>
          <a:stretch>
            <a:fillRect/>
          </a:stretch>
        </p:blipFill>
        <p:spPr>
          <a:xfrm>
            <a:off x="8564575" y="3349447"/>
            <a:ext cx="524866" cy="524866"/>
          </a:xfrm>
          <a:prstGeom prst="rect">
            <a:avLst/>
          </a:prstGeom>
        </p:spPr>
      </p:pic>
      <p:sp>
        <p:nvSpPr>
          <p:cNvPr id="21" name="Text 15"/>
          <p:cNvSpPr/>
          <p:nvPr/>
        </p:nvSpPr>
        <p:spPr>
          <a:xfrm>
            <a:off x="10954512" y="3090672"/>
            <a:ext cx="457200" cy="365760"/>
          </a:xfrm>
          <a:prstGeom prst="rect">
            <a:avLst/>
          </a:prstGeom>
          <a:noFill/>
          <a:ln/>
        </p:spPr>
        <p:txBody>
          <a:bodyPr wrap="square" rtlCol="0" anchor="ctr"/>
          <a:lstStyle/>
          <a:p>
            <a:pPr algn="r" indent="0" marL="0">
              <a:buNone/>
            </a:pPr>
            <a:r>
              <a:rPr lang="en-US" sz="2000" b="1" dirty="0">
                <a:solidFill>
                  <a:srgbClr val="7FA65B"/>
                </a:solidFill>
                <a:latin typeface="Cambria" pitchFamily="34" charset="0"/>
                <a:ea typeface="Cambria" pitchFamily="34" charset="-122"/>
                <a:cs typeface="Cambria" pitchFamily="34" charset="-120"/>
              </a:rPr>
              <a:t>3</a:t>
            </a:r>
            <a:endParaRPr lang="en-US" sz="2000" dirty="0"/>
          </a:p>
        </p:txBody>
      </p:sp>
      <p:sp>
        <p:nvSpPr>
          <p:cNvPr id="22" name="Text 16"/>
          <p:cNvSpPr/>
          <p:nvPr/>
        </p:nvSpPr>
        <p:spPr>
          <a:xfrm>
            <a:off x="8479536" y="4160520"/>
            <a:ext cx="2904744"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Interpretability</a:t>
            </a:r>
            <a:endParaRPr lang="en-US" sz="1650" dirty="0"/>
          </a:p>
        </p:txBody>
      </p:sp>
      <p:sp>
        <p:nvSpPr>
          <p:cNvPr id="23" name="Text 17"/>
          <p:cNvSpPr/>
          <p:nvPr/>
        </p:nvSpPr>
        <p:spPr>
          <a:xfrm>
            <a:off x="8479536" y="4846320"/>
            <a:ext cx="2904744" cy="868680"/>
          </a:xfrm>
          <a:prstGeom prst="rect">
            <a:avLst/>
          </a:prstGeom>
          <a:noFill/>
          <a:ln/>
        </p:spPr>
        <p:txBody>
          <a:bodyPr wrap="square" rtlCol="0" anchor="ctr"/>
          <a:lstStyle/>
          <a:p>
            <a:pPr indent="0" marL="0">
              <a:lnSpc>
                <a:spcPct val="108000"/>
              </a:lnSpc>
              <a:buNone/>
            </a:pPr>
            <a:r>
              <a:rPr lang="en-US" sz="1250" dirty="0">
                <a:solidFill>
                  <a:srgbClr val="C9DCC2"/>
                </a:solidFill>
                <a:latin typeface="Calibri" pitchFamily="34" charset="0"/>
                <a:ea typeface="Calibri" pitchFamily="34" charset="-122"/>
                <a:cs typeface="Calibri" pitchFamily="34" charset="-120"/>
              </a:rPr>
              <a:t>Do the clusters still describe as forest types? A representation you cannot read is hard to operationalise.</a:t>
            </a:r>
            <a:endParaRPr lang="en-US" sz="1250" dirty="0"/>
          </a:p>
        </p:txBody>
      </p:sp>
      <p:sp>
        <p:nvSpPr>
          <p:cNvPr id="24" name="Text 18"/>
          <p:cNvSpPr/>
          <p:nvPr/>
        </p:nvSpPr>
        <p:spPr>
          <a:xfrm>
            <a:off x="548640" y="5989320"/>
            <a:ext cx="11091672" cy="365760"/>
          </a:xfrm>
          <a:prstGeom prst="rect">
            <a:avLst/>
          </a:prstGeom>
          <a:noFill/>
          <a:ln/>
        </p:spPr>
        <p:txBody>
          <a:bodyPr wrap="square" rtlCol="0" anchor="ctr"/>
          <a:lstStyle/>
          <a:p>
            <a:pPr algn="ctr" indent="0" marL="0">
              <a:buNone/>
            </a:pPr>
            <a:r>
              <a:rPr lang="en-US" sz="1450" b="1" i="1" dirty="0">
                <a:solidFill>
                  <a:srgbClr val="97BC62"/>
                </a:solidFill>
                <a:latin typeface="Calibri" pitchFamily="34" charset="0"/>
                <a:ea typeface="Calibri" pitchFamily="34" charset="-122"/>
                <a:cs typeface="Calibri" pitchFamily="34" charset="-120"/>
              </a:rPr>
              <a:t>The contribution is a methods comparison under label scarcity — not a validated map.</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RESULT 1 · SEPARATION</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AlphaEarth separates the stands far better</a:t>
            </a:r>
            <a:endParaRPr lang="en-US" sz="3200" dirty="0"/>
          </a:p>
        </p:txBody>
      </p:sp>
      <p:pic>
        <p:nvPicPr>
          <p:cNvPr id="4" name="Image 0" descr="/home/user/phd-code/reports/multi_sanjay_van_baseline/silhouette_bars.png">    </p:cNvPr>
          <p:cNvPicPr>
            <a:picLocks noChangeAspect="1"/>
          </p:cNvPicPr>
          <p:nvPr/>
        </p:nvPicPr>
        <p:blipFill>
          <a:blip r:embed="rId1"/>
          <a:srcRect l="0" r="0" t="0" b="0"/>
          <a:stretch/>
        </p:blipFill>
        <p:spPr>
          <a:xfrm>
            <a:off x="548640" y="1783080"/>
            <a:ext cx="7040880" cy="2958353"/>
          </a:xfrm>
          <a:prstGeom prst="rect">
            <a:avLst/>
          </a:prstGeom>
        </p:spPr>
      </p:pic>
      <p:sp>
        <p:nvSpPr>
          <p:cNvPr id="5" name="Shape 2"/>
          <p:cNvSpPr/>
          <p:nvPr/>
        </p:nvSpPr>
        <p:spPr>
          <a:xfrm>
            <a:off x="7909560" y="1783080"/>
            <a:ext cx="3730752" cy="1783080"/>
          </a:xfrm>
          <a:prstGeom prst="roundRect">
            <a:avLst>
              <a:gd name="adj" fmla="val 6154"/>
            </a:avLst>
          </a:prstGeom>
          <a:solidFill>
            <a:srgbClr val="F7EEE1"/>
          </a:solidFill>
          <a:ln/>
          <a:effectLst>
            <a:outerShdw sx="100000" sy="100000" kx="0" ky="0" algn="bl" rotWithShape="0" blurRad="101600" dist="38100" dir="5400000">
              <a:srgbClr val="9AA9A0">
                <a:alpha val="35000"/>
              </a:srgbClr>
            </a:outerShdw>
          </a:effectLst>
        </p:spPr>
      </p:sp>
      <p:sp>
        <p:nvSpPr>
          <p:cNvPr id="6" name="Text 3"/>
          <p:cNvSpPr/>
          <p:nvPr/>
        </p:nvSpPr>
        <p:spPr>
          <a:xfrm>
            <a:off x="7909560" y="1965960"/>
            <a:ext cx="3730752" cy="868680"/>
          </a:xfrm>
          <a:prstGeom prst="rect">
            <a:avLst/>
          </a:prstGeom>
          <a:noFill/>
          <a:ln/>
        </p:spPr>
        <p:txBody>
          <a:bodyPr wrap="square" rtlCol="0" anchor="ctr"/>
          <a:lstStyle/>
          <a:p>
            <a:pPr algn="ctr" indent="0" marL="0">
              <a:buNone/>
            </a:pPr>
            <a:r>
              <a:rPr lang="en-US" sz="4600" b="1" dirty="0">
                <a:solidFill>
                  <a:srgbClr val="A9631F"/>
                </a:solidFill>
                <a:latin typeface="Cambria" pitchFamily="34" charset="0"/>
                <a:ea typeface="Cambria" pitchFamily="34" charset="-122"/>
                <a:cs typeface="Cambria" pitchFamily="34" charset="-120"/>
              </a:rPr>
              <a:t>+0.113</a:t>
            </a:r>
            <a:endParaRPr lang="en-US" sz="4600" dirty="0"/>
          </a:p>
        </p:txBody>
      </p:sp>
      <p:sp>
        <p:nvSpPr>
          <p:cNvPr id="7" name="Text 4"/>
          <p:cNvSpPr/>
          <p:nvPr/>
        </p:nvSpPr>
        <p:spPr>
          <a:xfrm>
            <a:off x="7909560" y="2834640"/>
            <a:ext cx="3730752" cy="548640"/>
          </a:xfrm>
          <a:prstGeom prst="rect">
            <a:avLst/>
          </a:prstGeom>
          <a:noFill/>
          <a:ln/>
        </p:spPr>
        <p:txBody>
          <a:bodyPr wrap="square" rtlCol="0" anchor="ctr"/>
          <a:lstStyle/>
          <a:p>
            <a:pPr algn="ctr" indent="0" marL="0">
              <a:buNone/>
            </a:pPr>
            <a:r>
              <a:rPr lang="en-US" sz="1400" b="1" dirty="0">
                <a:solidFill>
                  <a:srgbClr val="1A2620"/>
                </a:solidFill>
                <a:latin typeface="Calibri" pitchFamily="34" charset="0"/>
                <a:ea typeface="Calibri" pitchFamily="34" charset="-122"/>
                <a:cs typeface="Calibri" pitchFamily="34" charset="-120"/>
              </a:rPr>
              <a:t>AlphaEarth silhouette</a:t>
            </a:r>
            <a:endParaRPr lang="en-US" sz="1400" dirty="0"/>
          </a:p>
        </p:txBody>
      </p:sp>
      <p:sp>
        <p:nvSpPr>
          <p:cNvPr id="8" name="Shape 5"/>
          <p:cNvSpPr/>
          <p:nvPr/>
        </p:nvSpPr>
        <p:spPr>
          <a:xfrm>
            <a:off x="7909560" y="3749040"/>
            <a:ext cx="3730752" cy="1783080"/>
          </a:xfrm>
          <a:prstGeom prst="roundRect">
            <a:avLst>
              <a:gd name="adj" fmla="val 6154"/>
            </a:avLst>
          </a:prstGeom>
          <a:solidFill>
            <a:srgbClr val="EAF1F3"/>
          </a:solidFill>
          <a:ln/>
          <a:effectLst>
            <a:outerShdw sx="100000" sy="100000" kx="0" ky="0" algn="bl" rotWithShape="0" blurRad="101600" dist="38100" dir="5400000">
              <a:srgbClr val="9AA9A0">
                <a:alpha val="35000"/>
              </a:srgbClr>
            </a:outerShdw>
          </a:effectLst>
        </p:spPr>
      </p:sp>
      <p:sp>
        <p:nvSpPr>
          <p:cNvPr id="9" name="Text 6"/>
          <p:cNvSpPr/>
          <p:nvPr/>
        </p:nvSpPr>
        <p:spPr>
          <a:xfrm>
            <a:off x="7909560" y="3931920"/>
            <a:ext cx="3730752" cy="868680"/>
          </a:xfrm>
          <a:prstGeom prst="rect">
            <a:avLst/>
          </a:prstGeom>
          <a:noFill/>
          <a:ln/>
        </p:spPr>
        <p:txBody>
          <a:bodyPr wrap="square" rtlCol="0" anchor="ctr"/>
          <a:lstStyle/>
          <a:p>
            <a:pPr algn="ctr" indent="0" marL="0">
              <a:buNone/>
            </a:pPr>
            <a:r>
              <a:rPr lang="en-US" sz="4600" b="1" dirty="0">
                <a:solidFill>
                  <a:srgbClr val="3A5561"/>
                </a:solidFill>
                <a:latin typeface="Cambria" pitchFamily="34" charset="0"/>
                <a:ea typeface="Cambria" pitchFamily="34" charset="-122"/>
                <a:cs typeface="Cambria" pitchFamily="34" charset="-120"/>
              </a:rPr>
              <a:t>−0.007</a:t>
            </a:r>
            <a:endParaRPr lang="en-US" sz="4600" dirty="0"/>
          </a:p>
        </p:txBody>
      </p:sp>
      <p:sp>
        <p:nvSpPr>
          <p:cNvPr id="10" name="Text 7"/>
          <p:cNvSpPr/>
          <p:nvPr/>
        </p:nvSpPr>
        <p:spPr>
          <a:xfrm>
            <a:off x="7909560" y="4800600"/>
            <a:ext cx="3730752" cy="548640"/>
          </a:xfrm>
          <a:prstGeom prst="rect">
            <a:avLst/>
          </a:prstGeom>
          <a:noFill/>
          <a:ln/>
        </p:spPr>
        <p:txBody>
          <a:bodyPr wrap="square" rtlCol="0" anchor="ctr"/>
          <a:lstStyle/>
          <a:p>
            <a:pPr algn="ctr" indent="0" marL="0">
              <a:buNone/>
            </a:pPr>
            <a:r>
              <a:rPr lang="en-US" sz="1400" b="1" dirty="0">
                <a:solidFill>
                  <a:srgbClr val="1A2620"/>
                </a:solidFill>
                <a:latin typeface="Calibri" pitchFamily="34" charset="0"/>
                <a:ea typeface="Calibri" pitchFamily="34" charset="-122"/>
                <a:cs typeface="Calibri" pitchFamily="34" charset="-120"/>
              </a:rPr>
              <a:t>Baseline silhouette</a:t>
            </a:r>
            <a:endParaRPr lang="en-US" sz="1400" dirty="0"/>
          </a:p>
        </p:txBody>
      </p:sp>
      <p:sp>
        <p:nvSpPr>
          <p:cNvPr id="11" name="Text 8"/>
          <p:cNvSpPr/>
          <p:nvPr/>
        </p:nvSpPr>
        <p:spPr>
          <a:xfrm>
            <a:off x="548640" y="5074920"/>
            <a:ext cx="7040880" cy="1280160"/>
          </a:xfrm>
          <a:prstGeom prst="rect">
            <a:avLst/>
          </a:prstGeom>
          <a:noFill/>
          <a:ln/>
        </p:spPr>
        <p:txBody>
          <a:bodyPr wrap="square" rtlCol="0" anchor="ctr"/>
          <a:lstStyle/>
          <a:p>
            <a:pPr indent="0" marL="0">
              <a:lnSpc>
                <a:spcPct val="112000"/>
              </a:lnSpc>
              <a:buNone/>
            </a:pPr>
            <a:r>
              <a:rPr lang="en-US" sz="1350" dirty="0">
                <a:solidFill>
                  <a:srgbClr val="3E4B44"/>
                </a:solidFill>
                <a:latin typeface="Calibri" pitchFamily="34" charset="0"/>
                <a:ea typeface="Calibri" pitchFamily="34" charset="-122"/>
                <a:cs typeface="Calibri" pitchFamily="34" charset="-120"/>
              </a:rPr>
              <a:t>Silhouette is intrinsic — computed in each arm’s own feature space, so it is directly comparable. Higher = tighter, better-separated stands. The baseline sits essentially at zero (barely separated); the learned embedding is clearly positive.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RESULT 2 · DELINEATION</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Same boundaries, different stands</a:t>
            </a:r>
            <a:endParaRPr lang="en-US" sz="3200" dirty="0"/>
          </a:p>
        </p:txBody>
      </p:sp>
      <p:sp>
        <p:nvSpPr>
          <p:cNvPr id="4" name="Text 2"/>
          <p:cNvSpPr/>
          <p:nvPr/>
        </p:nvSpPr>
        <p:spPr>
          <a:xfrm>
            <a:off x="411480" y="1783080"/>
            <a:ext cx="3719779" cy="365760"/>
          </a:xfrm>
          <a:prstGeom prst="rect">
            <a:avLst/>
          </a:prstGeom>
          <a:noFill/>
          <a:ln/>
        </p:spPr>
        <p:txBody>
          <a:bodyPr wrap="square" rtlCol="0" anchor="ctr"/>
          <a:lstStyle/>
          <a:p>
            <a:pPr algn="ctr" indent="0" marL="0">
              <a:buNone/>
            </a:pPr>
            <a:r>
              <a:rPr lang="en-US" sz="1550" b="1" dirty="0">
                <a:solidFill>
                  <a:srgbClr val="3A5561"/>
                </a:solidFill>
                <a:latin typeface="Cambria" pitchFamily="34" charset="0"/>
                <a:ea typeface="Cambria" pitchFamily="34" charset="-122"/>
                <a:cs typeface="Cambria" pitchFamily="34" charset="-120"/>
              </a:rPr>
              <a:t>Baseline (hand-crafted)</a:t>
            </a:r>
            <a:endParaRPr lang="en-US" sz="1550" dirty="0"/>
          </a:p>
        </p:txBody>
      </p:sp>
      <p:pic>
        <p:nvPicPr>
          <p:cNvPr id="5" name="Image 0" descr="/home/user/phd-code/reports/multi_sanjay_van_baseline/_sanjay_van_baseline/stand_map.png">    </p:cNvPr>
          <p:cNvPicPr>
            <a:picLocks noChangeAspect="1"/>
          </p:cNvPicPr>
          <p:nvPr/>
        </p:nvPicPr>
        <p:blipFill>
          <a:blip r:embed="rId1"/>
          <a:srcRect l="0" r="0" t="0" b="0"/>
          <a:stretch/>
        </p:blipFill>
        <p:spPr>
          <a:xfrm>
            <a:off x="777240" y="2148840"/>
            <a:ext cx="2988259" cy="3931920"/>
          </a:xfrm>
          <a:prstGeom prst="rect">
            <a:avLst/>
          </a:prstGeom>
        </p:spPr>
      </p:pic>
      <p:sp>
        <p:nvSpPr>
          <p:cNvPr id="6" name="Text 3"/>
          <p:cNvSpPr/>
          <p:nvPr/>
        </p:nvSpPr>
        <p:spPr>
          <a:xfrm>
            <a:off x="3749040" y="1783080"/>
            <a:ext cx="3719779" cy="365760"/>
          </a:xfrm>
          <a:prstGeom prst="rect">
            <a:avLst/>
          </a:prstGeom>
          <a:noFill/>
          <a:ln/>
        </p:spPr>
        <p:txBody>
          <a:bodyPr wrap="square" rtlCol="0" anchor="ctr"/>
          <a:lstStyle/>
          <a:p>
            <a:pPr algn="ctr" indent="0" marL="0">
              <a:buNone/>
            </a:pPr>
            <a:r>
              <a:rPr lang="en-US" sz="1550" b="1" dirty="0">
                <a:solidFill>
                  <a:srgbClr val="A9631F"/>
                </a:solidFill>
                <a:latin typeface="Cambria" pitchFamily="34" charset="0"/>
                <a:ea typeface="Cambria" pitchFamily="34" charset="-122"/>
                <a:cs typeface="Cambria" pitchFamily="34" charset="-120"/>
              </a:rPr>
              <a:t>AlphaEarth (embedding)</a:t>
            </a:r>
            <a:endParaRPr lang="en-US" sz="1550" dirty="0"/>
          </a:p>
        </p:txBody>
      </p:sp>
      <p:pic>
        <p:nvPicPr>
          <p:cNvPr id="7" name="Image 1" descr="/home/user/phd-code/reports/multi_sanjay_van_baseline/_sanjay_van_alphaearth/stand_map.png">    </p:cNvPr>
          <p:cNvPicPr>
            <a:picLocks noChangeAspect="1"/>
          </p:cNvPicPr>
          <p:nvPr/>
        </p:nvPicPr>
        <p:blipFill>
          <a:blip r:embed="rId2"/>
          <a:srcRect l="0" r="0" t="0" b="0"/>
          <a:stretch/>
        </p:blipFill>
        <p:spPr>
          <a:xfrm>
            <a:off x="4114800" y="2148840"/>
            <a:ext cx="2988259" cy="3931920"/>
          </a:xfrm>
          <a:prstGeom prst="rect">
            <a:avLst/>
          </a:prstGeom>
        </p:spPr>
      </p:pic>
      <p:sp>
        <p:nvSpPr>
          <p:cNvPr id="8" name="Shape 4"/>
          <p:cNvSpPr/>
          <p:nvPr/>
        </p:nvSpPr>
        <p:spPr>
          <a:xfrm>
            <a:off x="7360920" y="2148840"/>
            <a:ext cx="4279392" cy="3931920"/>
          </a:xfrm>
          <a:prstGeom prst="roundRect">
            <a:avLst>
              <a:gd name="adj" fmla="val 2791"/>
            </a:avLst>
          </a:prstGeom>
          <a:solidFill>
            <a:srgbClr val="EEF3E9"/>
          </a:solidFill>
          <a:ln/>
          <a:effectLst>
            <a:outerShdw sx="100000" sy="100000" kx="0" ky="0" algn="bl" rotWithShape="0" blurRad="101600" dist="38100" dir="5400000">
              <a:srgbClr val="9AA9A0">
                <a:alpha val="35000"/>
              </a:srgbClr>
            </a:outerShdw>
          </a:effectLst>
        </p:spPr>
      </p:sp>
      <p:sp>
        <p:nvSpPr>
          <p:cNvPr id="9" name="Text 5"/>
          <p:cNvSpPr/>
          <p:nvPr/>
        </p:nvSpPr>
        <p:spPr>
          <a:xfrm>
            <a:off x="7616952" y="2377440"/>
            <a:ext cx="3767328" cy="3474720"/>
          </a:xfrm>
          <a:prstGeom prst="rect">
            <a:avLst/>
          </a:prstGeom>
          <a:noFill/>
          <a:ln/>
        </p:spPr>
        <p:txBody>
          <a:bodyPr wrap="square" rtlCol="0" anchor="t"/>
          <a:lstStyle/>
          <a:p>
            <a:pPr indent="0" marL="0">
              <a:lnSpc>
                <a:spcPct val="112000"/>
              </a:lnSpc>
              <a:spcAft>
                <a:spcPts val="1200"/>
              </a:spcAft>
              <a:buNone/>
            </a:pPr>
            <a:r>
              <a:rPr lang="en-US" sz="1500" b="1" dirty="0">
                <a:solidFill>
                  <a:srgbClr val="2C5F2D"/>
                </a:solidFill>
                <a:latin typeface="Calibri" pitchFamily="34" charset="0"/>
                <a:ea typeface="Calibri" pitchFamily="34" charset="-122"/>
                <a:cs typeface="Calibri" pitchFamily="34" charset="-120"/>
              </a:rPr>
              <a:t>Read this carefully</a:t>
            </a:r>
            <a:endParaRPr lang="en-US" sz="1280" dirty="0"/>
          </a:p>
          <a:p>
            <a:pPr indent="0" marL="0">
              <a:lnSpc>
                <a:spcPct val="112000"/>
              </a:lnSpc>
              <a:spcAft>
                <a:spcPts val="1200"/>
              </a:spcAft>
              <a:buNone/>
            </a:pPr>
            <a:r>
              <a:rPr lang="en-US" sz="1280" dirty="0">
                <a:solidFill>
                  <a:srgbClr val="3E4B44"/>
                </a:solidFill>
                <a:latin typeface="Calibri" pitchFamily="34" charset="0"/>
                <a:ea typeface="Calibri" pitchFamily="34" charset="-122"/>
                <a:cs typeface="Calibri" pitchFamily="34" charset="-120"/>
              </a:rPr>
              <a:t>SNIC boundaries are identical in both panels — only the cluster assignment differs. Colours/IDs are per-arm, so the same colour is a different stand in each map; use the overlap matrix for correspondence.</a:t>
            </a:r>
            <a:endParaRPr lang="en-US" sz="1280" dirty="0"/>
          </a:p>
          <a:p>
            <a:pPr indent="0" marL="0">
              <a:lnSpc>
                <a:spcPct val="112000"/>
              </a:lnSpc>
              <a:buNone/>
            </a:pPr>
            <a:r>
              <a:rPr lang="en-US" sz="1280" i="1" dirty="0">
                <a:solidFill>
                  <a:srgbClr val="2C5F2D"/>
                </a:solidFill>
                <a:latin typeface="Calibri" pitchFamily="34" charset="0"/>
                <a:ea typeface="Calibri" pitchFamily="34" charset="-122"/>
                <a:cs typeface="Calibri" pitchFamily="34" charset="-120"/>
              </a:rPr>
              <a:t>AlphaEarth yields larger, more contiguous stands; the baseline is visibly more fragmented — the visual counterpart of the silhouette gap.</a:t>
            </a:r>
            <a:endParaRPr lang="en-US" sz="12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RESULT 3 · AGREEMENT</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The two representations delineate quite differently</a:t>
            </a:r>
            <a:endParaRPr lang="en-US" sz="3200" dirty="0"/>
          </a:p>
        </p:txBody>
      </p:sp>
      <p:pic>
        <p:nvPicPr>
          <p:cNvPr id="4" name="Image 0" descr="/home/user/phd-code/reports/multi_sanjay_van_baseline/_sanjay_van_alphaearth/confusion.png">    </p:cNvPr>
          <p:cNvPicPr>
            <a:picLocks noChangeAspect="1"/>
          </p:cNvPicPr>
          <p:nvPr/>
        </p:nvPicPr>
        <p:blipFill>
          <a:blip r:embed="rId1"/>
          <a:srcRect l="0" r="0" t="0" b="0"/>
          <a:stretch/>
        </p:blipFill>
        <p:spPr>
          <a:xfrm>
            <a:off x="548640" y="1828800"/>
            <a:ext cx="3741725" cy="4023360"/>
          </a:xfrm>
          <a:prstGeom prst="rect">
            <a:avLst/>
          </a:prstGeom>
        </p:spPr>
      </p:pic>
      <p:sp>
        <p:nvSpPr>
          <p:cNvPr id="5" name="Shape 2"/>
          <p:cNvSpPr/>
          <p:nvPr/>
        </p:nvSpPr>
        <p:spPr>
          <a:xfrm>
            <a:off x="5029200" y="1828800"/>
            <a:ext cx="1990344" cy="1691640"/>
          </a:xfrm>
          <a:prstGeom prst="roundRect">
            <a:avLst>
              <a:gd name="adj" fmla="val 6486"/>
            </a:avLst>
          </a:prstGeom>
          <a:solidFill>
            <a:srgbClr val="EAF1F3"/>
          </a:solidFill>
          <a:ln/>
          <a:effectLst>
            <a:outerShdw sx="100000" sy="100000" kx="0" ky="0" algn="bl" rotWithShape="0" blurRad="101600" dist="38100" dir="5400000">
              <a:srgbClr val="9AA9A0">
                <a:alpha val="35000"/>
              </a:srgbClr>
            </a:outerShdw>
          </a:effectLst>
        </p:spPr>
      </p:sp>
      <p:sp>
        <p:nvSpPr>
          <p:cNvPr id="6" name="Text 3"/>
          <p:cNvSpPr/>
          <p:nvPr/>
        </p:nvSpPr>
        <p:spPr>
          <a:xfrm>
            <a:off x="5029200" y="1965960"/>
            <a:ext cx="1990344" cy="777240"/>
          </a:xfrm>
          <a:prstGeom prst="rect">
            <a:avLst/>
          </a:prstGeom>
          <a:noFill/>
          <a:ln/>
        </p:spPr>
        <p:txBody>
          <a:bodyPr wrap="square" rtlCol="0" anchor="ctr"/>
          <a:lstStyle/>
          <a:p>
            <a:pPr algn="ctr" indent="0" marL="0">
              <a:buNone/>
            </a:pPr>
            <a:r>
              <a:rPr lang="en-US" sz="3400" b="1" dirty="0">
                <a:solidFill>
                  <a:srgbClr val="3A5561"/>
                </a:solidFill>
                <a:latin typeface="Cambria" pitchFamily="34" charset="0"/>
                <a:ea typeface="Cambria" pitchFamily="34" charset="-122"/>
                <a:cs typeface="Cambria" pitchFamily="34" charset="-120"/>
              </a:rPr>
              <a:t>0.17</a:t>
            </a:r>
            <a:endParaRPr lang="en-US" sz="3400" dirty="0"/>
          </a:p>
        </p:txBody>
      </p:sp>
      <p:sp>
        <p:nvSpPr>
          <p:cNvPr id="7" name="Text 4"/>
          <p:cNvSpPr/>
          <p:nvPr/>
        </p:nvSpPr>
        <p:spPr>
          <a:xfrm>
            <a:off x="5029200" y="2743200"/>
            <a:ext cx="1990344" cy="320040"/>
          </a:xfrm>
          <a:prstGeom prst="rect">
            <a:avLst/>
          </a:prstGeom>
          <a:noFill/>
          <a:ln/>
        </p:spPr>
        <p:txBody>
          <a:bodyPr wrap="square" rtlCol="0" anchor="ctr"/>
          <a:lstStyle/>
          <a:p>
            <a:pPr algn="ctr" indent="0" marL="0">
              <a:buNone/>
            </a:pPr>
            <a:r>
              <a:rPr lang="en-US" sz="1350" b="1" dirty="0">
                <a:solidFill>
                  <a:srgbClr val="1A2620"/>
                </a:solidFill>
                <a:latin typeface="Calibri" pitchFamily="34" charset="0"/>
                <a:ea typeface="Calibri" pitchFamily="34" charset="-122"/>
                <a:cs typeface="Calibri" pitchFamily="34" charset="-120"/>
              </a:rPr>
              <a:t>ARI</a:t>
            </a:r>
            <a:endParaRPr lang="en-US" sz="1350" dirty="0"/>
          </a:p>
        </p:txBody>
      </p:sp>
      <p:sp>
        <p:nvSpPr>
          <p:cNvPr id="8" name="Text 5"/>
          <p:cNvSpPr/>
          <p:nvPr/>
        </p:nvSpPr>
        <p:spPr>
          <a:xfrm>
            <a:off x="5029200" y="3063240"/>
            <a:ext cx="1990344" cy="320040"/>
          </a:xfrm>
          <a:prstGeom prst="rect">
            <a:avLst/>
          </a:prstGeom>
          <a:noFill/>
          <a:ln/>
        </p:spPr>
        <p:txBody>
          <a:bodyPr wrap="square" rtlCol="0" anchor="ctr"/>
          <a:lstStyle/>
          <a:p>
            <a:pPr algn="ctr" indent="0" marL="0">
              <a:buNone/>
            </a:pPr>
            <a:r>
              <a:rPr lang="en-US" sz="1100" dirty="0">
                <a:solidFill>
                  <a:srgbClr val="5F6F66"/>
                </a:solidFill>
                <a:latin typeface="Calibri" pitchFamily="34" charset="0"/>
                <a:ea typeface="Calibri" pitchFamily="34" charset="-122"/>
                <a:cs typeface="Calibri" pitchFamily="34" charset="-120"/>
              </a:rPr>
              <a:t>vs baseline</a:t>
            </a:r>
            <a:endParaRPr lang="en-US" sz="1100" dirty="0"/>
          </a:p>
        </p:txBody>
      </p:sp>
      <p:sp>
        <p:nvSpPr>
          <p:cNvPr id="9" name="Shape 6"/>
          <p:cNvSpPr/>
          <p:nvPr/>
        </p:nvSpPr>
        <p:spPr>
          <a:xfrm>
            <a:off x="7339584" y="1828800"/>
            <a:ext cx="1990344" cy="1691640"/>
          </a:xfrm>
          <a:prstGeom prst="roundRect">
            <a:avLst>
              <a:gd name="adj" fmla="val 6486"/>
            </a:avLst>
          </a:prstGeom>
          <a:solidFill>
            <a:srgbClr val="EAF1F3"/>
          </a:solidFill>
          <a:ln/>
          <a:effectLst>
            <a:outerShdw sx="100000" sy="100000" kx="0" ky="0" algn="bl" rotWithShape="0" blurRad="101600" dist="38100" dir="5400000">
              <a:srgbClr val="9AA9A0">
                <a:alpha val="35000"/>
              </a:srgbClr>
            </a:outerShdw>
          </a:effectLst>
        </p:spPr>
      </p:sp>
      <p:sp>
        <p:nvSpPr>
          <p:cNvPr id="10" name="Text 7"/>
          <p:cNvSpPr/>
          <p:nvPr/>
        </p:nvSpPr>
        <p:spPr>
          <a:xfrm>
            <a:off x="7339584" y="1965960"/>
            <a:ext cx="1990344" cy="777240"/>
          </a:xfrm>
          <a:prstGeom prst="rect">
            <a:avLst/>
          </a:prstGeom>
          <a:noFill/>
          <a:ln/>
        </p:spPr>
        <p:txBody>
          <a:bodyPr wrap="square" rtlCol="0" anchor="ctr"/>
          <a:lstStyle/>
          <a:p>
            <a:pPr algn="ctr" indent="0" marL="0">
              <a:buNone/>
            </a:pPr>
            <a:r>
              <a:rPr lang="en-US" sz="3400" b="1" dirty="0">
                <a:solidFill>
                  <a:srgbClr val="3A5561"/>
                </a:solidFill>
                <a:latin typeface="Cambria" pitchFamily="34" charset="0"/>
                <a:ea typeface="Cambria" pitchFamily="34" charset="-122"/>
                <a:cs typeface="Cambria" pitchFamily="34" charset="-120"/>
              </a:rPr>
              <a:t>0.23</a:t>
            </a:r>
            <a:endParaRPr lang="en-US" sz="3400" dirty="0"/>
          </a:p>
        </p:txBody>
      </p:sp>
      <p:sp>
        <p:nvSpPr>
          <p:cNvPr id="11" name="Text 8"/>
          <p:cNvSpPr/>
          <p:nvPr/>
        </p:nvSpPr>
        <p:spPr>
          <a:xfrm>
            <a:off x="7339584" y="2743200"/>
            <a:ext cx="1990344" cy="320040"/>
          </a:xfrm>
          <a:prstGeom prst="rect">
            <a:avLst/>
          </a:prstGeom>
          <a:noFill/>
          <a:ln/>
        </p:spPr>
        <p:txBody>
          <a:bodyPr wrap="square" rtlCol="0" anchor="ctr"/>
          <a:lstStyle/>
          <a:p>
            <a:pPr algn="ctr" indent="0" marL="0">
              <a:buNone/>
            </a:pPr>
            <a:r>
              <a:rPr lang="en-US" sz="1350" b="1" dirty="0">
                <a:solidFill>
                  <a:srgbClr val="1A2620"/>
                </a:solidFill>
                <a:latin typeface="Calibri" pitchFamily="34" charset="0"/>
                <a:ea typeface="Calibri" pitchFamily="34" charset="-122"/>
                <a:cs typeface="Calibri" pitchFamily="34" charset="-120"/>
              </a:rPr>
              <a:t>NMI</a:t>
            </a:r>
            <a:endParaRPr lang="en-US" sz="1350" dirty="0"/>
          </a:p>
        </p:txBody>
      </p:sp>
      <p:sp>
        <p:nvSpPr>
          <p:cNvPr id="12" name="Text 9"/>
          <p:cNvSpPr/>
          <p:nvPr/>
        </p:nvSpPr>
        <p:spPr>
          <a:xfrm>
            <a:off x="7339584" y="3063240"/>
            <a:ext cx="1990344" cy="320040"/>
          </a:xfrm>
          <a:prstGeom prst="rect">
            <a:avLst/>
          </a:prstGeom>
          <a:noFill/>
          <a:ln/>
        </p:spPr>
        <p:txBody>
          <a:bodyPr wrap="square" rtlCol="0" anchor="ctr"/>
          <a:lstStyle/>
          <a:p>
            <a:pPr algn="ctr" indent="0" marL="0">
              <a:buNone/>
            </a:pPr>
            <a:r>
              <a:rPr lang="en-US" sz="1100" dirty="0">
                <a:solidFill>
                  <a:srgbClr val="5F6F66"/>
                </a:solidFill>
                <a:latin typeface="Calibri" pitchFamily="34" charset="0"/>
                <a:ea typeface="Calibri" pitchFamily="34" charset="-122"/>
                <a:cs typeface="Calibri" pitchFamily="34" charset="-120"/>
              </a:rPr>
              <a:t>vs baseline</a:t>
            </a:r>
            <a:endParaRPr lang="en-US" sz="1100" dirty="0"/>
          </a:p>
        </p:txBody>
      </p:sp>
      <p:sp>
        <p:nvSpPr>
          <p:cNvPr id="13" name="Shape 10"/>
          <p:cNvSpPr/>
          <p:nvPr/>
        </p:nvSpPr>
        <p:spPr>
          <a:xfrm>
            <a:off x="9649968" y="1828800"/>
            <a:ext cx="1990344" cy="1691640"/>
          </a:xfrm>
          <a:prstGeom prst="roundRect">
            <a:avLst>
              <a:gd name="adj" fmla="val 6486"/>
            </a:avLst>
          </a:prstGeom>
          <a:solidFill>
            <a:srgbClr val="EAF1F3"/>
          </a:solidFill>
          <a:ln/>
          <a:effectLst>
            <a:outerShdw sx="100000" sy="100000" kx="0" ky="0" algn="bl" rotWithShape="0" blurRad="101600" dist="38100" dir="5400000">
              <a:srgbClr val="9AA9A0">
                <a:alpha val="35000"/>
              </a:srgbClr>
            </a:outerShdw>
          </a:effectLst>
        </p:spPr>
      </p:sp>
      <p:sp>
        <p:nvSpPr>
          <p:cNvPr id="14" name="Text 11"/>
          <p:cNvSpPr/>
          <p:nvPr/>
        </p:nvSpPr>
        <p:spPr>
          <a:xfrm>
            <a:off x="9649968" y="1965960"/>
            <a:ext cx="1990344" cy="777240"/>
          </a:xfrm>
          <a:prstGeom prst="rect">
            <a:avLst/>
          </a:prstGeom>
          <a:noFill/>
          <a:ln/>
        </p:spPr>
        <p:txBody>
          <a:bodyPr wrap="square" rtlCol="0" anchor="ctr"/>
          <a:lstStyle/>
          <a:p>
            <a:pPr algn="ctr" indent="0" marL="0">
              <a:buNone/>
            </a:pPr>
            <a:r>
              <a:rPr lang="en-US" sz="3400" b="1" dirty="0">
                <a:solidFill>
                  <a:srgbClr val="3A5561"/>
                </a:solidFill>
                <a:latin typeface="Cambria" pitchFamily="34" charset="0"/>
                <a:ea typeface="Cambria" pitchFamily="34" charset="-122"/>
                <a:cs typeface="Cambria" pitchFamily="34" charset="-120"/>
              </a:rPr>
              <a:t>41%</a:t>
            </a:r>
            <a:endParaRPr lang="en-US" sz="3400" dirty="0"/>
          </a:p>
        </p:txBody>
      </p:sp>
      <p:sp>
        <p:nvSpPr>
          <p:cNvPr id="15" name="Text 12"/>
          <p:cNvSpPr/>
          <p:nvPr/>
        </p:nvSpPr>
        <p:spPr>
          <a:xfrm>
            <a:off x="9649968" y="2743200"/>
            <a:ext cx="1990344" cy="320040"/>
          </a:xfrm>
          <a:prstGeom prst="rect">
            <a:avLst/>
          </a:prstGeom>
          <a:noFill/>
          <a:ln/>
        </p:spPr>
        <p:txBody>
          <a:bodyPr wrap="square" rtlCol="0" anchor="ctr"/>
          <a:lstStyle/>
          <a:p>
            <a:pPr algn="ctr" indent="0" marL="0">
              <a:buNone/>
            </a:pPr>
            <a:r>
              <a:rPr lang="en-US" sz="1350" b="1" dirty="0">
                <a:solidFill>
                  <a:srgbClr val="1A2620"/>
                </a:solidFill>
                <a:latin typeface="Calibri" pitchFamily="34" charset="0"/>
                <a:ea typeface="Calibri" pitchFamily="34" charset="-122"/>
                <a:cs typeface="Calibri" pitchFamily="34" charset="-120"/>
              </a:rPr>
              <a:t>Agreement</a:t>
            </a:r>
            <a:endParaRPr lang="en-US" sz="1350" dirty="0"/>
          </a:p>
        </p:txBody>
      </p:sp>
      <p:sp>
        <p:nvSpPr>
          <p:cNvPr id="16" name="Text 13"/>
          <p:cNvSpPr/>
          <p:nvPr/>
        </p:nvSpPr>
        <p:spPr>
          <a:xfrm>
            <a:off x="9649968" y="3063240"/>
            <a:ext cx="1990344" cy="320040"/>
          </a:xfrm>
          <a:prstGeom prst="rect">
            <a:avLst/>
          </a:prstGeom>
          <a:noFill/>
          <a:ln/>
        </p:spPr>
        <p:txBody>
          <a:bodyPr wrap="square" rtlCol="0" anchor="ctr"/>
          <a:lstStyle/>
          <a:p>
            <a:pPr algn="ctr" indent="0" marL="0">
              <a:buNone/>
            </a:pPr>
            <a:r>
              <a:rPr lang="en-US" sz="1100" dirty="0">
                <a:solidFill>
                  <a:srgbClr val="5F6F66"/>
                </a:solidFill>
                <a:latin typeface="Calibri" pitchFamily="34" charset="0"/>
                <a:ea typeface="Calibri" pitchFamily="34" charset="-122"/>
                <a:cs typeface="Calibri" pitchFamily="34" charset="-120"/>
              </a:rPr>
              <a:t>of pixels align</a:t>
            </a:r>
            <a:endParaRPr lang="en-US" sz="1100" dirty="0"/>
          </a:p>
        </p:txBody>
      </p:sp>
      <p:sp>
        <p:nvSpPr>
          <p:cNvPr id="17" name="Shape 14"/>
          <p:cNvSpPr/>
          <p:nvPr/>
        </p:nvSpPr>
        <p:spPr>
          <a:xfrm>
            <a:off x="5029200" y="3749040"/>
            <a:ext cx="6611112" cy="2194560"/>
          </a:xfrm>
          <a:prstGeom prst="roundRect">
            <a:avLst>
              <a:gd name="adj" fmla="val 5000"/>
            </a:avLst>
          </a:prstGeom>
          <a:solidFill>
            <a:srgbClr val="EEF3E9"/>
          </a:solidFill>
          <a:ln/>
          <a:effectLst>
            <a:outerShdw sx="100000" sy="100000" kx="0" ky="0" algn="bl" rotWithShape="0" blurRad="101600" dist="38100" dir="5400000">
              <a:srgbClr val="9AA9A0">
                <a:alpha val="35000"/>
              </a:srgbClr>
            </a:outerShdw>
          </a:effectLst>
        </p:spPr>
      </p:sp>
      <p:sp>
        <p:nvSpPr>
          <p:cNvPr id="18" name="Text 15"/>
          <p:cNvSpPr/>
          <p:nvPr/>
        </p:nvSpPr>
        <p:spPr>
          <a:xfrm>
            <a:off x="5349240" y="3931920"/>
            <a:ext cx="5971032"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What this means</a:t>
            </a:r>
            <a:endParaRPr lang="en-US" sz="1600" dirty="0"/>
          </a:p>
        </p:txBody>
      </p:sp>
      <p:sp>
        <p:nvSpPr>
          <p:cNvPr id="19" name="Text 16"/>
          <p:cNvSpPr/>
          <p:nvPr/>
        </p:nvSpPr>
        <p:spPr>
          <a:xfrm>
            <a:off x="5349240" y="4343400"/>
            <a:ext cx="5971032" cy="1463040"/>
          </a:xfrm>
          <a:prstGeom prst="rect">
            <a:avLst/>
          </a:prstGeom>
          <a:noFill/>
          <a:ln/>
        </p:spPr>
        <p:txBody>
          <a:bodyPr wrap="square" rtlCol="0" anchor="ctr"/>
          <a:lstStyle/>
          <a:p>
            <a:pPr indent="0" marL="0">
              <a:lnSpc>
                <a:spcPct val="114000"/>
              </a:lnSpc>
              <a:buNone/>
            </a:pPr>
            <a:r>
              <a:rPr lang="en-US" sz="1300" b="1" dirty="0">
                <a:solidFill>
                  <a:srgbClr val="1A2620"/>
                </a:solidFill>
                <a:latin typeface="Calibri" pitchFamily="34" charset="0"/>
                <a:ea typeface="Calibri" pitchFamily="34" charset="-122"/>
                <a:cs typeface="Calibri" pitchFamily="34" charset="-120"/>
              </a:rPr>
              <a:t>Low-to-moderate agreement. </a:t>
            </a:r>
            <a:pPr indent="0" marL="0">
              <a:lnSpc>
                <a:spcPct val="114000"/>
              </a:lnSpc>
              <a:buNone/>
            </a:pPr>
            <a:r>
              <a:rPr lang="en-US" sz="1300" dirty="0">
                <a:solidFill>
                  <a:srgbClr val="3E4B44"/>
                </a:solidFill>
                <a:latin typeface="Calibri" pitchFamily="34" charset="0"/>
                <a:ea typeface="Calibri" pitchFamily="34" charset="-122"/>
                <a:cs typeface="Calibri" pitchFamily="34" charset="-120"/>
              </a:rPr>
              <a:t>After Hungarian alignment, only ~41% of pixels land in corresponding stands (ARI 0.17, NMI 0.23). The green rings on the matrix show each AlphaEarth stand’s best-matching baseline stand — some map cleanly (73%, 49%, 48%), others split across several. Neither arm is a reference; this simply quantifies how much the representation reshapes the map.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RESULT 4 · CONSENSUS LAYER</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A per-stand confidence layer — consensus, not correctness</a:t>
            </a:r>
            <a:endParaRPr lang="en-US" sz="3200" dirty="0"/>
          </a:p>
        </p:txBody>
      </p:sp>
      <p:pic>
        <p:nvPicPr>
          <p:cNvPr id="4" name="Image 0" descr="/home/user/phd-code/reports/multi_sanjay_van_baseline/_sanjay_van_alphaearth/confidence.png">    </p:cNvPr>
          <p:cNvPicPr>
            <a:picLocks noChangeAspect="1"/>
          </p:cNvPicPr>
          <p:nvPr/>
        </p:nvPicPr>
        <p:blipFill>
          <a:blip r:embed="rId1"/>
          <a:srcRect l="0" r="0" t="0" b="0"/>
          <a:stretch/>
        </p:blipFill>
        <p:spPr>
          <a:xfrm>
            <a:off x="548640" y="1920240"/>
            <a:ext cx="6949440" cy="2662621"/>
          </a:xfrm>
          <a:prstGeom prst="rect">
            <a:avLst/>
          </a:prstGeom>
        </p:spPr>
      </p:pic>
      <p:sp>
        <p:nvSpPr>
          <p:cNvPr id="5" name="Shape 2"/>
          <p:cNvSpPr/>
          <p:nvPr/>
        </p:nvSpPr>
        <p:spPr>
          <a:xfrm>
            <a:off x="7863840" y="1874520"/>
            <a:ext cx="3776472" cy="1554480"/>
          </a:xfrm>
          <a:prstGeom prst="roundRect">
            <a:avLst>
              <a:gd name="adj" fmla="val 7059"/>
            </a:avLst>
          </a:prstGeom>
          <a:solidFill>
            <a:srgbClr val="F7EEE1"/>
          </a:solidFill>
          <a:ln/>
          <a:effectLst>
            <a:outerShdw sx="100000" sy="100000" kx="0" ky="0" algn="bl" rotWithShape="0" blurRad="101600" dist="38100" dir="5400000">
              <a:srgbClr val="9AA9A0">
                <a:alpha val="35000"/>
              </a:srgbClr>
            </a:outerShdw>
          </a:effectLst>
        </p:spPr>
      </p:sp>
      <p:sp>
        <p:nvSpPr>
          <p:cNvPr id="6" name="Text 3"/>
          <p:cNvSpPr/>
          <p:nvPr/>
        </p:nvSpPr>
        <p:spPr>
          <a:xfrm>
            <a:off x="7863840" y="1965960"/>
            <a:ext cx="3776472" cy="777240"/>
          </a:xfrm>
          <a:prstGeom prst="rect">
            <a:avLst/>
          </a:prstGeom>
          <a:noFill/>
          <a:ln/>
        </p:spPr>
        <p:txBody>
          <a:bodyPr wrap="square" rtlCol="0" anchor="ctr"/>
          <a:lstStyle/>
          <a:p>
            <a:pPr algn="ctr" indent="0" marL="0">
              <a:buNone/>
            </a:pPr>
            <a:r>
              <a:rPr lang="en-US" sz="4000" b="1" dirty="0">
                <a:solidFill>
                  <a:srgbClr val="A9631F"/>
                </a:solidFill>
                <a:latin typeface="Cambria" pitchFamily="34" charset="0"/>
                <a:ea typeface="Cambria" pitchFamily="34" charset="-122"/>
                <a:cs typeface="Cambria" pitchFamily="34" charset="-120"/>
              </a:rPr>
              <a:t>40%</a:t>
            </a:r>
            <a:endParaRPr lang="en-US" sz="4000" dirty="0"/>
          </a:p>
        </p:txBody>
      </p:sp>
      <p:sp>
        <p:nvSpPr>
          <p:cNvPr id="7" name="Text 4"/>
          <p:cNvSpPr/>
          <p:nvPr/>
        </p:nvSpPr>
        <p:spPr>
          <a:xfrm>
            <a:off x="7863840" y="2743200"/>
            <a:ext cx="3776472" cy="457200"/>
          </a:xfrm>
          <a:prstGeom prst="rect">
            <a:avLst/>
          </a:prstGeom>
          <a:noFill/>
          <a:ln/>
        </p:spPr>
        <p:txBody>
          <a:bodyPr wrap="square" rtlCol="0" anchor="ctr"/>
          <a:lstStyle/>
          <a:p>
            <a:pPr algn="ctr" indent="0" marL="0">
              <a:buNone/>
            </a:pPr>
            <a:r>
              <a:rPr lang="en-US" sz="1300" b="1" dirty="0">
                <a:solidFill>
                  <a:srgbClr val="1A2620"/>
                </a:solidFill>
                <a:latin typeface="Calibri" pitchFamily="34" charset="0"/>
                <a:ea typeface="Calibri" pitchFamily="34" charset="-122"/>
                <a:cs typeface="Calibri" pitchFamily="34" charset="-120"/>
              </a:rPr>
              <a:t>mean stand confidence</a:t>
            </a:r>
            <a:endParaRPr lang="en-US" sz="1300" dirty="0"/>
          </a:p>
        </p:txBody>
      </p:sp>
      <p:sp>
        <p:nvSpPr>
          <p:cNvPr id="8" name="Shape 5"/>
          <p:cNvSpPr/>
          <p:nvPr/>
        </p:nvSpPr>
        <p:spPr>
          <a:xfrm>
            <a:off x="7863840" y="3566160"/>
            <a:ext cx="3776472" cy="1554480"/>
          </a:xfrm>
          <a:prstGeom prst="roundRect">
            <a:avLst>
              <a:gd name="adj" fmla="val 7059"/>
            </a:avLst>
          </a:prstGeom>
          <a:solidFill>
            <a:srgbClr val="EEF3E9"/>
          </a:solidFill>
          <a:ln/>
          <a:effectLst>
            <a:outerShdw sx="100000" sy="100000" kx="0" ky="0" algn="bl" rotWithShape="0" blurRad="101600" dist="38100" dir="5400000">
              <a:srgbClr val="9AA9A0">
                <a:alpha val="35000"/>
              </a:srgbClr>
            </a:outerShdw>
          </a:effectLst>
        </p:spPr>
      </p:sp>
      <p:sp>
        <p:nvSpPr>
          <p:cNvPr id="9" name="Text 6"/>
          <p:cNvSpPr/>
          <p:nvPr/>
        </p:nvSpPr>
        <p:spPr>
          <a:xfrm>
            <a:off x="7863840" y="3657600"/>
            <a:ext cx="3776472" cy="777240"/>
          </a:xfrm>
          <a:prstGeom prst="rect">
            <a:avLst/>
          </a:prstGeom>
          <a:noFill/>
          <a:ln/>
        </p:spPr>
        <p:txBody>
          <a:bodyPr wrap="square" rtlCol="0" anchor="ctr"/>
          <a:lstStyle/>
          <a:p>
            <a:pPr algn="ctr" indent="0" marL="0">
              <a:buNone/>
            </a:pPr>
            <a:r>
              <a:rPr lang="en-US" sz="4000" b="1" dirty="0">
                <a:solidFill>
                  <a:srgbClr val="2C5F2D"/>
                </a:solidFill>
                <a:latin typeface="Cambria" pitchFamily="34" charset="0"/>
                <a:ea typeface="Cambria" pitchFamily="34" charset="-122"/>
                <a:cs typeface="Cambria" pitchFamily="34" charset="-120"/>
              </a:rPr>
              <a:t>33%</a:t>
            </a:r>
            <a:endParaRPr lang="en-US" sz="4000" dirty="0"/>
          </a:p>
        </p:txBody>
      </p:sp>
      <p:sp>
        <p:nvSpPr>
          <p:cNvPr id="10" name="Text 7"/>
          <p:cNvSpPr/>
          <p:nvPr/>
        </p:nvSpPr>
        <p:spPr>
          <a:xfrm>
            <a:off x="7863840" y="4434840"/>
            <a:ext cx="3776472" cy="457200"/>
          </a:xfrm>
          <a:prstGeom prst="rect">
            <a:avLst/>
          </a:prstGeom>
          <a:noFill/>
          <a:ln/>
        </p:spPr>
        <p:txBody>
          <a:bodyPr wrap="square" rtlCol="0" anchor="ctr"/>
          <a:lstStyle/>
          <a:p>
            <a:pPr algn="ctr" indent="0" marL="0">
              <a:buNone/>
            </a:pPr>
            <a:r>
              <a:rPr lang="en-US" sz="1300" b="1" dirty="0">
                <a:solidFill>
                  <a:srgbClr val="1A2620"/>
                </a:solidFill>
                <a:latin typeface="Calibri" pitchFamily="34" charset="0"/>
                <a:ea typeface="Calibri" pitchFamily="34" charset="-122"/>
                <a:cs typeface="Calibri" pitchFamily="34" charset="-120"/>
              </a:rPr>
              <a:t>of area ≥ 80% agreement</a:t>
            </a:r>
            <a:endParaRPr lang="en-US" sz="1300" dirty="0"/>
          </a:p>
        </p:txBody>
      </p:sp>
      <p:sp>
        <p:nvSpPr>
          <p:cNvPr id="11" name="Text 8"/>
          <p:cNvSpPr/>
          <p:nvPr/>
        </p:nvSpPr>
        <p:spPr>
          <a:xfrm>
            <a:off x="548640" y="4892040"/>
            <a:ext cx="6949440" cy="1554480"/>
          </a:xfrm>
          <a:prstGeom prst="rect">
            <a:avLst/>
          </a:prstGeom>
          <a:noFill/>
          <a:ln/>
        </p:spPr>
        <p:txBody>
          <a:bodyPr wrap="square" rtlCol="0" anchor="ctr"/>
          <a:lstStyle/>
          <a:p>
            <a:pPr indent="0" marL="0">
              <a:lnSpc>
                <a:spcPct val="114000"/>
              </a:lnSpc>
              <a:buNone/>
            </a:pPr>
            <a:r>
              <a:rPr lang="en-US" sz="1350" dirty="0">
                <a:solidFill>
                  <a:srgbClr val="3E4B44"/>
                </a:solidFill>
                <a:latin typeface="Calibri" pitchFamily="34" charset="0"/>
                <a:ea typeface="Calibri" pitchFamily="34" charset="-122"/>
                <a:cs typeface="Calibri" pitchFamily="34" charset="-120"/>
              </a:rPr>
              <a:t>We roll the pixel agreement map up to each SNIC stand: confidence = how often the two representations place that stand in corresponding classes. It is a stability / uncertainty layer a forester can act on — high-confidence stands are robust to the choice of representation — explicitly not a correctness score.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2C5F2D"/>
                </a:solidFill>
                <a:latin typeface="Calibri" pitchFamily="34" charset="0"/>
                <a:ea typeface="Calibri" pitchFamily="34" charset="-122"/>
                <a:cs typeface="Calibri" pitchFamily="34" charset="-120"/>
              </a:rPr>
              <a:t>THE TRADE-OFF</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Separability comes at the cost of interpretability</a:t>
            </a:r>
            <a:endParaRPr lang="en-US" sz="3200" dirty="0"/>
          </a:p>
        </p:txBody>
      </p:sp>
      <p:sp>
        <p:nvSpPr>
          <p:cNvPr id="4" name="Shape 2"/>
          <p:cNvSpPr/>
          <p:nvPr/>
        </p:nvSpPr>
        <p:spPr>
          <a:xfrm>
            <a:off x="548640" y="1828800"/>
            <a:ext cx="5317236" cy="3931920"/>
          </a:xfrm>
          <a:prstGeom prst="roundRect">
            <a:avLst>
              <a:gd name="adj" fmla="val 2791"/>
            </a:avLst>
          </a:prstGeom>
          <a:solidFill>
            <a:srgbClr val="EAF1F3"/>
          </a:solidFill>
          <a:ln/>
          <a:effectLst>
            <a:outerShdw sx="100000" sy="100000" kx="0" ky="0" algn="bl" rotWithShape="0" blurRad="101600" dist="38100" dir="5400000">
              <a:srgbClr val="9AA9A0">
                <a:alpha val="35000"/>
              </a:srgbClr>
            </a:outerShdw>
          </a:effectLst>
        </p:spPr>
      </p:sp>
      <p:sp>
        <p:nvSpPr>
          <p:cNvPr id="5" name="Shape 3"/>
          <p:cNvSpPr/>
          <p:nvPr/>
        </p:nvSpPr>
        <p:spPr>
          <a:xfrm>
            <a:off x="822960" y="2103120"/>
            <a:ext cx="731520" cy="731520"/>
          </a:xfrm>
          <a:prstGeom prst="ellipse">
            <a:avLst/>
          </a:prstGeom>
          <a:solidFill>
            <a:srgbClr val="3A5561"/>
          </a:solidFill>
          <a:ln/>
        </p:spPr>
      </p:sp>
      <p:pic>
        <p:nvPicPr>
          <p:cNvPr id="6" name="Image 0" descr="preencoded.png">    </p:cNvPr>
          <p:cNvPicPr>
            <a:picLocks noChangeAspect="1"/>
          </p:cNvPicPr>
          <p:nvPr/>
        </p:nvPicPr>
        <p:blipFill>
          <a:blip r:embed="rId1"/>
          <a:stretch>
            <a:fillRect/>
          </a:stretch>
        </p:blipFill>
        <p:spPr>
          <a:xfrm>
            <a:off x="932688" y="2212848"/>
            <a:ext cx="512064" cy="512064"/>
          </a:xfrm>
          <a:prstGeom prst="rect">
            <a:avLst/>
          </a:prstGeom>
        </p:spPr>
      </p:pic>
      <p:sp>
        <p:nvSpPr>
          <p:cNvPr id="7" name="Text 4"/>
          <p:cNvSpPr/>
          <p:nvPr/>
        </p:nvSpPr>
        <p:spPr>
          <a:xfrm>
            <a:off x="1691640" y="2240280"/>
            <a:ext cx="3945636" cy="457200"/>
          </a:xfrm>
          <a:prstGeom prst="rect">
            <a:avLst/>
          </a:prstGeom>
          <a:noFill/>
          <a:ln/>
        </p:spPr>
        <p:txBody>
          <a:bodyPr wrap="square" rtlCol="0" anchor="ctr"/>
          <a:lstStyle/>
          <a:p>
            <a:pPr indent="0" marL="0">
              <a:buNone/>
            </a:pPr>
            <a:r>
              <a:rPr lang="en-US" sz="1800" b="1" dirty="0">
                <a:solidFill>
                  <a:srgbClr val="1A2620"/>
                </a:solidFill>
                <a:latin typeface="Cambria" pitchFamily="34" charset="0"/>
                <a:ea typeface="Cambria" pitchFamily="34" charset="-122"/>
                <a:cs typeface="Cambria" pitchFamily="34" charset="-120"/>
              </a:rPr>
              <a:t>Baseline — readable</a:t>
            </a:r>
            <a:endParaRPr lang="en-US" sz="1800" dirty="0"/>
          </a:p>
        </p:txBody>
      </p:sp>
      <p:sp>
        <p:nvSpPr>
          <p:cNvPr id="8" name="Text 5"/>
          <p:cNvSpPr/>
          <p:nvPr/>
        </p:nvSpPr>
        <p:spPr>
          <a:xfrm>
            <a:off x="868680" y="3063240"/>
            <a:ext cx="4677156" cy="320040"/>
          </a:xfrm>
          <a:prstGeom prst="rect">
            <a:avLst/>
          </a:prstGeom>
          <a:noFill/>
          <a:ln/>
        </p:spPr>
        <p:txBody>
          <a:bodyPr wrap="square" rtlCol="0" anchor="ctr"/>
          <a:lstStyle/>
          <a:p>
            <a:pPr indent="0" marL="0">
              <a:buNone/>
            </a:pPr>
            <a:r>
              <a:rPr lang="en-US" sz="1250" i="1" dirty="0">
                <a:solidFill>
                  <a:srgbClr val="3A5561"/>
                </a:solidFill>
                <a:latin typeface="Calibri" pitchFamily="34" charset="0"/>
                <a:ea typeface="Calibri" pitchFamily="34" charset="-122"/>
                <a:cs typeface="Calibri" pitchFamily="34" charset="-120"/>
              </a:rPr>
              <a:t>Clusters profile in real ecological units:</a:t>
            </a:r>
            <a:endParaRPr lang="en-US" sz="1250" dirty="0"/>
          </a:p>
        </p:txBody>
      </p:sp>
      <p:sp>
        <p:nvSpPr>
          <p:cNvPr id="9" name="Text 6"/>
          <p:cNvSpPr/>
          <p:nvPr/>
        </p:nvSpPr>
        <p:spPr>
          <a:xfrm>
            <a:off x="914400" y="3429000"/>
            <a:ext cx="4585716" cy="1828800"/>
          </a:xfrm>
          <a:prstGeom prst="rect">
            <a:avLst/>
          </a:prstGeom>
          <a:noFill/>
          <a:ln/>
        </p:spPr>
        <p:txBody>
          <a:bodyPr wrap="square" rtlCol="0" anchor="ctr"/>
          <a:lstStyle/>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canopy height &amp; vertical structure</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NDVI mean, amplitude &amp; phenological phase</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VV / VH radar backscatter</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elevation, slope, rainfall</a:t>
            </a:r>
            <a:endParaRPr lang="en-US" sz="1350" dirty="0"/>
          </a:p>
        </p:txBody>
      </p:sp>
      <p:sp>
        <p:nvSpPr>
          <p:cNvPr id="10" name="Text 7"/>
          <p:cNvSpPr/>
          <p:nvPr/>
        </p:nvSpPr>
        <p:spPr>
          <a:xfrm>
            <a:off x="868680" y="5257800"/>
            <a:ext cx="4677156" cy="411480"/>
          </a:xfrm>
          <a:prstGeom prst="rect">
            <a:avLst/>
          </a:prstGeom>
          <a:noFill/>
          <a:ln/>
        </p:spPr>
        <p:txBody>
          <a:bodyPr wrap="square" rtlCol="0" anchor="ctr"/>
          <a:lstStyle/>
          <a:p>
            <a:pPr indent="0" marL="0">
              <a:buNone/>
            </a:pPr>
            <a:r>
              <a:rPr lang="en-US" sz="1250" b="1" i="1" dirty="0">
                <a:solidFill>
                  <a:srgbClr val="3A5561"/>
                </a:solidFill>
                <a:latin typeface="Calibri" pitchFamily="34" charset="0"/>
                <a:ea typeface="Calibri" pitchFamily="34" charset="-122"/>
                <a:cs typeface="Calibri" pitchFamily="34" charset="-120"/>
              </a:rPr>
              <a:t>→ “Stand 3 is short, sparse canopy on a dry slope.”</a:t>
            </a:r>
            <a:endParaRPr lang="en-US" sz="1250" dirty="0"/>
          </a:p>
        </p:txBody>
      </p:sp>
      <p:sp>
        <p:nvSpPr>
          <p:cNvPr id="11" name="Shape 8"/>
          <p:cNvSpPr/>
          <p:nvPr/>
        </p:nvSpPr>
        <p:spPr>
          <a:xfrm>
            <a:off x="6323076" y="1828800"/>
            <a:ext cx="5317236" cy="3931920"/>
          </a:xfrm>
          <a:prstGeom prst="roundRect">
            <a:avLst>
              <a:gd name="adj" fmla="val 2791"/>
            </a:avLst>
          </a:prstGeom>
          <a:solidFill>
            <a:srgbClr val="F7EEE1"/>
          </a:solidFill>
          <a:ln/>
          <a:effectLst>
            <a:outerShdw sx="100000" sy="100000" kx="0" ky="0" algn="bl" rotWithShape="0" blurRad="101600" dist="38100" dir="5400000">
              <a:srgbClr val="9AA9A0">
                <a:alpha val="35000"/>
              </a:srgbClr>
            </a:outerShdw>
          </a:effectLst>
        </p:spPr>
      </p:sp>
      <p:sp>
        <p:nvSpPr>
          <p:cNvPr id="12" name="Shape 9"/>
          <p:cNvSpPr/>
          <p:nvPr/>
        </p:nvSpPr>
        <p:spPr>
          <a:xfrm>
            <a:off x="6597396" y="2103120"/>
            <a:ext cx="731520" cy="731520"/>
          </a:xfrm>
          <a:prstGeom prst="ellipse">
            <a:avLst/>
          </a:prstGeom>
          <a:solidFill>
            <a:srgbClr val="A9631F"/>
          </a:solidFill>
          <a:ln/>
        </p:spPr>
      </p:sp>
      <p:pic>
        <p:nvPicPr>
          <p:cNvPr id="13" name="Image 1" descr="preencoded.png">    </p:cNvPr>
          <p:cNvPicPr>
            <a:picLocks noChangeAspect="1"/>
          </p:cNvPicPr>
          <p:nvPr/>
        </p:nvPicPr>
        <p:blipFill>
          <a:blip r:embed="rId2"/>
          <a:stretch>
            <a:fillRect/>
          </a:stretch>
        </p:blipFill>
        <p:spPr>
          <a:xfrm>
            <a:off x="6707124" y="2212848"/>
            <a:ext cx="512064" cy="512064"/>
          </a:xfrm>
          <a:prstGeom prst="rect">
            <a:avLst/>
          </a:prstGeom>
        </p:spPr>
      </p:pic>
      <p:sp>
        <p:nvSpPr>
          <p:cNvPr id="14" name="Text 10"/>
          <p:cNvSpPr/>
          <p:nvPr/>
        </p:nvSpPr>
        <p:spPr>
          <a:xfrm>
            <a:off x="7466076" y="2240280"/>
            <a:ext cx="3945636" cy="457200"/>
          </a:xfrm>
          <a:prstGeom prst="rect">
            <a:avLst/>
          </a:prstGeom>
          <a:noFill/>
          <a:ln/>
        </p:spPr>
        <p:txBody>
          <a:bodyPr wrap="square" rtlCol="0" anchor="ctr"/>
          <a:lstStyle/>
          <a:p>
            <a:pPr indent="0" marL="0">
              <a:buNone/>
            </a:pPr>
            <a:r>
              <a:rPr lang="en-US" sz="1800" b="1" dirty="0">
                <a:solidFill>
                  <a:srgbClr val="1A2620"/>
                </a:solidFill>
                <a:latin typeface="Cambria" pitchFamily="34" charset="0"/>
                <a:ea typeface="Cambria" pitchFamily="34" charset="-122"/>
                <a:cs typeface="Cambria" pitchFamily="34" charset="-120"/>
              </a:rPr>
              <a:t>AlphaEarth — abstract</a:t>
            </a:r>
            <a:endParaRPr lang="en-US" sz="1800" dirty="0"/>
          </a:p>
        </p:txBody>
      </p:sp>
      <p:sp>
        <p:nvSpPr>
          <p:cNvPr id="15" name="Text 11"/>
          <p:cNvSpPr/>
          <p:nvPr/>
        </p:nvSpPr>
        <p:spPr>
          <a:xfrm>
            <a:off x="6643116" y="3063240"/>
            <a:ext cx="4677156" cy="320040"/>
          </a:xfrm>
          <a:prstGeom prst="rect">
            <a:avLst/>
          </a:prstGeom>
          <a:noFill/>
          <a:ln/>
        </p:spPr>
        <p:txBody>
          <a:bodyPr wrap="square" rtlCol="0" anchor="ctr"/>
          <a:lstStyle/>
          <a:p>
            <a:pPr indent="0" marL="0">
              <a:buNone/>
            </a:pPr>
            <a:r>
              <a:rPr lang="en-US" sz="1250" i="1" dirty="0">
                <a:solidFill>
                  <a:srgbClr val="A9631F"/>
                </a:solidFill>
                <a:latin typeface="Calibri" pitchFamily="34" charset="0"/>
                <a:ea typeface="Calibri" pitchFamily="34" charset="-122"/>
                <a:cs typeface="Calibri" pitchFamily="34" charset="-120"/>
              </a:rPr>
              <a:t>Clusters profile in 64 learned dimensions:</a:t>
            </a:r>
            <a:endParaRPr lang="en-US" sz="1250" dirty="0"/>
          </a:p>
        </p:txBody>
      </p:sp>
      <p:sp>
        <p:nvSpPr>
          <p:cNvPr id="16" name="Text 12"/>
          <p:cNvSpPr/>
          <p:nvPr/>
        </p:nvSpPr>
        <p:spPr>
          <a:xfrm>
            <a:off x="6688836" y="3429000"/>
            <a:ext cx="4585716" cy="1828800"/>
          </a:xfrm>
          <a:prstGeom prst="rect">
            <a:avLst/>
          </a:prstGeom>
          <a:noFill/>
          <a:ln/>
        </p:spPr>
        <p:txBody>
          <a:bodyPr wrap="square" rtlCol="0" anchor="ctr"/>
          <a:lstStyle/>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A00, A01, A02 … A63 — no physical units</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more separable, but not directly nameable</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ecological meaning must be recovered post-hoc</a:t>
            </a:r>
            <a:endParaRPr lang="en-US" sz="1350" dirty="0"/>
          </a:p>
          <a:p>
            <a:pPr marL="342900" indent="-342900">
              <a:spcAft>
                <a:spcPts val="800"/>
              </a:spcAft>
              <a:buSzPct val="100000"/>
              <a:buChar char="•"/>
            </a:pPr>
            <a:r>
              <a:rPr lang="en-US" sz="1350" dirty="0">
                <a:solidFill>
                  <a:srgbClr val="3E4B44"/>
                </a:solidFill>
                <a:latin typeface="Calibri" pitchFamily="34" charset="0"/>
                <a:ea typeface="Calibri" pitchFamily="34" charset="-122"/>
                <a:cs typeface="Calibri" pitchFamily="34" charset="-120"/>
              </a:rPr>
              <a:t>e.g. cross-walk each dim back to profiles</a:t>
            </a:r>
            <a:endParaRPr lang="en-US" sz="1350" dirty="0"/>
          </a:p>
        </p:txBody>
      </p:sp>
      <p:sp>
        <p:nvSpPr>
          <p:cNvPr id="17" name="Text 13"/>
          <p:cNvSpPr/>
          <p:nvPr/>
        </p:nvSpPr>
        <p:spPr>
          <a:xfrm>
            <a:off x="6643116" y="5257800"/>
            <a:ext cx="4677156" cy="411480"/>
          </a:xfrm>
          <a:prstGeom prst="rect">
            <a:avLst/>
          </a:prstGeom>
          <a:noFill/>
          <a:ln/>
        </p:spPr>
        <p:txBody>
          <a:bodyPr wrap="square" rtlCol="0" anchor="ctr"/>
          <a:lstStyle/>
          <a:p>
            <a:pPr indent="0" marL="0">
              <a:buNone/>
            </a:pPr>
            <a:r>
              <a:rPr lang="en-US" sz="1250" b="1" i="1" dirty="0">
                <a:solidFill>
                  <a:srgbClr val="A9631F"/>
                </a:solidFill>
                <a:latin typeface="Calibri" pitchFamily="34" charset="0"/>
                <a:ea typeface="Calibri" pitchFamily="34" charset="-122"/>
                <a:cs typeface="Calibri" pitchFamily="34" charset="-120"/>
              </a:rPr>
              <a:t>→ “Stand 3 is high on A17, low on A40.” — separable, not self-explaining.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INTENDED THIRD ARM</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Tessera — attempted, not completed</a:t>
            </a:r>
            <a:endParaRPr lang="en-US" sz="3200" dirty="0"/>
          </a:p>
        </p:txBody>
      </p:sp>
      <p:sp>
        <p:nvSpPr>
          <p:cNvPr id="4" name="Shape 2"/>
          <p:cNvSpPr/>
          <p:nvPr/>
        </p:nvSpPr>
        <p:spPr>
          <a:xfrm>
            <a:off x="548640" y="1828800"/>
            <a:ext cx="5212080" cy="4114800"/>
          </a:xfrm>
          <a:prstGeom prst="roundRect">
            <a:avLst>
              <a:gd name="adj" fmla="val 2667"/>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822960" y="2103120"/>
            <a:ext cx="731520" cy="731520"/>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932688" y="2212848"/>
            <a:ext cx="512064" cy="512064"/>
          </a:xfrm>
          <a:prstGeom prst="rect">
            <a:avLst/>
          </a:prstGeom>
        </p:spPr>
      </p:pic>
      <p:sp>
        <p:nvSpPr>
          <p:cNvPr id="7" name="Text 4"/>
          <p:cNvSpPr/>
          <p:nvPr/>
        </p:nvSpPr>
        <p:spPr>
          <a:xfrm>
            <a:off x="1691640" y="2240280"/>
            <a:ext cx="3840480" cy="45720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What it is &amp; why</a:t>
            </a:r>
            <a:endParaRPr lang="en-US" sz="1700" dirty="0"/>
          </a:p>
        </p:txBody>
      </p:sp>
      <p:sp>
        <p:nvSpPr>
          <p:cNvPr id="8" name="Text 5"/>
          <p:cNvSpPr/>
          <p:nvPr/>
        </p:nvSpPr>
        <p:spPr>
          <a:xfrm>
            <a:off x="914400" y="3063240"/>
            <a:ext cx="4572000" cy="2743200"/>
          </a:xfrm>
          <a:prstGeom prst="rect">
            <a:avLst/>
          </a:prstGeom>
          <a:noFill/>
          <a:ln/>
        </p:spPr>
        <p:txBody>
          <a:bodyPr wrap="square" rtlCol="0" anchor="ctr"/>
          <a:lstStyle/>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A second pretrained, per-pixel embedding (open, CC0) — off-GEE, so it must be fetched and ingested as an Earth Engine asset.</a:t>
            </a:r>
            <a:endParaRPr lang="en-US" sz="1300" dirty="0"/>
          </a:p>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Goal: a second learned representation, for a three-way comparison (hand-crafted vs AlphaEarth vs Tessera).</a:t>
            </a:r>
            <a:endParaRPr lang="en-US" sz="1300" dirty="0"/>
          </a:p>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The pipeline is already source-agnostic: the features_embedding stage loads either embedding unchanged.</a:t>
            </a:r>
            <a:endParaRPr lang="en-US" sz="1300" dirty="0"/>
          </a:p>
        </p:txBody>
      </p:sp>
      <p:sp>
        <p:nvSpPr>
          <p:cNvPr id="9" name="Shape 6"/>
          <p:cNvSpPr/>
          <p:nvPr/>
        </p:nvSpPr>
        <p:spPr>
          <a:xfrm>
            <a:off x="6035040" y="1828800"/>
            <a:ext cx="5605272" cy="4114800"/>
          </a:xfrm>
          <a:prstGeom prst="roundRect">
            <a:avLst>
              <a:gd name="adj" fmla="val 2667"/>
            </a:avLst>
          </a:prstGeom>
          <a:solidFill>
            <a:srgbClr val="F7EEE1"/>
          </a:solidFill>
          <a:ln/>
          <a:effectLst>
            <a:outerShdw sx="100000" sy="100000" kx="0" ky="0" algn="bl" rotWithShape="0" blurRad="101600" dist="38100" dir="5400000">
              <a:srgbClr val="9AA9A0">
                <a:alpha val="35000"/>
              </a:srgbClr>
            </a:outerShdw>
          </a:effectLst>
        </p:spPr>
      </p:sp>
      <p:sp>
        <p:nvSpPr>
          <p:cNvPr id="10" name="Shape 7"/>
          <p:cNvSpPr/>
          <p:nvPr/>
        </p:nvSpPr>
        <p:spPr>
          <a:xfrm>
            <a:off x="6309360" y="2103120"/>
            <a:ext cx="731520" cy="731520"/>
          </a:xfrm>
          <a:prstGeom prst="ellipse">
            <a:avLst/>
          </a:prstGeom>
          <a:solidFill>
            <a:srgbClr val="A9631F"/>
          </a:solidFill>
          <a:ln/>
        </p:spPr>
      </p:sp>
      <p:pic>
        <p:nvPicPr>
          <p:cNvPr id="11" name="Image 1" descr="preencoded.png">    </p:cNvPr>
          <p:cNvPicPr>
            <a:picLocks noChangeAspect="1"/>
          </p:cNvPicPr>
          <p:nvPr/>
        </p:nvPicPr>
        <p:blipFill>
          <a:blip r:embed="rId2"/>
          <a:stretch>
            <a:fillRect/>
          </a:stretch>
        </p:blipFill>
        <p:spPr>
          <a:xfrm>
            <a:off x="6419088" y="2212848"/>
            <a:ext cx="512064" cy="512064"/>
          </a:xfrm>
          <a:prstGeom prst="rect">
            <a:avLst/>
          </a:prstGeom>
        </p:spPr>
      </p:pic>
      <p:sp>
        <p:nvSpPr>
          <p:cNvPr id="12" name="Text 8"/>
          <p:cNvSpPr/>
          <p:nvPr/>
        </p:nvSpPr>
        <p:spPr>
          <a:xfrm>
            <a:off x="7178040" y="2240280"/>
            <a:ext cx="4114800" cy="457200"/>
          </a:xfrm>
          <a:prstGeom prst="rect">
            <a:avLst/>
          </a:prstGeom>
          <a:noFill/>
          <a:ln/>
        </p:spPr>
        <p:txBody>
          <a:bodyPr wrap="square" rtlCol="0" anchor="ctr"/>
          <a:lstStyle/>
          <a:p>
            <a:pPr indent="0" marL="0">
              <a:buNone/>
            </a:pPr>
            <a:r>
              <a:rPr lang="en-US" sz="1700" b="1" dirty="0">
                <a:solidFill>
                  <a:srgbClr val="1A2620"/>
                </a:solidFill>
                <a:latin typeface="Cambria" pitchFamily="34" charset="0"/>
                <a:ea typeface="Cambria" pitchFamily="34" charset="-122"/>
                <a:cs typeface="Cambria" pitchFamily="34" charset="-120"/>
              </a:rPr>
              <a:t>Why it is blocked</a:t>
            </a:r>
            <a:endParaRPr lang="en-US" sz="1700" dirty="0"/>
          </a:p>
        </p:txBody>
      </p:sp>
      <p:sp>
        <p:nvSpPr>
          <p:cNvPr id="13" name="Text 9"/>
          <p:cNvSpPr/>
          <p:nvPr/>
        </p:nvSpPr>
        <p:spPr>
          <a:xfrm>
            <a:off x="6400800" y="3063240"/>
            <a:ext cx="4873752" cy="2743200"/>
          </a:xfrm>
          <a:prstGeom prst="rect">
            <a:avLst/>
          </a:prstGeom>
          <a:noFill/>
          <a:ln/>
        </p:spPr>
        <p:txBody>
          <a:bodyPr wrap="square" rtlCol="0" anchor="ctr"/>
          <a:lstStyle/>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Coverage: for the Delhi ROI, Tessera publishes tiles only for 2024–2025 — a temporal mismatch with AlphaEarth’s 2017–2022 window.</a:t>
            </a:r>
            <a:endParaRPr lang="en-US" sz="1300" dirty="0"/>
          </a:p>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Ingestion: the installed geotessera (0.9.0) reports a covering tile but writes no GeoTIFF, so the mosaic step fails — an API/version gap in the fetch.</a:t>
            </a:r>
            <a:endParaRPr lang="en-US" sz="1300" dirty="0"/>
          </a:p>
          <a:p>
            <a:pPr marL="342900" indent="-342900">
              <a:lnSpc>
                <a:spcPct val="108000"/>
              </a:lnSpc>
              <a:spcAft>
                <a:spcPts val="1000"/>
              </a:spcAft>
              <a:buSzPct val="100000"/>
              <a:buChar char="•"/>
            </a:pPr>
            <a:r>
              <a:rPr lang="en-US" sz="1300" dirty="0">
                <a:solidFill>
                  <a:srgbClr val="3E4B44"/>
                </a:solidFill>
                <a:latin typeface="Calibri" pitchFamily="34" charset="0"/>
                <a:ea typeface="Calibri" pitchFamily="34" charset="-122"/>
                <a:cs typeface="Calibri" pitchFamily="34" charset="-120"/>
              </a:rPr>
              <a:t>Status: scaffolding is in place (prep_tessera.py, config, source-agnostic stage); a clean run needs a fixed fetch + a stated window caveat.</a:t>
            </a:r>
            <a:endParaRPr lang="en-US" sz="1300" dirty="0"/>
          </a:p>
        </p:txBody>
      </p:sp>
      <p:sp>
        <p:nvSpPr>
          <p:cNvPr id="14" name="Text 10"/>
          <p:cNvSpPr/>
          <p:nvPr/>
        </p:nvSpPr>
        <p:spPr>
          <a:xfrm>
            <a:off x="548640" y="6172200"/>
            <a:ext cx="11091672" cy="365760"/>
          </a:xfrm>
          <a:prstGeom prst="rect">
            <a:avLst/>
          </a:prstGeom>
          <a:noFill/>
          <a:ln/>
        </p:spPr>
        <p:txBody>
          <a:bodyPr wrap="square" rtlCol="0" anchor="ctr"/>
          <a:lstStyle/>
          <a:p>
            <a:pPr algn="ctr" indent="0" marL="0">
              <a:buNone/>
            </a:pPr>
            <a:r>
              <a:rPr lang="en-US" sz="1400" b="1" i="1" dirty="0">
                <a:solidFill>
                  <a:srgbClr val="2C5F2D"/>
                </a:solidFill>
                <a:latin typeface="Calibri" pitchFamily="34" charset="0"/>
                <a:ea typeface="Calibri" pitchFamily="34" charset="-122"/>
                <a:cs typeface="Calibri" pitchFamily="34" charset="-120"/>
              </a:rPr>
              <a:t>Reported transparently: the third arm is future work, not a result.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C77E33"/>
                </a:solidFill>
                <a:latin typeface="Calibri" pitchFamily="34" charset="0"/>
                <a:ea typeface="Calibri" pitchFamily="34" charset="-122"/>
                <a:cs typeface="Calibri" pitchFamily="34" charset="-120"/>
              </a:rPr>
              <a:t>LIMITATIONS</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What these results do — and do not — support</a:t>
            </a:r>
            <a:endParaRPr lang="en-US" sz="3200" dirty="0"/>
          </a:p>
        </p:txBody>
      </p:sp>
      <p:sp>
        <p:nvSpPr>
          <p:cNvPr id="4" name="Shape 2"/>
          <p:cNvSpPr/>
          <p:nvPr/>
        </p:nvSpPr>
        <p:spPr>
          <a:xfrm>
            <a:off x="548640" y="1828800"/>
            <a:ext cx="3453384" cy="1737360"/>
          </a:xfrm>
          <a:prstGeom prst="roundRect">
            <a:avLst>
              <a:gd name="adj" fmla="val 6316"/>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786384" y="2066544"/>
            <a:ext cx="621792" cy="621792"/>
          </a:xfrm>
          <a:prstGeom prst="ellipse">
            <a:avLst/>
          </a:prstGeom>
          <a:solidFill>
            <a:srgbClr val="C77E33"/>
          </a:solidFill>
          <a:ln/>
        </p:spPr>
      </p:sp>
      <p:pic>
        <p:nvPicPr>
          <p:cNvPr id="6" name="Image 0" descr="preencoded.png">    </p:cNvPr>
          <p:cNvPicPr>
            <a:picLocks noChangeAspect="1"/>
          </p:cNvPicPr>
          <p:nvPr/>
        </p:nvPicPr>
        <p:blipFill>
          <a:blip r:embed="rId1"/>
          <a:stretch>
            <a:fillRect/>
          </a:stretch>
        </p:blipFill>
        <p:spPr>
          <a:xfrm>
            <a:off x="879653" y="2159813"/>
            <a:ext cx="435254" cy="435254"/>
          </a:xfrm>
          <a:prstGeom prst="rect">
            <a:avLst/>
          </a:prstGeom>
        </p:spPr>
      </p:pic>
      <p:sp>
        <p:nvSpPr>
          <p:cNvPr id="7" name="Text 4"/>
          <p:cNvSpPr/>
          <p:nvPr/>
        </p:nvSpPr>
        <p:spPr>
          <a:xfrm>
            <a:off x="1554480" y="20848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No external validity</a:t>
            </a:r>
            <a:endParaRPr lang="en-US" sz="1450" dirty="0"/>
          </a:p>
        </p:txBody>
      </p:sp>
      <p:sp>
        <p:nvSpPr>
          <p:cNvPr id="8" name="Text 5"/>
          <p:cNvSpPr/>
          <p:nvPr/>
        </p:nvSpPr>
        <p:spPr>
          <a:xfrm>
            <a:off x="841248" y="26974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With no reference stand map, we compare representations (separation + agreement), never correctness.</a:t>
            </a:r>
            <a:endParaRPr lang="en-US" sz="1180" dirty="0"/>
          </a:p>
        </p:txBody>
      </p:sp>
      <p:sp>
        <p:nvSpPr>
          <p:cNvPr id="9" name="Shape 6"/>
          <p:cNvSpPr/>
          <p:nvPr/>
        </p:nvSpPr>
        <p:spPr>
          <a:xfrm>
            <a:off x="4367784" y="1828800"/>
            <a:ext cx="3453384" cy="1737360"/>
          </a:xfrm>
          <a:prstGeom prst="roundRect">
            <a:avLst>
              <a:gd name="adj" fmla="val 6316"/>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10" name="Shape 7"/>
          <p:cNvSpPr/>
          <p:nvPr/>
        </p:nvSpPr>
        <p:spPr>
          <a:xfrm>
            <a:off x="4605528" y="2066544"/>
            <a:ext cx="621792" cy="621792"/>
          </a:xfrm>
          <a:prstGeom prst="ellipse">
            <a:avLst/>
          </a:prstGeom>
          <a:solidFill>
            <a:srgbClr val="C77E33"/>
          </a:solidFill>
          <a:ln/>
        </p:spPr>
      </p:sp>
      <p:pic>
        <p:nvPicPr>
          <p:cNvPr id="11" name="Image 1" descr="preencoded.png">    </p:cNvPr>
          <p:cNvPicPr>
            <a:picLocks noChangeAspect="1"/>
          </p:cNvPicPr>
          <p:nvPr/>
        </p:nvPicPr>
        <p:blipFill>
          <a:blip r:embed="rId2"/>
          <a:stretch>
            <a:fillRect/>
          </a:stretch>
        </p:blipFill>
        <p:spPr>
          <a:xfrm>
            <a:off x="4698797" y="2159813"/>
            <a:ext cx="435254" cy="435254"/>
          </a:xfrm>
          <a:prstGeom prst="rect">
            <a:avLst/>
          </a:prstGeom>
        </p:spPr>
      </p:pic>
      <p:sp>
        <p:nvSpPr>
          <p:cNvPr id="12" name="Text 8"/>
          <p:cNvSpPr/>
          <p:nvPr/>
        </p:nvSpPr>
        <p:spPr>
          <a:xfrm>
            <a:off x="5373624" y="20848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Single site</a:t>
            </a:r>
            <a:endParaRPr lang="en-US" sz="1450" dirty="0"/>
          </a:p>
        </p:txBody>
      </p:sp>
      <p:sp>
        <p:nvSpPr>
          <p:cNvPr id="13" name="Text 9"/>
          <p:cNvSpPr/>
          <p:nvPr/>
        </p:nvSpPr>
        <p:spPr>
          <a:xfrm>
            <a:off x="4660392" y="26974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All numbers are from one ROI — Sanjay Van, Delhi. Generalisation needs more, varied forests.</a:t>
            </a:r>
            <a:endParaRPr lang="en-US" sz="1180" dirty="0"/>
          </a:p>
        </p:txBody>
      </p:sp>
      <p:sp>
        <p:nvSpPr>
          <p:cNvPr id="14" name="Shape 10"/>
          <p:cNvSpPr/>
          <p:nvPr/>
        </p:nvSpPr>
        <p:spPr>
          <a:xfrm>
            <a:off x="8186928" y="1828800"/>
            <a:ext cx="3453384" cy="1737360"/>
          </a:xfrm>
          <a:prstGeom prst="roundRect">
            <a:avLst>
              <a:gd name="adj" fmla="val 6316"/>
            </a:avLst>
          </a:prstGeom>
          <a:solidFill>
            <a:srgbClr val="EEF3E9"/>
          </a:solidFill>
          <a:ln/>
          <a:effectLst>
            <a:outerShdw sx="100000" sy="100000" kx="0" ky="0" algn="bl" rotWithShape="0" blurRad="101600" dist="38100" dir="5400000">
              <a:srgbClr val="9AA9A0">
                <a:alpha val="35000"/>
              </a:srgbClr>
            </a:outerShdw>
          </a:effectLst>
        </p:spPr>
      </p:sp>
      <p:sp>
        <p:nvSpPr>
          <p:cNvPr id="15" name="Shape 11"/>
          <p:cNvSpPr/>
          <p:nvPr/>
        </p:nvSpPr>
        <p:spPr>
          <a:xfrm>
            <a:off x="8424672" y="2066544"/>
            <a:ext cx="621792" cy="621792"/>
          </a:xfrm>
          <a:prstGeom prst="ellipse">
            <a:avLst/>
          </a:prstGeom>
          <a:solidFill>
            <a:srgbClr val="C77E33"/>
          </a:solidFill>
          <a:ln/>
        </p:spPr>
      </p:sp>
      <p:pic>
        <p:nvPicPr>
          <p:cNvPr id="16" name="Image 2" descr="preencoded.png">    </p:cNvPr>
          <p:cNvPicPr>
            <a:picLocks noChangeAspect="1"/>
          </p:cNvPicPr>
          <p:nvPr/>
        </p:nvPicPr>
        <p:blipFill>
          <a:blip r:embed="rId3"/>
          <a:stretch>
            <a:fillRect/>
          </a:stretch>
        </p:blipFill>
        <p:spPr>
          <a:xfrm>
            <a:off x="8517941" y="2159813"/>
            <a:ext cx="435254" cy="435254"/>
          </a:xfrm>
          <a:prstGeom prst="rect">
            <a:avLst/>
          </a:prstGeom>
        </p:spPr>
      </p:pic>
      <p:sp>
        <p:nvSpPr>
          <p:cNvPr id="17" name="Text 12"/>
          <p:cNvSpPr/>
          <p:nvPr/>
        </p:nvSpPr>
        <p:spPr>
          <a:xfrm>
            <a:off x="9192768" y="20848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Tessera window gap</a:t>
            </a:r>
            <a:endParaRPr lang="en-US" sz="1450" dirty="0"/>
          </a:p>
        </p:txBody>
      </p:sp>
      <p:sp>
        <p:nvSpPr>
          <p:cNvPr id="18" name="Text 13"/>
          <p:cNvSpPr/>
          <p:nvPr/>
        </p:nvSpPr>
        <p:spPr>
          <a:xfrm>
            <a:off x="8479536" y="26974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The only Tessera coverage (2024–25) does not match AlphaEarth’s 2017–22 — a confound to resolve.</a:t>
            </a:r>
            <a:endParaRPr lang="en-US" sz="1180" dirty="0"/>
          </a:p>
        </p:txBody>
      </p:sp>
      <p:sp>
        <p:nvSpPr>
          <p:cNvPr id="19" name="Shape 14"/>
          <p:cNvSpPr/>
          <p:nvPr/>
        </p:nvSpPr>
        <p:spPr>
          <a:xfrm>
            <a:off x="548640" y="3886200"/>
            <a:ext cx="3453384" cy="1737360"/>
          </a:xfrm>
          <a:prstGeom prst="roundRect">
            <a:avLst>
              <a:gd name="adj" fmla="val 6316"/>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20" name="Shape 15"/>
          <p:cNvSpPr/>
          <p:nvPr/>
        </p:nvSpPr>
        <p:spPr>
          <a:xfrm>
            <a:off x="786384" y="4123944"/>
            <a:ext cx="621792" cy="621792"/>
          </a:xfrm>
          <a:prstGeom prst="ellipse">
            <a:avLst/>
          </a:prstGeom>
          <a:solidFill>
            <a:srgbClr val="C77E33"/>
          </a:solidFill>
          <a:ln/>
        </p:spPr>
      </p:sp>
      <p:pic>
        <p:nvPicPr>
          <p:cNvPr id="21" name="Image 3" descr="preencoded.png">    </p:cNvPr>
          <p:cNvPicPr>
            <a:picLocks noChangeAspect="1"/>
          </p:cNvPicPr>
          <p:nvPr/>
        </p:nvPicPr>
        <p:blipFill>
          <a:blip r:embed="rId4"/>
          <a:stretch>
            <a:fillRect/>
          </a:stretch>
        </p:blipFill>
        <p:spPr>
          <a:xfrm>
            <a:off x="879653" y="4217213"/>
            <a:ext cx="435254" cy="435254"/>
          </a:xfrm>
          <a:prstGeom prst="rect">
            <a:avLst/>
          </a:prstGeom>
        </p:spPr>
      </p:pic>
      <p:sp>
        <p:nvSpPr>
          <p:cNvPr id="22" name="Text 16"/>
          <p:cNvSpPr/>
          <p:nvPr/>
        </p:nvSpPr>
        <p:spPr>
          <a:xfrm>
            <a:off x="1554480" y="41422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One metric family</a:t>
            </a:r>
            <a:endParaRPr lang="en-US" sz="1450" dirty="0"/>
          </a:p>
        </p:txBody>
      </p:sp>
      <p:sp>
        <p:nvSpPr>
          <p:cNvPr id="23" name="Text 17"/>
          <p:cNvSpPr/>
          <p:nvPr/>
        </p:nvSpPr>
        <p:spPr>
          <a:xfrm>
            <a:off x="841248" y="47548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Silhouette is a single intrinsic measure; k=6 is fixed, not optimised per arm.</a:t>
            </a:r>
            <a:endParaRPr lang="en-US" sz="1180" dirty="0"/>
          </a:p>
        </p:txBody>
      </p:sp>
      <p:sp>
        <p:nvSpPr>
          <p:cNvPr id="24" name="Shape 18"/>
          <p:cNvSpPr/>
          <p:nvPr/>
        </p:nvSpPr>
        <p:spPr>
          <a:xfrm>
            <a:off x="4367784" y="3886200"/>
            <a:ext cx="3453384" cy="1737360"/>
          </a:xfrm>
          <a:prstGeom prst="roundRect">
            <a:avLst>
              <a:gd name="adj" fmla="val 6316"/>
            </a:avLst>
          </a:prstGeom>
          <a:solidFill>
            <a:srgbClr val="EEF3E9"/>
          </a:solidFill>
          <a:ln/>
          <a:effectLst>
            <a:outerShdw sx="100000" sy="100000" kx="0" ky="0" algn="bl" rotWithShape="0" blurRad="101600" dist="38100" dir="5400000">
              <a:srgbClr val="9AA9A0">
                <a:alpha val="35000"/>
              </a:srgbClr>
            </a:outerShdw>
          </a:effectLst>
        </p:spPr>
      </p:sp>
      <p:sp>
        <p:nvSpPr>
          <p:cNvPr id="25" name="Shape 19"/>
          <p:cNvSpPr/>
          <p:nvPr/>
        </p:nvSpPr>
        <p:spPr>
          <a:xfrm>
            <a:off x="4605528" y="4123944"/>
            <a:ext cx="621792" cy="621792"/>
          </a:xfrm>
          <a:prstGeom prst="ellipse">
            <a:avLst/>
          </a:prstGeom>
          <a:solidFill>
            <a:srgbClr val="C77E33"/>
          </a:solidFill>
          <a:ln/>
        </p:spPr>
      </p:sp>
      <p:pic>
        <p:nvPicPr>
          <p:cNvPr id="26" name="Image 4" descr="preencoded.png">    </p:cNvPr>
          <p:cNvPicPr>
            <a:picLocks noChangeAspect="1"/>
          </p:cNvPicPr>
          <p:nvPr/>
        </p:nvPicPr>
        <p:blipFill>
          <a:blip r:embed="rId5"/>
          <a:stretch>
            <a:fillRect/>
          </a:stretch>
        </p:blipFill>
        <p:spPr>
          <a:xfrm>
            <a:off x="4698797" y="4217213"/>
            <a:ext cx="435254" cy="435254"/>
          </a:xfrm>
          <a:prstGeom prst="rect">
            <a:avLst/>
          </a:prstGeom>
        </p:spPr>
      </p:pic>
      <p:sp>
        <p:nvSpPr>
          <p:cNvPr id="27" name="Text 20"/>
          <p:cNvSpPr/>
          <p:nvPr/>
        </p:nvSpPr>
        <p:spPr>
          <a:xfrm>
            <a:off x="5373624" y="41422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Embedding opacity</a:t>
            </a:r>
            <a:endParaRPr lang="en-US" sz="1450" dirty="0"/>
          </a:p>
        </p:txBody>
      </p:sp>
      <p:sp>
        <p:nvSpPr>
          <p:cNvPr id="28" name="Text 21"/>
          <p:cNvSpPr/>
          <p:nvPr/>
        </p:nvSpPr>
        <p:spPr>
          <a:xfrm>
            <a:off x="4660392" y="47548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AlphaEarth’s gain in separability comes with abstract, not-yet-interpreted dimensions.</a:t>
            </a:r>
            <a:endParaRPr lang="en-US" sz="1180" dirty="0"/>
          </a:p>
        </p:txBody>
      </p:sp>
      <p:sp>
        <p:nvSpPr>
          <p:cNvPr id="29" name="Shape 22"/>
          <p:cNvSpPr/>
          <p:nvPr/>
        </p:nvSpPr>
        <p:spPr>
          <a:xfrm>
            <a:off x="8186928" y="3886200"/>
            <a:ext cx="3453384" cy="1737360"/>
          </a:xfrm>
          <a:prstGeom prst="roundRect">
            <a:avLst>
              <a:gd name="adj" fmla="val 6316"/>
            </a:avLst>
          </a:prstGeom>
          <a:solidFill>
            <a:srgbClr val="FFFFFF"/>
          </a:solidFill>
          <a:ln w="12700">
            <a:solidFill>
              <a:srgbClr val="D6E0CF"/>
            </a:solidFill>
            <a:prstDash val="solid"/>
          </a:ln>
          <a:effectLst>
            <a:outerShdw sx="100000" sy="100000" kx="0" ky="0" algn="bl" rotWithShape="0" blurRad="101600" dist="38100" dir="5400000">
              <a:srgbClr val="9AA9A0">
                <a:alpha val="35000"/>
              </a:srgbClr>
            </a:outerShdw>
          </a:effectLst>
        </p:spPr>
      </p:sp>
      <p:sp>
        <p:nvSpPr>
          <p:cNvPr id="30" name="Shape 23"/>
          <p:cNvSpPr/>
          <p:nvPr/>
        </p:nvSpPr>
        <p:spPr>
          <a:xfrm>
            <a:off x="8424672" y="4123944"/>
            <a:ext cx="621792" cy="621792"/>
          </a:xfrm>
          <a:prstGeom prst="ellipse">
            <a:avLst/>
          </a:prstGeom>
          <a:solidFill>
            <a:srgbClr val="C77E33"/>
          </a:solidFill>
          <a:ln/>
        </p:spPr>
      </p:sp>
      <p:pic>
        <p:nvPicPr>
          <p:cNvPr id="31" name="Image 5" descr="preencoded.png">    </p:cNvPr>
          <p:cNvPicPr>
            <a:picLocks noChangeAspect="1"/>
          </p:cNvPicPr>
          <p:nvPr/>
        </p:nvPicPr>
        <p:blipFill>
          <a:blip r:embed="rId6"/>
          <a:stretch>
            <a:fillRect/>
          </a:stretch>
        </p:blipFill>
        <p:spPr>
          <a:xfrm>
            <a:off x="8517941" y="4217213"/>
            <a:ext cx="435254" cy="435254"/>
          </a:xfrm>
          <a:prstGeom prst="rect">
            <a:avLst/>
          </a:prstGeom>
        </p:spPr>
      </p:pic>
      <p:sp>
        <p:nvSpPr>
          <p:cNvPr id="32" name="Text 24"/>
          <p:cNvSpPr/>
          <p:nvPr/>
        </p:nvSpPr>
        <p:spPr>
          <a:xfrm>
            <a:off x="9192768" y="4142232"/>
            <a:ext cx="2264664" cy="548640"/>
          </a:xfrm>
          <a:prstGeom prst="rect">
            <a:avLst/>
          </a:prstGeom>
          <a:noFill/>
          <a:ln/>
        </p:spPr>
        <p:txBody>
          <a:bodyPr wrap="square" rtlCol="0" anchor="ctr"/>
          <a:lstStyle/>
          <a:p>
            <a:pPr indent="0" marL="0">
              <a:buNone/>
            </a:pPr>
            <a:r>
              <a:rPr lang="en-US" sz="1450" b="1" dirty="0">
                <a:solidFill>
                  <a:srgbClr val="1A2620"/>
                </a:solidFill>
                <a:latin typeface="Cambria" pitchFamily="34" charset="0"/>
                <a:ea typeface="Cambria" pitchFamily="34" charset="-122"/>
                <a:cs typeface="Cambria" pitchFamily="34" charset="-120"/>
              </a:rPr>
              <a:t>Agreement ≠ truth</a:t>
            </a:r>
            <a:endParaRPr lang="en-US" sz="1450" dirty="0"/>
          </a:p>
        </p:txBody>
      </p:sp>
      <p:sp>
        <p:nvSpPr>
          <p:cNvPr id="33" name="Text 25"/>
          <p:cNvSpPr/>
          <p:nvPr/>
        </p:nvSpPr>
        <p:spPr>
          <a:xfrm>
            <a:off x="8479536" y="4754880"/>
            <a:ext cx="2904744" cy="777240"/>
          </a:xfrm>
          <a:prstGeom prst="rect">
            <a:avLst/>
          </a:prstGeom>
          <a:noFill/>
          <a:ln/>
        </p:spPr>
        <p:txBody>
          <a:bodyPr wrap="square" rtlCol="0" anchor="ctr"/>
          <a:lstStyle/>
          <a:p>
            <a:pPr indent="0" marL="0">
              <a:lnSpc>
                <a:spcPct val="106000"/>
              </a:lnSpc>
              <a:buNone/>
            </a:pPr>
            <a:r>
              <a:rPr lang="en-US" sz="1180" dirty="0">
                <a:solidFill>
                  <a:srgbClr val="3E4B44"/>
                </a:solidFill>
                <a:latin typeface="Calibri" pitchFamily="34" charset="0"/>
                <a:ea typeface="Calibri" pitchFamily="34" charset="-122"/>
                <a:cs typeface="Calibri" pitchFamily="34" charset="-120"/>
              </a:rPr>
              <a:t>Low ARI tells us the arms differ, not which (if either) is ecologically better.</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algn="l" indent="0" marL="0">
              <a:buNone/>
            </a:pPr>
            <a:r>
              <a:rPr lang="en-US" sz="1250" b="1" spc="300" kern="0" dirty="0">
                <a:solidFill>
                  <a:srgbClr val="2C5F2D"/>
                </a:solidFill>
                <a:latin typeface="Calibri" pitchFamily="34" charset="0"/>
                <a:ea typeface="Calibri" pitchFamily="34" charset="-122"/>
                <a:cs typeface="Calibri" pitchFamily="34" charset="-120"/>
              </a:rPr>
              <a:t>CONCLUSIONS</a:t>
            </a:r>
            <a:endParaRPr lang="en-US" sz="1250" dirty="0"/>
          </a:p>
        </p:txBody>
      </p:sp>
      <p:sp>
        <p:nvSpPr>
          <p:cNvPr id="3" name="Text 1"/>
          <p:cNvSpPr/>
          <p:nvPr/>
        </p:nvSpPr>
        <p:spPr>
          <a:xfrm>
            <a:off x="548640" y="749808"/>
            <a:ext cx="11091672" cy="822960"/>
          </a:xfrm>
          <a:prstGeom prst="rect">
            <a:avLst/>
          </a:prstGeom>
          <a:noFill/>
          <a:ln/>
        </p:spPr>
        <p:txBody>
          <a:bodyPr wrap="square" rtlCol="0" anchor="ctr"/>
          <a:lstStyle/>
          <a:p>
            <a:pPr algn="l" indent="0" marL="0">
              <a:buNone/>
            </a:pPr>
            <a:r>
              <a:rPr lang="en-US" sz="3200" b="1" dirty="0">
                <a:solidFill>
                  <a:srgbClr val="1A2620"/>
                </a:solidFill>
                <a:latin typeface="Cambria" pitchFamily="34" charset="0"/>
                <a:ea typeface="Cambria" pitchFamily="34" charset="-122"/>
                <a:cs typeface="Cambria" pitchFamily="34" charset="-120"/>
              </a:rPr>
              <a:t>What we can say</a:t>
            </a:r>
            <a:endParaRPr lang="en-US" sz="3200" dirty="0"/>
          </a:p>
        </p:txBody>
      </p:sp>
      <p:sp>
        <p:nvSpPr>
          <p:cNvPr id="4" name="Shape 2"/>
          <p:cNvSpPr/>
          <p:nvPr/>
        </p:nvSpPr>
        <p:spPr>
          <a:xfrm>
            <a:off x="548640" y="1828800"/>
            <a:ext cx="11091672" cy="1325880"/>
          </a:xfrm>
          <a:prstGeom prst="roundRect">
            <a:avLst>
              <a:gd name="adj" fmla="val 8276"/>
            </a:avLst>
          </a:prstGeom>
          <a:solidFill>
            <a:srgbClr val="EEF3E9"/>
          </a:solidFill>
          <a:ln/>
          <a:effectLst>
            <a:outerShdw sx="100000" sy="100000" kx="0" ky="0" algn="bl" rotWithShape="0" blurRad="101600" dist="38100" dir="5400000">
              <a:srgbClr val="9AA9A0">
                <a:alpha val="35000"/>
              </a:srgbClr>
            </a:outerShdw>
          </a:effectLst>
        </p:spPr>
      </p:sp>
      <p:sp>
        <p:nvSpPr>
          <p:cNvPr id="5" name="Shape 3"/>
          <p:cNvSpPr/>
          <p:nvPr/>
        </p:nvSpPr>
        <p:spPr>
          <a:xfrm>
            <a:off x="868680" y="2080260"/>
            <a:ext cx="822960" cy="822960"/>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992124" y="2203704"/>
            <a:ext cx="576072" cy="576072"/>
          </a:xfrm>
          <a:prstGeom prst="rect">
            <a:avLst/>
          </a:prstGeom>
        </p:spPr>
      </p:pic>
      <p:sp>
        <p:nvSpPr>
          <p:cNvPr id="7" name="Text 4"/>
          <p:cNvSpPr/>
          <p:nvPr/>
        </p:nvSpPr>
        <p:spPr>
          <a:xfrm>
            <a:off x="1965960" y="1993392"/>
            <a:ext cx="9354312" cy="36576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1.  </a:t>
            </a:r>
            <a:pPr indent="0" marL="0">
              <a:buNone/>
            </a:pPr>
            <a:r>
              <a:rPr lang="en-US" sz="1700" b="1" dirty="0">
                <a:solidFill>
                  <a:srgbClr val="1A2620"/>
                </a:solidFill>
                <a:latin typeface="Cambria" pitchFamily="34" charset="0"/>
                <a:ea typeface="Cambria" pitchFamily="34" charset="-122"/>
                <a:cs typeface="Cambria" pitchFamily="34" charset="-120"/>
              </a:rPr>
              <a:t>A working, reproducible pipeline</a:t>
            </a:r>
            <a:endParaRPr lang="en-US" sz="1700" dirty="0"/>
          </a:p>
        </p:txBody>
      </p:sp>
      <p:sp>
        <p:nvSpPr>
          <p:cNvPr id="8" name="Text 5"/>
          <p:cNvSpPr/>
          <p:nvPr/>
        </p:nvSpPr>
        <p:spPr>
          <a:xfrm>
            <a:off x="1965960" y="2359152"/>
            <a:ext cx="9354312" cy="73152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FMU delineates forest stands from a multi-sensor time series, fully unsupervised, config-driven and cached in Earth Engine — baseline and embedding arms both run end-to-end to HTML reports.</a:t>
            </a:r>
            <a:endParaRPr lang="en-US" sz="1300" dirty="0"/>
          </a:p>
        </p:txBody>
      </p:sp>
      <p:sp>
        <p:nvSpPr>
          <p:cNvPr id="9" name="Shape 6"/>
          <p:cNvSpPr/>
          <p:nvPr/>
        </p:nvSpPr>
        <p:spPr>
          <a:xfrm>
            <a:off x="548640" y="3337560"/>
            <a:ext cx="11091672" cy="1325880"/>
          </a:xfrm>
          <a:prstGeom prst="roundRect">
            <a:avLst>
              <a:gd name="adj" fmla="val 8276"/>
            </a:avLst>
          </a:prstGeom>
          <a:solidFill>
            <a:srgbClr val="F7EEE1"/>
          </a:solidFill>
          <a:ln/>
          <a:effectLst>
            <a:outerShdw sx="100000" sy="100000" kx="0" ky="0" algn="bl" rotWithShape="0" blurRad="101600" dist="38100" dir="5400000">
              <a:srgbClr val="9AA9A0">
                <a:alpha val="35000"/>
              </a:srgbClr>
            </a:outerShdw>
          </a:effectLst>
        </p:spPr>
      </p:sp>
      <p:sp>
        <p:nvSpPr>
          <p:cNvPr id="10" name="Shape 7"/>
          <p:cNvSpPr/>
          <p:nvPr/>
        </p:nvSpPr>
        <p:spPr>
          <a:xfrm>
            <a:off x="868680" y="3589020"/>
            <a:ext cx="822960" cy="822960"/>
          </a:xfrm>
          <a:prstGeom prst="ellipse">
            <a:avLst/>
          </a:prstGeom>
          <a:solidFill>
            <a:srgbClr val="A9631F"/>
          </a:solidFill>
          <a:ln/>
        </p:spPr>
      </p:sp>
      <p:pic>
        <p:nvPicPr>
          <p:cNvPr id="11" name="Image 1" descr="preencoded.png">    </p:cNvPr>
          <p:cNvPicPr>
            <a:picLocks noChangeAspect="1"/>
          </p:cNvPicPr>
          <p:nvPr/>
        </p:nvPicPr>
        <p:blipFill>
          <a:blip r:embed="rId2"/>
          <a:stretch>
            <a:fillRect/>
          </a:stretch>
        </p:blipFill>
        <p:spPr>
          <a:xfrm>
            <a:off x="992124" y="3712464"/>
            <a:ext cx="576072" cy="576072"/>
          </a:xfrm>
          <a:prstGeom prst="rect">
            <a:avLst/>
          </a:prstGeom>
        </p:spPr>
      </p:pic>
      <p:sp>
        <p:nvSpPr>
          <p:cNvPr id="12" name="Text 8"/>
          <p:cNvSpPr/>
          <p:nvPr/>
        </p:nvSpPr>
        <p:spPr>
          <a:xfrm>
            <a:off x="1965960" y="3502152"/>
            <a:ext cx="9354312" cy="365760"/>
          </a:xfrm>
          <a:prstGeom prst="rect">
            <a:avLst/>
          </a:prstGeom>
          <a:noFill/>
          <a:ln/>
        </p:spPr>
        <p:txBody>
          <a:bodyPr wrap="square" rtlCol="0" anchor="ctr"/>
          <a:lstStyle/>
          <a:p>
            <a:pPr indent="0" marL="0">
              <a:buNone/>
            </a:pPr>
            <a:r>
              <a:rPr lang="en-US" sz="1700" b="1" dirty="0">
                <a:solidFill>
                  <a:srgbClr val="A9631F"/>
                </a:solidFill>
                <a:latin typeface="Cambria" pitchFamily="34" charset="0"/>
                <a:ea typeface="Cambria" pitchFamily="34" charset="-122"/>
                <a:cs typeface="Cambria" pitchFamily="34" charset="-120"/>
              </a:rPr>
              <a:t>2.  </a:t>
            </a:r>
            <a:pPr indent="0" marL="0">
              <a:buNone/>
            </a:pPr>
            <a:r>
              <a:rPr lang="en-US" sz="1700" b="1" dirty="0">
                <a:solidFill>
                  <a:srgbClr val="1A2620"/>
                </a:solidFill>
                <a:latin typeface="Cambria" pitchFamily="34" charset="0"/>
                <a:ea typeface="Cambria" pitchFamily="34" charset="-122"/>
                <a:cs typeface="Cambria" pitchFamily="34" charset="-120"/>
              </a:rPr>
              <a:t>The learned embedding separates better</a:t>
            </a:r>
            <a:endParaRPr lang="en-US" sz="1700" dirty="0"/>
          </a:p>
        </p:txBody>
      </p:sp>
      <p:sp>
        <p:nvSpPr>
          <p:cNvPr id="13" name="Text 9"/>
          <p:cNvSpPr/>
          <p:nvPr/>
        </p:nvSpPr>
        <p:spPr>
          <a:xfrm>
            <a:off x="1965960" y="3867912"/>
            <a:ext cx="9354312" cy="73152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With everything downstream held fixed, AlphaEarth lifts intrinsic silhouette from −0.007 to +0.113 and yields more coherent stands — but agrees with the baseline only ~41% (ARI 0.17), so it delineates differently and trades away interpretability.</a:t>
            </a:r>
            <a:endParaRPr lang="en-US" sz="1300" dirty="0"/>
          </a:p>
        </p:txBody>
      </p:sp>
      <p:sp>
        <p:nvSpPr>
          <p:cNvPr id="14" name="Shape 10"/>
          <p:cNvSpPr/>
          <p:nvPr/>
        </p:nvSpPr>
        <p:spPr>
          <a:xfrm>
            <a:off x="548640" y="4846320"/>
            <a:ext cx="11091672" cy="1325880"/>
          </a:xfrm>
          <a:prstGeom prst="roundRect">
            <a:avLst>
              <a:gd name="adj" fmla="val 8276"/>
            </a:avLst>
          </a:prstGeom>
          <a:solidFill>
            <a:srgbClr val="EEF3E9"/>
          </a:solidFill>
          <a:ln/>
          <a:effectLst>
            <a:outerShdw sx="100000" sy="100000" kx="0" ky="0" algn="bl" rotWithShape="0" blurRad="101600" dist="38100" dir="5400000">
              <a:srgbClr val="9AA9A0">
                <a:alpha val="35000"/>
              </a:srgbClr>
            </a:outerShdw>
          </a:effectLst>
        </p:spPr>
      </p:sp>
      <p:sp>
        <p:nvSpPr>
          <p:cNvPr id="15" name="Shape 11"/>
          <p:cNvSpPr/>
          <p:nvPr/>
        </p:nvSpPr>
        <p:spPr>
          <a:xfrm>
            <a:off x="868680" y="5097780"/>
            <a:ext cx="822960" cy="822960"/>
          </a:xfrm>
          <a:prstGeom prst="ellipse">
            <a:avLst/>
          </a:prstGeom>
          <a:solidFill>
            <a:srgbClr val="2C5F2D"/>
          </a:solidFill>
          <a:ln/>
        </p:spPr>
      </p:sp>
      <p:pic>
        <p:nvPicPr>
          <p:cNvPr id="16" name="Image 2" descr="preencoded.png">    </p:cNvPr>
          <p:cNvPicPr>
            <a:picLocks noChangeAspect="1"/>
          </p:cNvPicPr>
          <p:nvPr/>
        </p:nvPicPr>
        <p:blipFill>
          <a:blip r:embed="rId3"/>
          <a:stretch>
            <a:fillRect/>
          </a:stretch>
        </p:blipFill>
        <p:spPr>
          <a:xfrm>
            <a:off x="992124" y="5221224"/>
            <a:ext cx="576072" cy="576072"/>
          </a:xfrm>
          <a:prstGeom prst="rect">
            <a:avLst/>
          </a:prstGeom>
        </p:spPr>
      </p:pic>
      <p:sp>
        <p:nvSpPr>
          <p:cNvPr id="17" name="Text 12"/>
          <p:cNvSpPr/>
          <p:nvPr/>
        </p:nvSpPr>
        <p:spPr>
          <a:xfrm>
            <a:off x="1965960" y="5010912"/>
            <a:ext cx="9354312" cy="36576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3.  </a:t>
            </a:r>
            <a:pPr indent="0" marL="0">
              <a:buNone/>
            </a:pPr>
            <a:r>
              <a:rPr lang="en-US" sz="1700" b="1" dirty="0">
                <a:solidFill>
                  <a:srgbClr val="1A2620"/>
                </a:solidFill>
                <a:latin typeface="Cambria" pitchFamily="34" charset="0"/>
                <a:ea typeface="Cambria" pitchFamily="34" charset="-122"/>
                <a:cs typeface="Cambria" pitchFamily="34" charset="-120"/>
              </a:rPr>
              <a:t>A methods comparison under label scarcity</a:t>
            </a:r>
            <a:endParaRPr lang="en-US" sz="1700" dirty="0"/>
          </a:p>
        </p:txBody>
      </p:sp>
      <p:sp>
        <p:nvSpPr>
          <p:cNvPr id="18" name="Text 13"/>
          <p:cNvSpPr/>
          <p:nvPr/>
        </p:nvSpPr>
        <p:spPr>
          <a:xfrm>
            <a:off x="1965960" y="5376672"/>
            <a:ext cx="9354312" cy="731520"/>
          </a:xfrm>
          <a:prstGeom prst="rect">
            <a:avLst/>
          </a:prstGeom>
          <a:noFill/>
          <a:ln/>
        </p:spPr>
        <p:txBody>
          <a:bodyPr wrap="square" rtlCol="0" anchor="ctr"/>
          <a:lstStyle/>
          <a:p>
            <a:pPr indent="0" marL="0">
              <a:lnSpc>
                <a:spcPct val="108000"/>
              </a:lnSpc>
              <a:buNone/>
            </a:pPr>
            <a:r>
              <a:rPr lang="en-US" sz="1300" dirty="0">
                <a:solidFill>
                  <a:srgbClr val="3E4B44"/>
                </a:solidFill>
                <a:latin typeface="Calibri" pitchFamily="34" charset="0"/>
                <a:ea typeface="Calibri" pitchFamily="34" charset="-122"/>
                <a:cs typeface="Calibri" pitchFamily="34" charset="-120"/>
              </a:rPr>
              <a:t>The contribution is a controlled representation comparison plus a per-stand consensus/confidence layer — honest about the absence of ground truth, not a claim that either map is “correct.”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6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9144000" y="3108960"/>
            <a:ext cx="3291840" cy="3291840"/>
          </a:xfrm>
          <a:prstGeom prst="rect">
            <a:avLst/>
          </a:prstGeom>
        </p:spPr>
      </p:pic>
      <p:sp>
        <p:nvSpPr>
          <p:cNvPr id="3" name="Text 0"/>
          <p:cNvSpPr/>
          <p:nvPr/>
        </p:nvSpPr>
        <p:spPr>
          <a:xfrm>
            <a:off x="548640" y="548640"/>
            <a:ext cx="5486400" cy="320040"/>
          </a:xfrm>
          <a:prstGeom prst="rect">
            <a:avLst/>
          </a:prstGeom>
          <a:noFill/>
          <a:ln/>
        </p:spPr>
        <p:txBody>
          <a:bodyPr wrap="square" rtlCol="0" anchor="ctr"/>
          <a:lstStyle/>
          <a:p>
            <a:pPr indent="0" marL="0">
              <a:buNone/>
            </a:pPr>
            <a:r>
              <a:rPr lang="en-US" sz="1250" b="1" spc="300" kern="0" dirty="0">
                <a:solidFill>
                  <a:srgbClr val="C77E33"/>
                </a:solidFill>
                <a:latin typeface="Calibri" pitchFamily="34" charset="0"/>
                <a:ea typeface="Calibri" pitchFamily="34" charset="-122"/>
                <a:cs typeface="Calibri" pitchFamily="34" charset="-120"/>
              </a:rPr>
              <a:t>NEXT</a:t>
            </a:r>
            <a:endParaRPr lang="en-US" sz="1250" dirty="0"/>
          </a:p>
        </p:txBody>
      </p:sp>
      <p:sp>
        <p:nvSpPr>
          <p:cNvPr id="4" name="Text 1"/>
          <p:cNvSpPr/>
          <p:nvPr/>
        </p:nvSpPr>
        <p:spPr>
          <a:xfrm>
            <a:off x="548640" y="896112"/>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this goes next</a:t>
            </a:r>
            <a:endParaRPr lang="en-US" sz="3000" dirty="0"/>
          </a:p>
        </p:txBody>
      </p:sp>
      <p:sp>
        <p:nvSpPr>
          <p:cNvPr id="5" name="Shape 2"/>
          <p:cNvSpPr/>
          <p:nvPr/>
        </p:nvSpPr>
        <p:spPr>
          <a:xfrm>
            <a:off x="548640" y="1901952"/>
            <a:ext cx="8138160" cy="804672"/>
          </a:xfrm>
          <a:prstGeom prst="roundRect">
            <a:avLst>
              <a:gd name="adj" fmla="val 11364"/>
            </a:avLst>
          </a:prstGeom>
          <a:solidFill>
            <a:srgbClr val="20492F"/>
          </a:solidFill>
          <a:ln/>
        </p:spPr>
      </p:sp>
      <p:sp>
        <p:nvSpPr>
          <p:cNvPr id="6" name="Shape 3"/>
          <p:cNvSpPr/>
          <p:nvPr/>
        </p:nvSpPr>
        <p:spPr>
          <a:xfrm>
            <a:off x="813816" y="2020824"/>
            <a:ext cx="566928" cy="566928"/>
          </a:xfrm>
          <a:prstGeom prst="ellipse">
            <a:avLst/>
          </a:prstGeom>
          <a:solidFill>
            <a:srgbClr val="C77E33"/>
          </a:solidFill>
          <a:ln/>
        </p:spPr>
      </p:sp>
      <p:pic>
        <p:nvPicPr>
          <p:cNvPr id="7" name="Image 1" descr="preencoded.png">    </p:cNvPr>
          <p:cNvPicPr>
            <a:picLocks noChangeAspect="1"/>
          </p:cNvPicPr>
          <p:nvPr/>
        </p:nvPicPr>
        <p:blipFill>
          <a:blip r:embed="rId2"/>
          <a:stretch>
            <a:fillRect/>
          </a:stretch>
        </p:blipFill>
        <p:spPr>
          <a:xfrm>
            <a:off x="898855" y="2105863"/>
            <a:ext cx="396850" cy="396850"/>
          </a:xfrm>
          <a:prstGeom prst="rect">
            <a:avLst/>
          </a:prstGeom>
        </p:spPr>
      </p:pic>
      <p:sp>
        <p:nvSpPr>
          <p:cNvPr id="8" name="Text 4"/>
          <p:cNvSpPr/>
          <p:nvPr/>
        </p:nvSpPr>
        <p:spPr>
          <a:xfrm>
            <a:off x="1600200" y="1901952"/>
            <a:ext cx="6949440" cy="804672"/>
          </a:xfrm>
          <a:prstGeom prst="rect">
            <a:avLst/>
          </a:prstGeom>
          <a:noFill/>
          <a:ln/>
        </p:spPr>
        <p:txBody>
          <a:bodyPr wrap="square" rtlCol="0" anchor="ctr"/>
          <a:lstStyle/>
          <a:p>
            <a:pPr indent="0" marL="0">
              <a:lnSpc>
                <a:spcPct val="103000"/>
              </a:lnSpc>
              <a:buNone/>
            </a:pPr>
            <a:r>
              <a:rPr lang="en-US" sz="1300" b="1" dirty="0">
                <a:solidFill>
                  <a:srgbClr val="FFFFFF"/>
                </a:solidFill>
                <a:latin typeface="Calibri" pitchFamily="34" charset="0"/>
                <a:ea typeface="Calibri" pitchFamily="34" charset="-122"/>
                <a:cs typeface="Calibri" pitchFamily="34" charset="-120"/>
              </a:rPr>
              <a:t>Finish the Tessera arm — </a:t>
            </a:r>
            <a:pPr indent="0" marL="0">
              <a:lnSpc>
                <a:spcPct val="103000"/>
              </a:lnSpc>
              <a:buNone/>
            </a:pPr>
            <a:r>
              <a:rPr lang="en-US" sz="1300" dirty="0">
                <a:solidFill>
                  <a:srgbClr val="C9DCC2"/>
                </a:solidFill>
                <a:latin typeface="Calibri" pitchFamily="34" charset="0"/>
                <a:ea typeface="Calibri" pitchFamily="34" charset="-122"/>
                <a:cs typeface="Calibri" pitchFamily="34" charset="-120"/>
              </a:rPr>
              <a:t>fix geotessera ingestion; run 2024–25 with a stated window caveat → the full three-way comparison.</a:t>
            </a:r>
            <a:endParaRPr lang="en-US" sz="1300" dirty="0"/>
          </a:p>
        </p:txBody>
      </p:sp>
      <p:sp>
        <p:nvSpPr>
          <p:cNvPr id="9" name="Shape 5"/>
          <p:cNvSpPr/>
          <p:nvPr/>
        </p:nvSpPr>
        <p:spPr>
          <a:xfrm>
            <a:off x="548640" y="2825496"/>
            <a:ext cx="8138160" cy="804672"/>
          </a:xfrm>
          <a:prstGeom prst="roundRect">
            <a:avLst>
              <a:gd name="adj" fmla="val 11364"/>
            </a:avLst>
          </a:prstGeom>
          <a:solidFill>
            <a:srgbClr val="20492F"/>
          </a:solidFill>
          <a:ln/>
        </p:spPr>
      </p:sp>
      <p:sp>
        <p:nvSpPr>
          <p:cNvPr id="10" name="Shape 6"/>
          <p:cNvSpPr/>
          <p:nvPr/>
        </p:nvSpPr>
        <p:spPr>
          <a:xfrm>
            <a:off x="813816" y="2944368"/>
            <a:ext cx="566928" cy="566928"/>
          </a:xfrm>
          <a:prstGeom prst="ellipse">
            <a:avLst/>
          </a:prstGeom>
          <a:solidFill>
            <a:srgbClr val="C77E33"/>
          </a:solidFill>
          <a:ln/>
        </p:spPr>
      </p:sp>
      <p:pic>
        <p:nvPicPr>
          <p:cNvPr id="11" name="Image 2" descr="preencoded.png">    </p:cNvPr>
          <p:cNvPicPr>
            <a:picLocks noChangeAspect="1"/>
          </p:cNvPicPr>
          <p:nvPr/>
        </p:nvPicPr>
        <p:blipFill>
          <a:blip r:embed="rId3"/>
          <a:stretch>
            <a:fillRect/>
          </a:stretch>
        </p:blipFill>
        <p:spPr>
          <a:xfrm>
            <a:off x="898855" y="3029407"/>
            <a:ext cx="396850" cy="396850"/>
          </a:xfrm>
          <a:prstGeom prst="rect">
            <a:avLst/>
          </a:prstGeom>
        </p:spPr>
      </p:pic>
      <p:sp>
        <p:nvSpPr>
          <p:cNvPr id="12" name="Text 7"/>
          <p:cNvSpPr/>
          <p:nvPr/>
        </p:nvSpPr>
        <p:spPr>
          <a:xfrm>
            <a:off x="1600200" y="2825496"/>
            <a:ext cx="6949440" cy="804672"/>
          </a:xfrm>
          <a:prstGeom prst="rect">
            <a:avLst/>
          </a:prstGeom>
          <a:noFill/>
          <a:ln/>
        </p:spPr>
        <p:txBody>
          <a:bodyPr wrap="square" rtlCol="0" anchor="ctr"/>
          <a:lstStyle/>
          <a:p>
            <a:pPr indent="0" marL="0">
              <a:lnSpc>
                <a:spcPct val="103000"/>
              </a:lnSpc>
              <a:buNone/>
            </a:pPr>
            <a:r>
              <a:rPr lang="en-US" sz="1300" b="1" dirty="0">
                <a:solidFill>
                  <a:srgbClr val="FFFFFF"/>
                </a:solidFill>
                <a:latin typeface="Calibri" pitchFamily="34" charset="0"/>
                <a:ea typeface="Calibri" pitchFamily="34" charset="-122"/>
                <a:cs typeface="Calibri" pitchFamily="34" charset="-120"/>
              </a:rPr>
              <a:t>Multiple sites — </a:t>
            </a:r>
            <a:pPr indent="0" marL="0">
              <a:lnSpc>
                <a:spcPct val="103000"/>
              </a:lnSpc>
              <a:buNone/>
            </a:pPr>
            <a:r>
              <a:rPr lang="en-US" sz="1300" dirty="0">
                <a:solidFill>
                  <a:srgbClr val="C9DCC2"/>
                </a:solidFill>
                <a:latin typeface="Calibri" pitchFamily="34" charset="0"/>
                <a:ea typeface="Calibri" pitchFamily="34" charset="-122"/>
                <a:cs typeface="Calibri" pitchFamily="34" charset="-120"/>
              </a:rPr>
              <a:t>repeat across varied forests to test whether the separability gain generalises.</a:t>
            </a:r>
            <a:endParaRPr lang="en-US" sz="1300" dirty="0"/>
          </a:p>
        </p:txBody>
      </p:sp>
      <p:sp>
        <p:nvSpPr>
          <p:cNvPr id="13" name="Shape 8"/>
          <p:cNvSpPr/>
          <p:nvPr/>
        </p:nvSpPr>
        <p:spPr>
          <a:xfrm>
            <a:off x="548640" y="3749040"/>
            <a:ext cx="8138160" cy="804672"/>
          </a:xfrm>
          <a:prstGeom prst="roundRect">
            <a:avLst>
              <a:gd name="adj" fmla="val 11364"/>
            </a:avLst>
          </a:prstGeom>
          <a:solidFill>
            <a:srgbClr val="20492F"/>
          </a:solidFill>
          <a:ln/>
        </p:spPr>
      </p:sp>
      <p:sp>
        <p:nvSpPr>
          <p:cNvPr id="14" name="Shape 9"/>
          <p:cNvSpPr/>
          <p:nvPr/>
        </p:nvSpPr>
        <p:spPr>
          <a:xfrm>
            <a:off x="813816" y="3867912"/>
            <a:ext cx="566928" cy="566928"/>
          </a:xfrm>
          <a:prstGeom prst="ellipse">
            <a:avLst/>
          </a:prstGeom>
          <a:solidFill>
            <a:srgbClr val="C77E33"/>
          </a:solidFill>
          <a:ln/>
        </p:spPr>
      </p:sp>
      <p:pic>
        <p:nvPicPr>
          <p:cNvPr id="15" name="Image 3" descr="preencoded.png">    </p:cNvPr>
          <p:cNvPicPr>
            <a:picLocks noChangeAspect="1"/>
          </p:cNvPicPr>
          <p:nvPr/>
        </p:nvPicPr>
        <p:blipFill>
          <a:blip r:embed="rId4"/>
          <a:stretch>
            <a:fillRect/>
          </a:stretch>
        </p:blipFill>
        <p:spPr>
          <a:xfrm>
            <a:off x="898855" y="3952951"/>
            <a:ext cx="396850" cy="396850"/>
          </a:xfrm>
          <a:prstGeom prst="rect">
            <a:avLst/>
          </a:prstGeom>
        </p:spPr>
      </p:pic>
      <p:sp>
        <p:nvSpPr>
          <p:cNvPr id="16" name="Text 10"/>
          <p:cNvSpPr/>
          <p:nvPr/>
        </p:nvSpPr>
        <p:spPr>
          <a:xfrm>
            <a:off x="1600200" y="3749040"/>
            <a:ext cx="6949440" cy="804672"/>
          </a:xfrm>
          <a:prstGeom prst="rect">
            <a:avLst/>
          </a:prstGeom>
          <a:noFill/>
          <a:ln/>
        </p:spPr>
        <p:txBody>
          <a:bodyPr wrap="square" rtlCol="0" anchor="ctr"/>
          <a:lstStyle/>
          <a:p>
            <a:pPr indent="0" marL="0">
              <a:lnSpc>
                <a:spcPct val="103000"/>
              </a:lnSpc>
              <a:buNone/>
            </a:pPr>
            <a:r>
              <a:rPr lang="en-US" sz="1300" b="1" dirty="0">
                <a:solidFill>
                  <a:srgbClr val="FFFFFF"/>
                </a:solidFill>
                <a:latin typeface="Calibri" pitchFamily="34" charset="0"/>
                <a:ea typeface="Calibri" pitchFamily="34" charset="-122"/>
                <a:cs typeface="Calibri" pitchFamily="34" charset="-120"/>
              </a:rPr>
              <a:t>Seek any reference — </a:t>
            </a:r>
            <a:pPr indent="0" marL="0">
              <a:lnSpc>
                <a:spcPct val="103000"/>
              </a:lnSpc>
              <a:buNone/>
            </a:pPr>
            <a:r>
              <a:rPr lang="en-US" sz="1300" dirty="0">
                <a:solidFill>
                  <a:srgbClr val="C9DCC2"/>
                </a:solidFill>
                <a:latin typeface="Calibri" pitchFamily="34" charset="0"/>
                <a:ea typeface="Calibri" pitchFamily="34" charset="-122"/>
                <a:cs typeface="Calibri" pitchFamily="34" charset="-120"/>
              </a:rPr>
              <a:t>even partial field or expert labels would unlock a first external-validity check.</a:t>
            </a:r>
            <a:endParaRPr lang="en-US" sz="1300" dirty="0"/>
          </a:p>
        </p:txBody>
      </p:sp>
      <p:sp>
        <p:nvSpPr>
          <p:cNvPr id="17" name="Shape 11"/>
          <p:cNvSpPr/>
          <p:nvPr/>
        </p:nvSpPr>
        <p:spPr>
          <a:xfrm>
            <a:off x="548640" y="4672584"/>
            <a:ext cx="8138160" cy="804672"/>
          </a:xfrm>
          <a:prstGeom prst="roundRect">
            <a:avLst>
              <a:gd name="adj" fmla="val 11364"/>
            </a:avLst>
          </a:prstGeom>
          <a:solidFill>
            <a:srgbClr val="20492F"/>
          </a:solidFill>
          <a:ln/>
        </p:spPr>
      </p:sp>
      <p:sp>
        <p:nvSpPr>
          <p:cNvPr id="18" name="Shape 12"/>
          <p:cNvSpPr/>
          <p:nvPr/>
        </p:nvSpPr>
        <p:spPr>
          <a:xfrm>
            <a:off x="813816" y="4791456"/>
            <a:ext cx="566928" cy="566928"/>
          </a:xfrm>
          <a:prstGeom prst="ellipse">
            <a:avLst/>
          </a:prstGeom>
          <a:solidFill>
            <a:srgbClr val="C77E33"/>
          </a:solidFill>
          <a:ln/>
        </p:spPr>
      </p:sp>
      <p:pic>
        <p:nvPicPr>
          <p:cNvPr id="19" name="Image 4" descr="preencoded.png">    </p:cNvPr>
          <p:cNvPicPr>
            <a:picLocks noChangeAspect="1"/>
          </p:cNvPicPr>
          <p:nvPr/>
        </p:nvPicPr>
        <p:blipFill>
          <a:blip r:embed="rId5"/>
          <a:stretch>
            <a:fillRect/>
          </a:stretch>
        </p:blipFill>
        <p:spPr>
          <a:xfrm>
            <a:off x="898855" y="4876495"/>
            <a:ext cx="396850" cy="396850"/>
          </a:xfrm>
          <a:prstGeom prst="rect">
            <a:avLst/>
          </a:prstGeom>
        </p:spPr>
      </p:pic>
      <p:sp>
        <p:nvSpPr>
          <p:cNvPr id="20" name="Text 13"/>
          <p:cNvSpPr/>
          <p:nvPr/>
        </p:nvSpPr>
        <p:spPr>
          <a:xfrm>
            <a:off x="1600200" y="4672584"/>
            <a:ext cx="6949440" cy="804672"/>
          </a:xfrm>
          <a:prstGeom prst="rect">
            <a:avLst/>
          </a:prstGeom>
          <a:noFill/>
          <a:ln/>
        </p:spPr>
        <p:txBody>
          <a:bodyPr wrap="square" rtlCol="0" anchor="ctr"/>
          <a:lstStyle/>
          <a:p>
            <a:pPr indent="0" marL="0">
              <a:lnSpc>
                <a:spcPct val="103000"/>
              </a:lnSpc>
              <a:buNone/>
            </a:pPr>
            <a:r>
              <a:rPr lang="en-US" sz="1300" b="1" dirty="0">
                <a:solidFill>
                  <a:srgbClr val="FFFFFF"/>
                </a:solidFill>
                <a:latin typeface="Calibri" pitchFamily="34" charset="0"/>
                <a:ea typeface="Calibri" pitchFamily="34" charset="-122"/>
                <a:cs typeface="Calibri" pitchFamily="34" charset="-120"/>
              </a:rPr>
              <a:t>Interpret &amp; hybridise — </a:t>
            </a:r>
            <a:pPr indent="0" marL="0">
              <a:lnSpc>
                <a:spcPct val="103000"/>
              </a:lnSpc>
              <a:buNone/>
            </a:pPr>
            <a:r>
              <a:rPr lang="en-US" sz="1300" dirty="0">
                <a:solidFill>
                  <a:srgbClr val="C9DCC2"/>
                </a:solidFill>
                <a:latin typeface="Calibri" pitchFamily="34" charset="0"/>
                <a:ea typeface="Calibri" pitchFamily="34" charset="-122"/>
                <a:cs typeface="Calibri" pitchFamily="34" charset="-120"/>
              </a:rPr>
              <a:t>cross-walk embedding dims back to ecology; test a hand-crafted + embedding hybrid; sweep k.</a:t>
            </a:r>
            <a:endParaRPr lang="en-US" sz="1300" dirty="0"/>
          </a:p>
        </p:txBody>
      </p:sp>
      <p:sp>
        <p:nvSpPr>
          <p:cNvPr id="21" name="Shape 14"/>
          <p:cNvSpPr/>
          <p:nvPr/>
        </p:nvSpPr>
        <p:spPr>
          <a:xfrm>
            <a:off x="548640" y="5596128"/>
            <a:ext cx="8138160" cy="0"/>
          </a:xfrm>
          <a:prstGeom prst="line">
            <a:avLst/>
          </a:prstGeom>
          <a:noFill/>
          <a:ln w="12700">
            <a:solidFill>
              <a:srgbClr val="355643"/>
            </a:solidFill>
            <a:prstDash val="solid"/>
          </a:ln>
        </p:spPr>
      </p:sp>
      <p:sp>
        <p:nvSpPr>
          <p:cNvPr id="22" name="Text 15"/>
          <p:cNvSpPr/>
          <p:nvPr/>
        </p:nvSpPr>
        <p:spPr>
          <a:xfrm>
            <a:off x="548640" y="5724144"/>
            <a:ext cx="10789920" cy="640080"/>
          </a:xfrm>
          <a:prstGeom prst="rect">
            <a:avLst/>
          </a:prstGeom>
          <a:noFill/>
          <a:ln/>
        </p:spPr>
        <p:txBody>
          <a:bodyPr wrap="square" rtlCol="0" anchor="ctr"/>
          <a:lstStyle/>
          <a:p>
            <a:pPr indent="0" marL="0">
              <a:lnSpc>
                <a:spcPct val="110000"/>
              </a:lnSpc>
              <a:buNone/>
            </a:pPr>
            <a:r>
              <a:rPr lang="en-US" sz="1400" b="1" dirty="0">
                <a:solidFill>
                  <a:srgbClr val="97BC62"/>
                </a:solidFill>
                <a:latin typeface="Calibri" pitchFamily="34" charset="0"/>
                <a:ea typeface="Calibri" pitchFamily="34" charset="-122"/>
                <a:cs typeface="Calibri" pitchFamily="34" charset="-120"/>
              </a:rPr>
              <a:t>Bottom line:  </a:t>
            </a:r>
            <a:pPr indent="0" marL="0">
              <a:lnSpc>
                <a:spcPct val="110000"/>
              </a:lnSpc>
              <a:buNone/>
            </a:pPr>
            <a:r>
              <a:rPr lang="en-US" sz="1400" i="1" dirty="0">
                <a:solidFill>
                  <a:srgbClr val="D8E6D2"/>
                </a:solidFill>
                <a:latin typeface="Calibri" pitchFamily="34" charset="0"/>
                <a:ea typeface="Calibri" pitchFamily="34" charset="-122"/>
                <a:cs typeface="Calibri" pitchFamily="34" charset="-120"/>
              </a:rPr>
              <a:t>a controlled swap shows the learned embedding separates stands better (+0.113 vs −0.007) — a methods result under label scarcity, honestly bounded.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2026-07-26T17:26:46Z</dcterms:created>
  <dcterms:modified xsi:type="dcterms:W3CDTF">2026-07-26T17:26:46Z</dcterms:modified>
</cp:coreProperties>
</file>