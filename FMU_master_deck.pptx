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notesMasterIdLst>
    <p:notesMasterId r:id="rId5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F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EXPERIMENTS · RESULTS · GAPS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1965960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Forest Monitoring Units (FMU)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66928" y="30632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DDE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unsupervised, multi-sensor framework for delineating forest stands from satellite time series — built end to end on Google Earth Engine.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66928" y="44805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master deck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9D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methodology (v3.1) + feature selection + two swap experiments (optical variant &amp; AlphaEarth) + gaps, SVH test and roadmap. Every claim reconciled against the code.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585216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9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Jaskaran Singh   ·   Study areas: Sanjay Van, Delhi (13.0 km²) · Mudumalai (intended primary)   ·   window 2017–2022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Drawing forest stands at scale, without labels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087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 is a patch of forest internally similar in species mix, structure and condition — and different from its neighbours. Foresters work in stands; the problem is drawing them repeatably, at scale, without hand-digitising.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286000"/>
            <a:ext cx="3471672" cy="3291840"/>
          </a:xfrm>
          <a:prstGeom prst="roundRect">
            <a:avLst>
              <a:gd name="adj" fmla="val 2778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14600"/>
            <a:ext cx="301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295960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wall-to-wall label layer exists for Indian forest stand types. Supervised classification needs labels we don’t have — so let the data define the strata.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58640" y="2286000"/>
            <a:ext cx="3471672" cy="3291840"/>
          </a:xfrm>
          <a:prstGeom prst="roundRect">
            <a:avLst>
              <a:gd name="adj" fmla="val 2778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4672" y="2514600"/>
            <a:ext cx="301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Multi-sensor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4672" y="3063240"/>
            <a:ext cx="295960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sensor captures a stand: optical carries phenology; radar carries structure/moisture and sees through cloud; canopy height carries vertical structure; terrain is the physical template.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50352" y="2286000"/>
            <a:ext cx="3471672" cy="3291840"/>
          </a:xfrm>
          <a:prstGeom prst="roundRect">
            <a:avLst>
              <a:gd name="adj" fmla="val 2778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06384" y="2514600"/>
            <a:ext cx="301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points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06384" y="3063240"/>
            <a:ext cx="295960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units are candidates for spectral/structural communities — the unit behind the Spectral Variation Hypothesis. A destination for biodiversity monitoring, not a finished result.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66928" y="598932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does not measure biodiversity — it produces ecologically structured units that are the right input to an SVH/HVH analysis.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Motivation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FIRST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constraint: there is no ground truth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5448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field-drawn or operational reference stand map exists for these forests.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2194560"/>
            <a:ext cx="11055096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nothing in this deck is validated as ecologically "correct" — that claim needs a reference we do not have.</a:t>
            </a:r>
            <a:endParaRPr lang="en-US" sz="1550" dirty="0"/>
          </a:p>
          <a:p>
            <a:pPr marL="342900" indent="-342900">
              <a:lnSpc>
                <a:spcPct val="103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is bounded to what we CAN measure: internal separation (silhouette), cross-representation agreement (ARI/NMI/overlap), consensus/confidence, and interpretability.</a:t>
            </a:r>
            <a:endParaRPr lang="en-US" sz="1550" dirty="0"/>
          </a:p>
          <a:p>
            <a:pPr marL="342900" indent="-342900">
              <a:lnSpc>
                <a:spcPct val="103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field-wide condition, not a personal one — it is exactly where the contribution lies (see Gaps &amp; Roadmap).</a:t>
            </a:r>
            <a:endParaRPr lang="en-US" sz="1550" dirty="0"/>
          </a:p>
          <a:p>
            <a:pPr marL="342900" indent="-342900">
              <a:lnSpc>
                <a:spcPct val="103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deck is framed this way: a methods comparison under label scarcity, not a validated map.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Framing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at a glance — 11 stages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2286000"/>
            <a:ext cx="1659636" cy="457200"/>
          </a:xfrm>
          <a:prstGeom prst="roundRect">
            <a:avLst>
              <a:gd name="adj" fmla="val 16000"/>
            </a:avLst>
          </a:prstGeom>
          <a:solidFill>
            <a:srgbClr val="E7EE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2286000"/>
            <a:ext cx="14767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mask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263140" y="2514600"/>
            <a:ext cx="128016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55164" y="2286000"/>
            <a:ext cx="1659636" cy="457200"/>
          </a:xfrm>
          <a:prstGeom prst="roundRect">
            <a:avLst>
              <a:gd name="adj" fmla="val 16000"/>
            </a:avLst>
          </a:prstGeom>
          <a:solidFill>
            <a:srgbClr val="E7EE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6604" y="2286000"/>
            <a:ext cx="14767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load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05656" y="2514600"/>
            <a:ext cx="128016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97680" y="2286000"/>
            <a:ext cx="1659636" cy="457200"/>
          </a:xfrm>
          <a:prstGeom prst="roundRect">
            <a:avLst>
              <a:gd name="adj" fmla="val 16000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2286000"/>
            <a:ext cx="14767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optical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8172" y="2514600"/>
            <a:ext cx="128016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40196" y="2286000"/>
            <a:ext cx="1659636" cy="457200"/>
          </a:xfrm>
          <a:prstGeom prst="roundRect">
            <a:avLst>
              <a:gd name="adj" fmla="val 16000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1636" y="2286000"/>
            <a:ext cx="14767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radar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90688" y="2514600"/>
            <a:ext cx="128016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982712" y="2286000"/>
            <a:ext cx="1659636" cy="457200"/>
          </a:xfrm>
          <a:prstGeom prst="roundRect">
            <a:avLst>
              <a:gd name="adj" fmla="val 16000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74152" y="2286000"/>
            <a:ext cx="14767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structure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633204" y="2514600"/>
            <a:ext cx="128016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825228" y="2286000"/>
            <a:ext cx="1659636" cy="457200"/>
          </a:xfrm>
          <a:prstGeom prst="roundRect">
            <a:avLst>
              <a:gd name="adj" fmla="val 16000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16668" y="2286000"/>
            <a:ext cx="14767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static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" y="3657600"/>
            <a:ext cx="1659636" cy="457200"/>
          </a:xfrm>
          <a:prstGeom prst="roundRect">
            <a:avLst>
              <a:gd name="adj" fmla="val 16000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3657600"/>
            <a:ext cx="14767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SNIC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263140" y="3886200"/>
            <a:ext cx="128016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455164" y="3657600"/>
            <a:ext cx="1659636" cy="457200"/>
          </a:xfrm>
          <a:prstGeom prst="roundRect">
            <a:avLst>
              <a:gd name="adj" fmla="val 16000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46604" y="3657600"/>
            <a:ext cx="14767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k-means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105656" y="3886200"/>
            <a:ext cx="128016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297680" y="3657600"/>
            <a:ext cx="1659636" cy="457200"/>
          </a:xfrm>
          <a:prstGeom prst="roundRect">
            <a:avLst>
              <a:gd name="adj" fmla="val 16000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0" y="3657600"/>
            <a:ext cx="14767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profile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948172" y="3886200"/>
            <a:ext cx="128016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140196" y="3657600"/>
            <a:ext cx="1659636" cy="457200"/>
          </a:xfrm>
          <a:prstGeom prst="roundRect">
            <a:avLst>
              <a:gd name="adj" fmla="val 16000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1636" y="3657600"/>
            <a:ext cx="14767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export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790688" y="3886200"/>
            <a:ext cx="128016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982712" y="3657600"/>
            <a:ext cx="1659636" cy="457200"/>
          </a:xfrm>
          <a:prstGeom prst="roundRect">
            <a:avLst>
              <a:gd name="adj" fmla="val 16000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74152" y="3657600"/>
            <a:ext cx="14767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metrics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66928" y="4663440"/>
            <a:ext cx="11055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1–6 build the multi-sensor feature stack · 7 turns pixels into objects (superpixels) · 8 assigns clusters · 9–11 describe, export and evaluate.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566928" y="5257800"/>
            <a:ext cx="11055096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Config-driven: every stage is a Pydantic-validated YAML config, cached as an Earth Engine asset — the whole run is reproducible and cheap to re-run.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Overview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is free, global, and on one platform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055096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4206240"/>
                <a:gridCol w="3291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Optical surface reflectance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Sentinel-2 (harmonized SR)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Phenology (NDVI / NIRv)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C-band SAR backscatter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Sentinel-1 GRD (dB)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/ moisture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Canopy height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 Global Canopy Height, 10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 structure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NASADEM (SRTM lineage)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Elevation, slope, aspect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water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JRC Global Surface Water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to water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Rainfall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CHIRPS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Climate context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Habitat mask — primary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IndiaSAT LULC · CoRE Stack LULC_v4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 to forest / shrub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Habitat mask — fallback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ESA WorldCover 10 m v200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 to forest / shrub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platform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Earth Engine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whole pipeline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Data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MASKING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clustering question well-posed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54480"/>
            <a:ext cx="11055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only what is actually forest or shrub. Leave cropland, built-up, water and bare ground in, and the clusterer spends its budget separating tree from parking lot — instead of one forest type from another.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56032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7ECEC"/>
          </a:solidFill>
          <a:ln w="9525">
            <a:solidFill>
              <a:srgbClr val="E3C9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96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masking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32004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split by land use — forest vs road vs field.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6208" y="256032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Habitat only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10528" y="32004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split by forest type — the question we actually want answered.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598932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binary mask, applied once, up front. Everything downstream runs inside it.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Stage 1 · Masking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MASKING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Habitat = IndiaSAT trees + shrubs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4206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1089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IndiaSAT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Trees · HABITAT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Shrubs / Scrubs · HABITAT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(seasonal)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 8–11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Crops (by intensity)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0" y="1600200"/>
            <a:ext cx="6592824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CoRE Stack LULC_v4 (annual 30 m maps, band predicted_label) — the openly-readable form of IndiaSAT. Classes 6 + 12 kept; all else excluded.</a:t>
            </a:r>
            <a:endParaRPr lang="en-US" sz="135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ESA WorldCover v200 classes 10/20/30 (tree/shrub/grassland), only where IndiaSAT is unavailable.</a:t>
            </a:r>
            <a:endParaRPr lang="en-US" sz="135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phase: no separate water mask — water is dropped because its classes aren’t in the habitat set. JRC water is used later for distance, not masking.</a:t>
            </a:r>
            <a:endParaRPr lang="en-US" sz="135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annual maps (2017–2021) each pixel’s habitat is a majority vote over usable years; ties go to the most recent usable year.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66928" y="598932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from older code: the old WorldCover + JRC water + Open Buildings + VIIRS three-phase mask is superseded by IndiaSAT-first, single phase (fixes mode collapse).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Stage 1 · Masking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DATA LOADING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Pull, composite, and align every sensor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54480"/>
            <a:ext cx="6035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— harmonized SR, cloud-masked, composited; feeds NDVI (baseline) or NIRv (variant).</a:t>
            </a:r>
            <a:endParaRPr lang="en-US" sz="1450" dirty="0"/>
          </a:p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Sentinel-1 — GRD, already in decibels; ASCENDING orbits only.</a:t>
            </a:r>
            <a:endParaRPr lang="en-US" sz="1450" dirty="0"/>
          </a:p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 canopy height, NASADEM — single static rasters. JRC water &amp; CHIRPS — for the static-feature stage.</a:t>
            </a:r>
            <a:endParaRPr lang="en-US" sz="1450" dirty="0"/>
          </a:p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2017–2022 — a 6-year window; every time-series feature shares the same temporal support.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949440" y="1600200"/>
            <a:ext cx="4672584" cy="1828800"/>
          </a:xfrm>
          <a:prstGeom prst="roundRect">
            <a:avLst>
              <a:gd name="adj" fmla="val 5000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8040" y="1737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harmonized S2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78040" y="210312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Jan 2022 ESA shifted the reflectance offset; an unharmonized series would show a fake step the harmonic fit misreads as phenology.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49440" y="3611880"/>
            <a:ext cx="4672584" cy="1828800"/>
          </a:xfrm>
          <a:prstGeom prst="roundRect">
            <a:avLst>
              <a:gd name="adj" fmla="val 5000"/>
            </a:avLst>
          </a:prstGeom>
          <a:solidFill>
            <a:srgbClr val="F7F3EC"/>
          </a:solidFill>
          <a:ln w="9525">
            <a:solidFill>
              <a:srgbClr val="E4D8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3749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6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ASCENDING-only  ·  judgment call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78040" y="411480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ascending/descending passes mixes viewing geometries and shifts backscatter. One orbit removes that, at the cost of ~half the observations. Unvalidated.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Stage 2 · Data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· OPTICAL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Phenology is a fingerprint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5448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forest patch has a yearly rhythm: when it greens up, how strongly it swings between seasons, whether it is greening or browning year on year. Two patches identical in a single snapshot can have completely different calendars.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292608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summarise the whole 6-year curve with a few interpretable numbers — not one date.</a:t>
            </a:r>
            <a:endParaRPr lang="en-US" sz="1600" dirty="0"/>
          </a:p>
        </p:txBody>
      </p:sp>
      <p:pic>
        <p:nvPicPr>
          <p:cNvPr id="7" name="Image 0" descr="/home/user/phd-code/reports/sanjay_van_baseline/phenolog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1554480"/>
            <a:ext cx="4855464" cy="4023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6560" y="5623560"/>
            <a:ext cx="4855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Per-stand seasonal NDVI (real baseline run) — amplitude separates evergreen from deciduous behaviour.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Stage 3 · Optical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· OPTICAL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harmonic model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508760"/>
            <a:ext cx="11055096" cy="640080"/>
          </a:xfrm>
          <a:prstGeom prst="roundRect">
            <a:avLst>
              <a:gd name="adj" fmla="val 11429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508760"/>
            <a:ext cx="106893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NDVI(t) = a  +  b·cos(2πt) + c·sin(2πt)  [ + semi-annual term ]  +  f·t          ( t = years since 2017-01-01, fit per pixel )</a:t>
            </a:r>
            <a:endParaRPr lang="en-US" sz="14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77440"/>
          <a:ext cx="11055096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011680"/>
                <a:gridCol w="63093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 ecologically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greenness / productivity level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amplitude_annual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√(b² + c²)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of the yearly swing (evergreen vs deciduous)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phase_annual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atan2(c, 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 of peak greenness within the year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Inter-annual greening (+) or browning (−)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residual_variance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var(residuals)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quality — DIAGNOSTIC only, NOT a clustering 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598932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fits NDVI; variant fits NIRv (less confounded by soil/saturation) and adds a semi-annual term. residual_variance is exported as a diagnostic — the code now excludes it from clustering.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Stage 3 · Optical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· RADAR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and moisture, through cloud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920240"/>
            <a:ext cx="3471672" cy="3108960"/>
          </a:xfrm>
          <a:prstGeom prst="roundRect">
            <a:avLst>
              <a:gd name="adj" fmla="val 2941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301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 cloud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95960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C-band backscatter is unaffected by cloud, smoke or illumination — observations when optical fails.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58640" y="1920240"/>
            <a:ext cx="3471672" cy="3108960"/>
          </a:xfrm>
          <a:prstGeom prst="roundRect">
            <a:avLst>
              <a:gd name="adj" fmla="val 2941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4672" y="2148840"/>
            <a:ext cx="301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&amp; moisture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4672" y="2834640"/>
            <a:ext cx="295960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Backscatter rises with vegetation volume and water content, independent of canopy colour.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50352" y="1920240"/>
            <a:ext cx="3471672" cy="3108960"/>
          </a:xfrm>
          <a:prstGeom prst="roundRect">
            <a:avLst>
              <a:gd name="adj" fmla="val 2941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06384" y="2148840"/>
            <a:ext cx="301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Cross-pol VH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06384" y="2834640"/>
            <a:ext cx="295960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cross-polarised return is sensitive to volume scattering of a structured canopy; the VH–VV relationship tracks density and phenology.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66928" y="598932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does two things optical cannot: it sees through cloud, and it responds to structure and moisture rather than colour — not a luxury for a cloudy-season country.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Stage 4 · Radar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· RADAR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compute from Sentinel-1 — 9 features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055096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023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Percentiles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VV p10/p50/p90 · VH p10/p50/p90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/ median / high backscatter over 6 years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spread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vv_iqr, vh_iqr  (p90 − p10)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backscatter varies through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Cross-pol contrast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vv_minus_vh_median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cross-polarisation contrast, in 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3794760"/>
            <a:ext cx="11055096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in dB: a difference in dB is the log of a ratio, so VV − VH is the cross-pol ratio expressed additively — the scale-stable encoding.</a:t>
            </a:r>
            <a:endParaRPr lang="en-US" sz="135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spatial speckle filter: speckle averages down over independent looks; temporal percentiles and a 6-year median suppress it without blurring boundaries.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66928" y="598932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fix reflected: the temporal spread is p90 − p10 (was IQR).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Stage 4 · Radar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·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Canopy height and its local texture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055096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11896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canopy_height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 10 m height — the most direct structural variable available wall to wall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canopy_height_std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in a 3×3 window — local roughness of the canopy top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canopy_height_max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in a 3×3 window — the tallest neighbour (smooth plantation vs ragged natural canopy)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3566160"/>
            <a:ext cx="11055096" cy="1737360"/>
          </a:xfrm>
          <a:prstGeom prst="roundRect">
            <a:avLst>
              <a:gd name="adj" fmla="val 5263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3703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ETH, and where it leads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1248" y="4114800"/>
            <a:ext cx="105064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 fuses GEDI lidar with Sentinel-2 into a continuous 10 m raster — chosen over GEDI’s sparse footprints, which a wall-to-wall segmentation can’t use. Canopy-height heterogeneity is itself a proposed diversity proxy under the Height Variation Hypothesis (HVH).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Stage 5 · Structure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 · STATIC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Terrain, water, and rainfall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600200"/>
            <a:ext cx="11055096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— elevation, slope, aspect from NASADEM: the physical template that sets moisture, insolation and drainage.</a:t>
            </a:r>
            <a:endParaRPr lang="en-US" sz="1500" dirty="0"/>
          </a:p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water — to nearest JRC permanent-water pixel, capped at 1000 px (a reasonable but arbitrary cutoff — judgment call).</a:t>
            </a:r>
            <a:endParaRPr lang="en-US" sz="1500" dirty="0"/>
          </a:p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— annual_rainfall, the CHIRPS climatological mean: context, useful for larger AOIs.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3840480"/>
            <a:ext cx="11055096" cy="1554480"/>
          </a:xfrm>
          <a:prstGeom prst="roundRect">
            <a:avLst>
              <a:gd name="adj" fmla="val 5882"/>
            </a:avLst>
          </a:prstGeom>
          <a:solidFill>
            <a:srgbClr val="F7F3EC"/>
          </a:solidFill>
          <a:ln w="9525">
            <a:solidFill>
              <a:srgbClr val="E4D8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6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annual_rainfall is dropped at clustering  ·  reasoning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4343400"/>
            <a:ext cx="105064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CHIRPS pixels are ~5.5 km, so a site like Sanjay Van sits inside roughly one cell — the variable is near-constant across the AOI and adds no within-AOI separation, so it is computed but kept out of the clustering vector. Aspect is circular and is decomposed (sin/cos) before clustering.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Stage 6 · Static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feature space — 22 baseline, 25 variant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600200"/>
            <a:ext cx="5943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phenology: mean, amplitude, phase (sin/cos), trend — NDVI (baseline) or NIRv + semi-annual (variant).</a:t>
            </a:r>
            <a:endParaRPr lang="en-US" sz="1400" dirty="0"/>
          </a:p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(9): VV/VH p10/p50/p90, vv_iqr, vh_iqr, vv_minus_vh_median.</a:t>
            </a:r>
            <a:endParaRPr lang="en-US" sz="1400" dirty="0"/>
          </a:p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(3): canopy_height, _std, _max.</a:t>
            </a:r>
            <a:endParaRPr lang="en-US" sz="1400" dirty="0"/>
          </a:p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Static: elevation, slope, aspect (sin/cos).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75120" y="1600200"/>
            <a:ext cx="4946904" cy="3749040"/>
          </a:xfrm>
          <a:prstGeom prst="roundRect">
            <a:avLst>
              <a:gd name="adj" fmla="val 2439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1783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Computed but NOT clustered — each for a stated reason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03720" y="2423160"/>
            <a:ext cx="4535424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residual_variance — a fit-quality diagnostic (cloud, sparse obs), not ecology.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annual_rainfall — near-constant over a small AOI.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obs_count — a data-density diagnostic.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03720" y="4206240"/>
            <a:ext cx="45354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phase/aspect each expanded into sin/cos and the three diagnostics excluded, the clustering vector is exactly 22 (baseline) / 25 (variant).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598932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Retires the old deck’s 20–21 / 23–26 counts; code and deck now agree on 22 / 25 and on the exclude-list.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Features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 · SEGMENTATION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places, not pixels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5448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raw pixels gives salt-and-pepper: neighbours in the same stand scatter into different clusters because of per-pixel noise.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per-pixel features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767328" y="2971800"/>
            <a:ext cx="5486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407408" y="26060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adjacent, similar pixels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(SNIC superpixels)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882128" y="2971800"/>
            <a:ext cx="5486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522208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the segments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3931920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adjacent, similar pixels into segments first, then cluster the segments — within-stand variability drops out. In computer-vision terms these segments are superpixels.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598932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Segment-then-classify over per-pixel clustering is well established (OBIA).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Stage 7 · Segmentation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 · SEGMENTATION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SNIC superpixels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600200"/>
            <a:ext cx="65836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improvement on SLIC: non-iterative, enforces connectivity from the start, low memory, fast — well suited to Earth Engine.</a:t>
            </a:r>
            <a:endParaRPr lang="en-US" sz="145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5 normalised bands: B4_median · B8_median · composite_nirv · canopy_height · vv_minus_vh_median.</a:t>
            </a:r>
            <a:endParaRPr lang="en-US" sz="145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size 10 · compactness 0.5 · connectivity 8 · neighbourhood 128 — chosen empirically, not swept (judgment call).</a:t>
            </a:r>
            <a:endParaRPr lang="en-US" sz="145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Z-scored first, so canopy height in metres can’t dominate reflectances in [0,1].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0" y="1737360"/>
            <a:ext cx="4306824" cy="2377440"/>
          </a:xfrm>
          <a:prstGeom prst="roundRect">
            <a:avLst>
              <a:gd name="adj" fmla="val 3846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4380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Boundaries FIXED across configs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43800" y="2423160"/>
            <a:ext cx="384962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SNIC is computed once and held byte-identical for baseline, variant AND the embedding arm — the lever that isolates the feature effect. It is the experimental control for every comparison in this deck.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Stage 7 · Segmentation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· SEGMENTATION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 features ≠ clustering features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54480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SNIC only draws boundaries (where the landscape changes); k-means decides what each region is (the full 22/25 stack). Boundary-finding uses a deliberately reduced set — for four reasons.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377440"/>
            <a:ext cx="5367528" cy="1417320"/>
          </a:xfrm>
          <a:prstGeom prst="roundRect">
            <a:avLst>
              <a:gd name="adj" fmla="val 6452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505456"/>
            <a:ext cx="4910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Redundancy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95528" y="2889504"/>
            <a:ext cx="4910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22 share a source and are correlated; feed them all and whichever sensor has the most columns dominates the distance. One representative per signal.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2377440"/>
            <a:ext cx="5367528" cy="1417320"/>
          </a:xfrm>
          <a:prstGeom prst="roundRect">
            <a:avLst>
              <a:gd name="adj" fmla="val 6452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83096" y="2505456"/>
            <a:ext cx="4910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83096" y="2889504"/>
            <a:ext cx="4910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Noisier derived bands (phase, trend, residual variance, the IQRs) inject spurious per-pixel texture — SNIC would carve superpixels around fitting artifacts.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023360"/>
            <a:ext cx="5367528" cy="1417320"/>
          </a:xfrm>
          <a:prstGeom prst="roundRect">
            <a:avLst>
              <a:gd name="adj" fmla="val 6452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4151376"/>
            <a:ext cx="4910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Dimensionality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95528" y="4535424"/>
            <a:ext cx="4910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SNIC trades feature distance against spatial compactness; add bands and the feature distances concentrate, the spatial term is swamped, superpixels stop being clean.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54496" y="4023360"/>
            <a:ext cx="5367528" cy="1417320"/>
          </a:xfrm>
          <a:prstGeom prst="roundRect">
            <a:avLst>
              <a:gd name="adj" fmla="val 6452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83096" y="4151376"/>
            <a:ext cx="4910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control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83096" y="4535424"/>
            <a:ext cx="4910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must be identical across configs to isolate the feature effect — that requires a fixed band set; the variant’s extra harmonics must not move segments.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Feature selection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· SEGMENTATION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five SNIC bands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055096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194560"/>
                <a:gridCol w="6391656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earns a slot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B4 — red (median)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Optical colour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 single optical separator (red/NIR edge); median = temporally stable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B8 — NIR (median)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Optical colour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Pairs with red for the vegetation edge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NIRv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Optical productivity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integrative, soil/saturation-robust greenness summary shared by both configs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canopy_height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 structure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dominant empirical separator (~11.5 m cluster spread at Sanjay Van)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vv_minus_vh_median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Radar structure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 boundaries under cloud/canopy that reflectance misses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598932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span is optical colour + productivity + vertical structure + radar structure (minimal redundancy). The exact five were not ablated vs another four/six — same status as the SNIC parameters, under the "no sensitivity analysis" gap.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Feature selection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8 · CLUSTERING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superpixels to clusters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645920"/>
            <a:ext cx="1890979" cy="868680"/>
          </a:xfrm>
          <a:prstGeom prst="roundRect">
            <a:avLst>
              <a:gd name="adj" fmla="val 8421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645920"/>
            <a:ext cx="1890979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superpixel →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feature vector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21915" y="2075688"/>
            <a:ext cx="18288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23667" y="1645920"/>
            <a:ext cx="1890979" cy="868680"/>
          </a:xfrm>
          <a:prstGeom prst="roundRect">
            <a:avLst>
              <a:gd name="adj" fmla="val 8421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23667" y="1645920"/>
            <a:ext cx="1890979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 sin/cos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(phase, aspect)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32934" y="2075688"/>
            <a:ext cx="18288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34686" y="1645920"/>
            <a:ext cx="1890979" cy="868680"/>
          </a:xfrm>
          <a:prstGeom prst="roundRect">
            <a:avLst>
              <a:gd name="adj" fmla="val 8421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34686" y="1645920"/>
            <a:ext cx="1890979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skewed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43954" y="2075688"/>
            <a:ext cx="18288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245706" y="1645920"/>
            <a:ext cx="1890979" cy="868680"/>
          </a:xfrm>
          <a:prstGeom prst="roundRect">
            <a:avLst>
              <a:gd name="adj" fmla="val 8421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45706" y="1645920"/>
            <a:ext cx="1890979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median/IQR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54973" y="2075688"/>
            <a:ext cx="18288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456725" y="1645920"/>
            <a:ext cx="1890979" cy="868680"/>
          </a:xfrm>
          <a:prstGeom prst="roundRect">
            <a:avLst>
              <a:gd name="adj" fmla="val 8421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56725" y="1645920"/>
            <a:ext cx="1890979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 = 6)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2834640"/>
            <a:ext cx="11055096" cy="1188720"/>
          </a:xfrm>
          <a:prstGeom prst="roundRect">
            <a:avLst>
              <a:gd name="adj" fmla="val 7692"/>
            </a:avLst>
          </a:prstGeom>
          <a:solidFill>
            <a:srgbClr val="F4F8F1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Exclude-list — code and deck agree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41248" y="3337560"/>
            <a:ext cx="10506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residual_variance is a fit-quality diagnostic, not a feature: the clustering exclude-list drops it alongside obs_count and annual_rainfall, so k-means never sees it.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66928" y="4206240"/>
            <a:ext cx="11055096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 sin/cos so December (≈2π) and January (≈0) aren’t "far apart"; log compresses right tails; robust median/IQR is outlier-resistant; standardise so no band dominates Euclidean distance.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Stage 8 · Clustering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8 · CLUSTERING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principled — and what’s still a guess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554480"/>
            <a:ext cx="5344668" cy="3474720"/>
          </a:xfrm>
          <a:prstGeom prst="roundRect">
            <a:avLst>
              <a:gd name="adj" fmla="val 2632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Principled (reasoning)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2194560"/>
            <a:ext cx="4796028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 sin/cos for phase &amp; aspect</a:t>
            </a:r>
            <a:endParaRPr lang="en-US" sz="1400" dirty="0"/>
          </a:p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 for skewed bands</a:t>
            </a:r>
            <a:endParaRPr lang="en-US" sz="1400" dirty="0"/>
          </a:p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median/IQR scaling</a:t>
            </a:r>
            <a:endParaRPr lang="en-US" sz="1400" dirty="0"/>
          </a:p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before Euclidean distance</a:t>
            </a:r>
            <a:endParaRPr lang="en-US" sz="1400" dirty="0"/>
          </a:p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 seeding for stability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7356" y="1554480"/>
            <a:ext cx="5344668" cy="3474720"/>
          </a:xfrm>
          <a:prstGeom prst="roundRect">
            <a:avLst>
              <a:gd name="adj" fmla="val 2632"/>
            </a:avLst>
          </a:prstGeom>
          <a:solidFill>
            <a:srgbClr val="F7F3EC"/>
          </a:solidFill>
          <a:ln w="9525">
            <a:solidFill>
              <a:srgbClr val="E4D8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1676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6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Judgment calls (need validation)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97396" y="2194560"/>
            <a:ext cx="4796028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6 — needs a silhouette/elbow sweep or ecological prior</a:t>
            </a:r>
            <a:endParaRPr lang="en-US" sz="1400" dirty="0"/>
          </a:p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= 42</a:t>
            </a:r>
            <a:endParaRPr lang="en-US" sz="1400" dirty="0"/>
          </a:p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threshold = 1.0</a:t>
            </a:r>
            <a:endParaRPr lang="en-US" sz="1400" dirty="0"/>
          </a:p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10,000-superpixel training sample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Stage 8 · Clustering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· CLUSTERING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weak features — decide by ablation, not assertion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554480"/>
            <a:ext cx="5344668" cy="2286000"/>
          </a:xfrm>
          <a:prstGeom prst="roundRect">
            <a:avLst>
              <a:gd name="adj" fmla="val 4000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— "weak" ≠ "useless"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86968" y="2103120"/>
            <a:ext cx="4796028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Site-specific: amplitude/phase are flat in urban scrub but dominant across Mudumalai’s deciduous gradients — pruning to one weak AOI breaks transfer.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≠ joint: k-means uses joint distance; a feature with small 1-D spread can still split otherwise-overlapping clusters.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value + ~zero cost (already computed).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554480"/>
            <a:ext cx="5344668" cy="22860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 w="9525">
            <a:solidFill>
              <a:srgbClr val="E4D8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1676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6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Genuine drop candidates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97396" y="2103120"/>
            <a:ext cx="4796028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IQRs (vv_iqr, vh_iqr): near-zero spread AND a mechanism — ASCENDING-only, limited looks may be capturing speckle/sampling variance, not real dynamics. Strongest ablation target.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vv_minus_vh_median: weak in profiles but doing double duty as a SNIC band — test before assuming idle.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4023360"/>
            <a:ext cx="11055096" cy="1371600"/>
          </a:xfrm>
          <a:prstGeom prst="roundRect">
            <a:avLst>
              <a:gd name="adj" fmla="val 6667"/>
            </a:avLst>
          </a:prstGeom>
          <a:solidFill>
            <a:srgbClr val="F4F8F1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4160520"/>
            <a:ext cx="10506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 (Phase 0): full stack vs reduced stack — compare partitions with the ARI/NMI already in the pipeline, run at BOTH Sanjay Van and Mudumalai.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41248" y="4617720"/>
            <a:ext cx="105064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≈ 1 at Sanjay Van but the reduced set collapses clusters at Mudumalai → the weak features do transferable work, keep them. Dropping the SAR IQRs changes nothing anywhere → drop them, and say why. Trap: don’t over-prune toward "only what separates Sanjay Van".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Feature selection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9 · PROFILING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every cluster a readable fingerprint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600200"/>
            <a:ext cx="6035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each cluster’s features in original units — height in metres, backscatter in dB, NDVI unitless — not scaled space.</a:t>
            </a:r>
            <a:endParaRPr lang="en-US" sz="1500" dirty="0"/>
          </a:p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are only interpretable if you can read them as "tall, low-seasonality, far from water".</a:t>
            </a:r>
            <a:endParaRPr lang="en-US" sz="1500" dirty="0"/>
          </a:p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cluster_profiles.csv — one row per cluster, the fingerprint of each stand type, the input to every results figure.</a:t>
            </a:r>
            <a:endParaRPr lang="en-US" sz="1500" dirty="0"/>
          </a:p>
        </p:txBody>
      </p:sp>
      <p:pic>
        <p:nvPicPr>
          <p:cNvPr id="6" name="Image 0" descr="/home/user/phd-code/reports/sanjay_van_baseline/fingerpri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1554480"/>
            <a:ext cx="4855464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0" y="5623560"/>
            <a:ext cx="4855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Per-stand z-scored feature signature (real baseline run): orange above / blue below the cross-stand average.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Stage 9 · Profiling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10 · EXPORT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Rasters, vectors, and a manifest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11055096" cy="1097280"/>
          </a:xfrm>
          <a:prstGeom prst="roundRect">
            <a:avLst>
              <a:gd name="adj" fmla="val 8333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5564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18688" y="1737360"/>
            <a:ext cx="8129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GeoTIFFs — the single-band cluster-label map, plus two multi-band rasters carrying every feature (one in original units, one in the scaled space k-means saw) with the cluster label.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880360"/>
            <a:ext cx="11055096" cy="1097280"/>
          </a:xfrm>
          <a:prstGeom prst="roundRect">
            <a:avLst>
              <a:gd name="adj" fmla="val 8333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99008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18688" y="2971800"/>
            <a:ext cx="8129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stands_snic (the superpixels) and stands_dissolved (superpixels merged by cluster into stand polygons) — each as SHP and GeoJSON.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4114800"/>
            <a:ext cx="11055096" cy="1097280"/>
          </a:xfrm>
          <a:prstGeom prst="roundRect">
            <a:avLst>
              <a:gd name="adj" fmla="val 8333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422452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Manifest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18688" y="4206240"/>
            <a:ext cx="8129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of configuration and outputs — what makes a run repeatable.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598932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stands_dissolved is the usable stand map — the layer a forester or ecologist actually opens (the old export slide omitted it; B4 GeoTIFF fix applied).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Stage 10 · Export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11 · METRICS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a configuration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055096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63256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measures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cohesion vs separation of one clustering — no labels needed (intrinsic)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Adjusted Rand Index (ARI)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Agreement of two partitions, corrected for chance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Normalized Mutual Information (NMI)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information between two partitions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Hungarian correspondence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one-to-one matching of cluster IDs between two runs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4023360"/>
            <a:ext cx="110550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is internal — it judges one clustering’s geometry. ARI and NMI are comparative — how much two clusterings agree. The Hungarian step lines up cluster IDs first, since cluster 3 in one run may be cluster 5 in another. Higher silhouette = tighter, better-separated stands; it needs no ground truth, so it is the one number directly comparable across every arm.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Stage 11 · Metrics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F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 · OPTICAL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2743200"/>
            <a:ext cx="110550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vs variant — one variable changed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single-harmonic vs NIRv + dual-harmonic. SNIC held fixed, so any difference is the optical features alone.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C-0 · 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NIRv + dual-harmonic change the map?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pic>
        <p:nvPicPr>
          <p:cNvPr id="5" name="Image 0" descr="/home/user/phd-code/reports/comparison_sanjay_van_nirv_dual_vs_sanjay_van_baseline/confus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554480"/>
            <a:ext cx="384048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46320" y="1737360"/>
            <a:ext cx="6775704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0.49 · NMI 0.55 — the two partitions agree moderately, not fully.</a:t>
            </a:r>
            <a:endParaRPr lang="en-US" sz="1450" dirty="0"/>
          </a:p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of superpixels keep the same stand once cluster IDs are aligned.</a:t>
            </a:r>
            <a:endParaRPr lang="en-US" sz="1450" dirty="0"/>
          </a:p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−0.007 (baseline) → +0.010 (variant): both near zero — stands overlap heavily in feature space either way.</a:t>
            </a:r>
            <a:endParaRPr lang="en-US" sz="1450" dirty="0"/>
          </a:p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variant reshuffles some boundaries but does not, here, produce a sharply better-separated map.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66928" y="598932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Row-normalised overlap after Hungarian matching (green ring = best match). SNIC fixed, so the difference is the optical features alone. Distinct from Experiment C-1 (AlphaEarth).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Experiment C-0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RUN ·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separates the stands at Sanjay Van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pic>
        <p:nvPicPr>
          <p:cNvPr id="5" name="Image 0" descr="/home/user/phd-code/reports/sanjay_van_baseline/separating_pow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554480"/>
            <a:ext cx="676656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0" y="1737360"/>
            <a:ext cx="4123944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Canopy structure leads — the stands are mostly a structural partition.</a:t>
            </a:r>
            <a:endParaRPr lang="en-US" sz="135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backscatter is the secondary axis; NDVI level and cross-pol separate weakly.</a:t>
            </a:r>
            <a:endParaRPr lang="en-US" sz="135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distance_to_water is flat — near-constant across stands here.</a:t>
            </a:r>
            <a:endParaRPr lang="en-US" sz="135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urban-forest finding: stands differ more in build than in greenness rhythm — one reason the NIRv/dual-harmonic variant exists.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66928" y="56235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Between-stand separation per feature (real baseline run). Higher = the feature drives the partition.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Results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RUN ·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stand map and what defines each stand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 map (stands_dissolved)</a:t>
            </a:r>
            <a:endParaRPr lang="en-US" sz="1400" dirty="0"/>
          </a:p>
        </p:txBody>
      </p:sp>
      <p:pic>
        <p:nvPicPr>
          <p:cNvPr id="6" name="Image 0" descr="/home/user/phd-code/reports/sanjay_van_baseline/stand_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783080"/>
            <a:ext cx="4206240" cy="3840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0936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Per-stand signature (z-scored)</a:t>
            </a:r>
            <a:endParaRPr lang="en-US" sz="1400" dirty="0"/>
          </a:p>
        </p:txBody>
      </p:sp>
      <p:pic>
        <p:nvPicPr>
          <p:cNvPr id="8" name="Image 1" descr="/home/user/phd-code/reports/sanjay_van_baseline/fingerprin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783080"/>
            <a:ext cx="5486400" cy="31089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09360" y="49377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stand types over ~968 ha of habitat inside the 13.0 km² AOI. Each colour = one k-means cluster. Canopy-height and radar columns carry the strongest contrast; distance_to_water is flat.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Results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RUN ·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seasonal rhythm of each stand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pic>
        <p:nvPicPr>
          <p:cNvPr id="5" name="Image 0" descr="/home/user/phd-code/reports/sanjay_van_baseline/phenolog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554480"/>
            <a:ext cx="676656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0" y="1828800"/>
            <a:ext cx="4123944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stand greens up mid-year with the monsoon — the timing (phase) is shared.</a:t>
            </a:r>
            <a:endParaRPr lang="en-US" sz="1400" dirty="0"/>
          </a:p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separate mainly in overall NDVI level and in amplitude (the size of the seasonal swing).</a:t>
            </a:r>
            <a:endParaRPr lang="en-US" sz="1400" dirty="0"/>
          </a:p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is what tells evergreen-like from deciduous-like behaviour.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6928" y="56235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Per-stand seasonal NDVI rebuilt from the fitted harmonic (real baseline run).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Results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F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2 · EMBEDDING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2743200"/>
            <a:ext cx="110550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vs AlphaEarth — swap the whole feature arm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has moved from hand-engineering features to clustering pretrained per-pixel embeddings. Same SNIC, same k — only the feature vector changes.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C-1 ·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hand-crafted features to pretrained embeddings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600200"/>
            <a:ext cx="11055096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AlphaEarth Foundations (Brown et al. 2025): a 64-D embedding per 10 m pixel per year, global, shipped inside Earth Engine — designed as a drop-in feature vector.</a:t>
            </a:r>
            <a:endParaRPr lang="en-US" sz="1500" dirty="0"/>
          </a:p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 (Feng et al. 2025): 128-D, self-supervised on Sentinel-1/2 time series, preserves phenology, CC0 — the open counterpart (intended 3rd arm).</a:t>
            </a:r>
            <a:endParaRPr lang="en-US" sz="1500" dirty="0"/>
          </a:p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 pretrained embedding is now a mainstream workflow — the field independently converged on FMU’s "embedding → k-means → strata" design.</a:t>
            </a:r>
            <a:endParaRPr lang="en-US" sz="1500" dirty="0"/>
          </a:p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question is not "why not embeddings?" but "do they produce more-separable stands than the hand-crafted stack, here?" — a falsifiable test.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Experiment C-1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C-1 ·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Swap only the feature arm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Hand-crafted 22-band stack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224528" y="2194560"/>
            <a:ext cx="45720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773168" y="2011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(k=6)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76288" y="2194560"/>
            <a:ext cx="45720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424928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stands (Arm A)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AlphaEarth 64-D embedding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224528" y="3200400"/>
            <a:ext cx="45720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773168" y="3017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(k=6)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76288" y="3200400"/>
            <a:ext cx="45720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424928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stands (Arm B)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62288" y="2194560"/>
            <a:ext cx="0" cy="100584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62288" y="2697480"/>
            <a:ext cx="45720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710928" y="23317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· NMI · silhouette · agreement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" y="4114800"/>
            <a:ext cx="11055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identical for both arms: SNIC boundaries · k = 6 · random seed · ROI · time window. Only the feature vector changes — so any difference is the representation, not the pipeline.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Experiment C-1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C-1 · RESULT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AlphaEarth separates the stands far better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pic>
        <p:nvPicPr>
          <p:cNvPr id="5" name="Image 0" descr="/home/user/phd-code/reports/multi_sanjay_van_baseline/silhouette_ba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645920"/>
            <a:ext cx="694944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38160" y="18288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+0.113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138160" y="2606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AlphaEarth silhouette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38160" y="32004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−0.007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138160" y="3977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silhouette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66928" y="475488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is intrinsic — comparable across arms without any reference.</a:t>
            </a:r>
            <a:endParaRPr lang="en-US" sz="135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AlphaEarth is clearly more separable; the baseline sits essentially at zero.</a:t>
            </a:r>
            <a:endParaRPr lang="en-US" sz="135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limit: +0.113 is still "weak structure" in absolute terms, and this is internal geometry — not ecological correctness.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Experiment C-1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C-1 · RESULT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boundaries, different stands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508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(hand-crafted)</a:t>
            </a:r>
            <a:endParaRPr lang="en-US" sz="1400" dirty="0"/>
          </a:p>
        </p:txBody>
      </p:sp>
      <p:pic>
        <p:nvPicPr>
          <p:cNvPr id="6" name="Image 0" descr="/home/user/phd-code/reports/multi_sanjay_van_baseline/_sanjay_van_baseline/stand_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828800"/>
            <a:ext cx="3200400" cy="3840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0" y="1508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AlphaEarth (embedding)</a:t>
            </a:r>
            <a:endParaRPr lang="en-US" sz="1400" dirty="0"/>
          </a:p>
        </p:txBody>
      </p:sp>
      <p:pic>
        <p:nvPicPr>
          <p:cNvPr id="8" name="Image 1" descr="/home/user/phd-code/reports/multi_sanjay_van_baseline/_sanjay_van_alphaearth/stand_ma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0" y="1828800"/>
            <a:ext cx="3200400" cy="384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38160" y="1920240"/>
            <a:ext cx="3483864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SNIC boundaries in both; only the cluster assignment differs.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 are per-arm — the same colour is a different stand in each map.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AlphaEarth gives larger, more contiguous stands; the baseline is more fragmented — the visual counterpart of the silhouette gap.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Experiment C-1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C-1 · RESULT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representations delineate quite differently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pic>
        <p:nvPicPr>
          <p:cNvPr id="5" name="Image 0" descr="/home/user/phd-code/reports/multi_sanjay_van_baseline/_sanjay_van_alphaearth/confus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600200"/>
            <a:ext cx="374904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0" y="1828800"/>
            <a:ext cx="6867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 0.17     NMI 0.23     Agreement 41%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754880" y="2468880"/>
            <a:ext cx="6867144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Low-to-moderate agreement: after Hungarian alignment only ~41% of pixels fall in corresponding stands.</a:t>
            </a:r>
            <a:endParaRPr lang="en-US" sz="140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rings mark each AlphaEarth stand’s best-matching baseline stand — one maps cleanly (73%), a few moderately (49%, 48%), two are smeared.</a:t>
            </a:r>
            <a:endParaRPr lang="en-US" sz="140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arm is a reference; this only quantifies how much the representation reshapes the map.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Experiment C-1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C-1 · RESULT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per-stand consensus (confidence) layer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pic>
        <p:nvPicPr>
          <p:cNvPr id="5" name="Image 0" descr="/home/user/phd-code/reports/multi_sanjay_van_baseline/_sanjay_van_alphaearth/confide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737360"/>
            <a:ext cx="6766560" cy="25925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457200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40%      33% of area ≥ 80% agreement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6928" y="5074920"/>
            <a:ext cx="11055096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= how often the two representations place a stand in corresponding classes (the agreement map rolled up per stand).</a:t>
            </a:r>
            <a:endParaRPr lang="en-US" sz="140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stability / uncertainty layer a forester can act on — explicitly NOT a correctness score, which would need ground truth.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Experiment C-1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C-1 · TRADE-OFF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Separability comes at the cost of interpretability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00200"/>
            <a:ext cx="5344668" cy="3657600"/>
          </a:xfrm>
          <a:prstGeom prst="roundRect">
            <a:avLst>
              <a:gd name="adj" fmla="val 2500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— readable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2240280"/>
            <a:ext cx="4796028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profile in real ecological units:</a:t>
            </a:r>
            <a:endParaRPr lang="en-US" sz="135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canopy height &amp; vertical structure</a:t>
            </a:r>
            <a:endParaRPr lang="en-US" sz="135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mean, amplitude &amp; phenological phase</a:t>
            </a:r>
            <a:endParaRPr lang="en-US" sz="135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VV/VH radar backscatter · elevation, slope</a:t>
            </a:r>
            <a:endParaRPr lang="en-US" sz="135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"Stand 3 is short, sparse canopy on a dry slope."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7356" y="1600200"/>
            <a:ext cx="5344668" cy="3657600"/>
          </a:xfrm>
          <a:prstGeom prst="roundRect">
            <a:avLst>
              <a:gd name="adj" fmla="val 2500"/>
            </a:avLst>
          </a:prstGeom>
          <a:solidFill>
            <a:srgbClr val="F7F3EC"/>
          </a:solidFill>
          <a:ln w="9525">
            <a:solidFill>
              <a:srgbClr val="E4D8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1676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96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AlphaEarth — abstract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97396" y="2240280"/>
            <a:ext cx="4796028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profile in 64 learned dimensions:</a:t>
            </a:r>
            <a:endParaRPr lang="en-US" sz="135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A00, A01, A02 … A63 — no physical units</a:t>
            </a:r>
            <a:endParaRPr lang="en-US" sz="135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separable, but not directly nameable</a:t>
            </a:r>
            <a:endParaRPr lang="en-US" sz="135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ecological meaning must be recovered post-hoc</a:t>
            </a:r>
            <a:endParaRPr lang="en-US" sz="135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"Stand 3 is high on A17, low on A40." — separable, not self-explaining.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Experiment C-1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C-1 · HONEST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comparison does and does not show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DOES show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196596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representations cluster the forest differently (ARI 0.17).</a:t>
            </a:r>
            <a:endParaRPr lang="en-US" sz="1400" dirty="0"/>
          </a:p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AlphaEarth clusters are internally more separable (+0.113 vs −0.007).</a:t>
            </a:r>
            <a:endParaRPr lang="en-US" sz="1400" dirty="0"/>
          </a:p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agree can be mapped as a consensus layer.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96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does NOT show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965960"/>
            <a:ext cx="5221224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either representation is ecologically more correct — no ground truth.</a:t>
            </a:r>
            <a:endParaRPr lang="en-US" sz="1400" dirty="0"/>
          </a:p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validity — all scores are internal (agreement between arms is not truth).</a:t>
            </a:r>
            <a:endParaRPr lang="en-US" sz="1400" dirty="0"/>
          </a:p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Generality — one AOI (Sanjay Van, the secondary site), one k, two arms, not pre-registered.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598932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Phase-1 result needs external validation + the Mudumalai run + a pre-registered hypothesis (see Roadmap).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Experiment C-1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THIRD ARM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Tessera — attempted, not completed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5344668" cy="3566160"/>
          </a:xfrm>
          <a:prstGeom prst="roundRect">
            <a:avLst>
              <a:gd name="adj" fmla="val 2564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 &amp; why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2194560"/>
            <a:ext cx="4796028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pretrained per-pixel embedding (128-D, S1/S2 time-series, preserves phenology, CC0) — off-GEE, ingested as an EE asset.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three-way comparison (hand-crafted vs AlphaEarth vs Tessera).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already source-agnostic: the features_embedding stage loads either embedding unchanged.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7356" y="1645920"/>
            <a:ext cx="5344668" cy="3566160"/>
          </a:xfrm>
          <a:prstGeom prst="roundRect">
            <a:avLst>
              <a:gd name="adj" fmla="val 2564"/>
            </a:avLst>
          </a:prstGeom>
          <a:solidFill>
            <a:srgbClr val="F7F3EC"/>
          </a:solidFill>
          <a:ln w="9525">
            <a:solidFill>
              <a:srgbClr val="E4D8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1676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6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blocked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97396" y="2194560"/>
            <a:ext cx="4796028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for the Delhi ROI, Tessera publishes tiles only for 2024–2025 — a temporal mismatch with AlphaEarth’s 2017–2022 window.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Ingestion: geotessera 0.9.0 reports a covering tile but writes no GeoTIFF, so the mosaic step fails.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scaffolding in place; a clean run needs a fixed fetch + a stated window caveat.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598932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transparently: the third arm is future work, not a result. No Tessera numbers appear anywhere in this deck.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Tessera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F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&amp;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2743200"/>
            <a:ext cx="110550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384048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separate literature review (~246 verified DOIs): the field is six currents around one binding constraint — and India owns that constraint.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gap underneath all the others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5448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is no independent, stand-level ground reference.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66928" y="2194560"/>
            <a:ext cx="11055096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"ecologically meaningful" is neither provable nor falsifiable at scale.</a:t>
            </a:r>
            <a:endParaRPr lang="en-US" sz="1500" dirty="0"/>
          </a:p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delineation has no agreed validation grammar — only internal, circular metrics.</a:t>
            </a:r>
            <a:endParaRPr lang="en-US" sz="1500" dirty="0"/>
          </a:p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clusters get checked against land-cover labels, not against ecology.</a:t>
            </a:r>
            <a:endParaRPr lang="en-US" sz="1500" dirty="0"/>
          </a:p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field-wide condition — and India (FSI working-plan compartments + Mudumalai ForestGEO) is where the reference can be built. That is a comparative advantage in ground truth, the field’s binding constraint.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Gaps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Gaps on the committed path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055096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774936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validation grammar for unsupervised delineation (internal metrics are circular)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"stand" is aggregated from superpixels, never drawn or tested against a reference 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and segmentation parameters chosen unprincipled; k = 6 asserted, not swept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 vs hand-crafted features never raced head-to-head for stand clustering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G10–G13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"spectral community" bridge (SVH) is untested in Indian dry forest; no falsifiable claim yet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598932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AlphaEarth run (C-1) is a first attack on G4 — but internal-only, so it does not yet close it; it needs G1/G2 external validation.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Gaps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· THE SCIENTIFIC CORE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SVH test (what would close G10–G13)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54480"/>
            <a:ext cx="11055096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Variation Hypothesis (SVH): spectral heterogeneity as a proxy for biological diversity.</a:t>
            </a:r>
            <a:endParaRPr lang="en-US" sz="1400" dirty="0"/>
          </a:p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Alpha-SVH: within a patch, does more spectral variation mean more species?</a:t>
            </a:r>
            <a:endParaRPr lang="en-US" sz="1400" dirty="0"/>
          </a:p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Beta-SVH: do two spectrally different patches also differ in species? — THIS validates a stand boundary.</a:t>
            </a:r>
            <a:endParaRPr lang="en-US" sz="1400" dirty="0"/>
          </a:p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correlate spectral distance vs field species turnover across units, with a permutation / Mantel null (spatial autocorrelation fakes a positive otherwise).</a:t>
            </a:r>
            <a:endParaRPr lang="en-US" sz="1400" dirty="0"/>
          </a:p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Site: the Mudumalai ForestGEO stem-mapped plot gives the real species ground truth.</a:t>
            </a:r>
            <a:endParaRPr lang="en-US" sz="1400" dirty="0"/>
          </a:p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falsifiable — the sharpest paper in the field is a falsification (Schmidtlein &amp; Fassnacht 2017); in Indian dry forest it was tested once, with mixed results (Nagendra 2010).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SVH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turn C-1 into a real result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645920"/>
            <a:ext cx="11055096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external validation (the missing piece): score each arm against an independent reference, not just against each other — national forest-type maps (Roy 2015 / Reddy 2015) and FSI products (coarse, wall-to-wall), plus the Mudumalai ForestGEO plot (fine, real, one plot).</a:t>
            </a:r>
            <a:endParaRPr lang="en-US" sz="1500" dirty="0"/>
          </a:p>
          <a:p>
            <a:pPr marL="342900" indent="-342900">
              <a:lnSpc>
                <a:spcPct val="103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Mudumalai as the primary AOI — it carries the ground truth; Sanjay Van becomes the transfer test.</a:t>
            </a:r>
            <a:endParaRPr lang="en-US" sz="1500" dirty="0"/>
          </a:p>
          <a:p>
            <a:pPr marL="342900" indent="-342900">
              <a:lnSpc>
                <a:spcPct val="103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Tessera arm (fix ingestion) for a three-way comparison.</a:t>
            </a:r>
            <a:endParaRPr lang="en-US" sz="1500" dirty="0"/>
          </a:p>
          <a:p>
            <a:pPr marL="342900" indent="-342900">
              <a:lnSpc>
                <a:spcPct val="103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 the hypothesis before running, so the pipeline can fail (closes the "no committed hypothesis" gap).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598932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+ exploratory → tested + externally validated. That is the jump from "we produced a map" to "we tested a hypothesis about the map."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Gaps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phased plan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00200"/>
            <a:ext cx="11055096" cy="960120"/>
          </a:xfrm>
          <a:prstGeom prst="roundRect">
            <a:avLst>
              <a:gd name="adj" fmla="val 9524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6916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0 (2–4 wk)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18688" y="1673352"/>
            <a:ext cx="82204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replication defensible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k-selection sweep · parameter &amp; feature-ablation sensitivity (both AOIs) · complete the Mudumalai run.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660904"/>
            <a:ext cx="1105509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752344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(2–3 mo)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18688" y="2734056"/>
            <a:ext cx="82204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swap, externally validated → first paper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AlphaEarth (+ Tessera) arms; score internal AND external; pre-register the falsifiable H0.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721608"/>
            <a:ext cx="11055096" cy="960120"/>
          </a:xfrm>
          <a:prstGeom prst="roundRect">
            <a:avLst>
              <a:gd name="adj" fmla="val 9524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3813048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(4–6 mo)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18688" y="3794760"/>
            <a:ext cx="82204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falsifiable SVH/HVH test → scientific core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Phase-1 references; test spectral-community boundaries vs field turnover at Mudumalai.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4782312"/>
            <a:ext cx="1105509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487375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(start now)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218688" y="4855464"/>
            <a:ext cx="82204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Indian stand-reference layer → unique asset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FSI working-plan compartments; digitise a division. Access is the bottleneck — begin in month 1.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Roadmap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decisions and known gaps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00200"/>
            <a:ext cx="5344668" cy="3657600"/>
          </a:xfrm>
          <a:prstGeom prst="roundRect">
            <a:avLst>
              <a:gd name="adj" fmla="val 2500"/>
            </a:avLst>
          </a:prstGeom>
          <a:solidFill>
            <a:srgbClr val="F7F3EC"/>
          </a:solidFill>
          <a:ln w="9525">
            <a:solidFill>
              <a:srgbClr val="E4D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6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Inherited / unvalidated settings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86968" y="2148840"/>
            <a:ext cx="4796028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6 — not justified by a sweep or ecological prior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= 42 · skewness threshold = 1.0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SNIC size / compactness / connectivity / neighbourhood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SNIC bands (not ablated)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10,000-superpixel training sample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distance-to-water cap (1000 px)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ASCENDING-only Sentinel-1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600200"/>
            <a:ext cx="5344668" cy="3657600"/>
          </a:xfrm>
          <a:prstGeom prst="roundRect">
            <a:avLst>
              <a:gd name="adj" fmla="val 2500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1676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gaps — next phase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97396" y="2148840"/>
            <a:ext cx="4796028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validation framework beyond visual inspection and internal metrics — clusters not checked against an independent ground reference.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parameter/feature sensitivity analysis yet — we don’t know how far the map moves when the constants move.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committed falsifiable hypothesis — the framework produces stands but hasn’t stated a claim it could fail.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Limitations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can honestly say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11055096" cy="1143000"/>
          </a:xfrm>
          <a:prstGeom prst="roundRect">
            <a:avLst>
              <a:gd name="adj" fmla="val 8000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55648"/>
            <a:ext cx="10506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A working, reproducible pipeline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41248" y="2121408"/>
            <a:ext cx="10506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delineates forest stands from a multi-sensor time series, fully unsupervised, config-driven and cached in Earth Engine — baseline, optical variant and embedding arms all run end-to-end.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566928" y="2926080"/>
            <a:ext cx="11055096" cy="1143000"/>
          </a:xfrm>
          <a:prstGeom prst="roundRect">
            <a:avLst>
              <a:gd name="adj" fmla="val 8000"/>
            </a:avLst>
          </a:prstGeom>
          <a:solidFill>
            <a:srgbClr val="F7F3EC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3035808"/>
            <a:ext cx="10506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96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Two controlled experiments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3401568"/>
            <a:ext cx="10506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C-0 (optical variant) reshuffles moderately (ARI 0.49); C-1 (AlphaEarth) is more separable (silhouette −0.007 → +0.113) but delineates differently (ARI 0.17) and trades away interpretability.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566928" y="4206240"/>
            <a:ext cx="11055096" cy="1143000"/>
          </a:xfrm>
          <a:prstGeom prst="roundRect">
            <a:avLst>
              <a:gd name="adj" fmla="val 8000"/>
            </a:avLst>
          </a:prstGeom>
          <a:solidFill>
            <a:srgbClr val="EEF3E9"/>
          </a:solidFill>
          <a:ln w="9525">
            <a:solidFill>
              <a:srgbClr val="CBD8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4315968"/>
            <a:ext cx="10506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A methods comparison under label scarcity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4681728"/>
            <a:ext cx="10506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contribution is controlled representation comparisons + a per-stand consensus layer — honest about the absence of ground truth, not a claim that either map is "correct".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Conclusions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papers — status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08760"/>
            <a:ext cx="11055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 (verified / in the deck reference list)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1874520"/>
            <a:ext cx="11055096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AlphaEarth Foundations — Brown et al. 2025, arXiv:2507.22291.   TESSERA — Feng et al. 2025, arXiv:2506.20380.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SVH origin — Palmer et al. 2002 (Environmetrics 13:121).   Rocchini et al. 2010 (Ecological Informatics 5:318).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"Spectral species" — Féret &amp; Asner 2014 (Ecological Applications 24:1289).   HVH — Torresani et al. 2020 (Ecological Indicators 117:106520).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SVH falsification — Schmidtlein &amp; Fassnacht 2017 (RSE, doi:10.1016/j.rse.2017.01.036).   SVH 20-yr review — Torresani et al. 2024.   Indian dry-forest SVH — Nagendra 2010 (doi:10.3390/rs2020478).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3977640"/>
            <a:ext cx="11055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6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confirm with Claude Science (not asserted here)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4343400"/>
            <a:ext cx="11055096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SVH design checklist "Wallis 2025" — exact reference?   Confounds: Wang 2017 (grain/scale) and Thornley 2022 (phenology).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forest-type reference maps: Roy 2015, Reddy 2015.   Delineation: Xiong 2024 (Silva Fennica), Sandum/Ørka 2026 (U-Net).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Claude Science session cited "Rocchini 2004"; the v3.1 deck cites Rocchini 2010 — confirm which.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Papers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(1 / 2)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54480"/>
            <a:ext cx="11055096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Gorelick et al. 2017. Google Earth Engine. RSE 202, 18–27.</a:t>
            </a:r>
            <a:endParaRPr lang="en-US" sz="115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Drusch et al. 2012. Sentinel-2. RSE 120, 25–36.   [3] Torres et al. 2012. Sentinel-1 mission. RSE 120, 9–24.</a:t>
            </a:r>
            <a:endParaRPr lang="en-US" sz="115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Bansal et al. 2021. IndiaSat. ACM COMPASS, 147–155.   [5] Zanaga et al. 2022. ESA WorldCover v200.</a:t>
            </a:r>
            <a:endParaRPr lang="en-US" sz="115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Jakubauskas et al. 2001. Harmonic analysis of NDVI. PE&amp;RS 67(4).   [7] Moody &amp; Johnson 2001. DFT phenology. RSE 75(3).</a:t>
            </a:r>
            <a:endParaRPr lang="en-US" sz="115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Wilson et al. 2018. Harmonic regression of Landsat. ISPRS 137.   [9] Zhu &amp; Woodcock 2014. CCDC. RSE 144.</a:t>
            </a:r>
            <a:endParaRPr lang="en-US" sz="115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Badgley et al. 2017. NIRv. Science Advances 3(3).   [11] Vreugdenhil et al. 2018. S1 backscatter &amp; vegetation. RS 10(9).</a:t>
            </a:r>
            <a:endParaRPr lang="en-US" sz="115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Lang et al. 2023. Global canopy height. Nat. Ecol. Evol. 7(11).   [13] Dubayah et al. 2020. GEDI. Sci. Remote Sens. 1.</a:t>
            </a:r>
            <a:endParaRPr lang="en-US" sz="115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Pekel et al. 2016. Global surface water. Nature 540.   [15] Funk et al. 2015. CHIRPS. Scientific Data 2.</a:t>
            </a:r>
            <a:endParaRPr lang="en-US" sz="115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 Farr et al. 2007. SRTM. Rev. Geophysics 45(2).   [17] Achanta &amp; Süsstrunk 2017. SNIC. CVPR.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References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(2 / 2)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54480"/>
            <a:ext cx="11055096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65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 Achanta et al. 2012. SLIC. IEEE TPAMI 34(11).   [19] Blaschke 2010. OBIA. ISPRS 65(1).</a:t>
            </a:r>
            <a:endParaRPr lang="en-US" sz="1100" dirty="0"/>
          </a:p>
          <a:p>
            <a:pPr marL="342900" indent="-342900">
              <a:lnSpc>
                <a:spcPct val="103000"/>
              </a:lnSpc>
              <a:spcAft>
                <a:spcPts val="65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[20] Hossain &amp; Chen 2019. OBIA segmentation review. ISPRS 150.   [21] Kotaridis &amp; Lazaridou 2021. Segmentation meta-analysis. ISPRS 173.</a:t>
            </a:r>
            <a:endParaRPr lang="en-US" sz="1100" dirty="0"/>
          </a:p>
          <a:p>
            <a:pPr marL="342900" indent="-342900">
              <a:lnSpc>
                <a:spcPct val="103000"/>
              </a:lnSpc>
              <a:spcAft>
                <a:spcPts val="65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[22] Lloyd 1982. k-means. IEEE IT 28(2).   [23] MacQueen 1967. Classification. Berkeley Symp.   [24] Arthur &amp; Vassilvitskii 2007. k-means++. SODA.</a:t>
            </a:r>
            <a:endParaRPr lang="en-US" sz="1100" dirty="0"/>
          </a:p>
          <a:p>
            <a:pPr marL="342900" indent="-342900">
              <a:lnSpc>
                <a:spcPct val="103000"/>
              </a:lnSpc>
              <a:spcAft>
                <a:spcPts val="65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[25] Mardia &amp; Jupp 2000. Directional Statistics. Wiley.   [26] Rousseeuw 1987. Silhouettes. JCAM 20.</a:t>
            </a:r>
            <a:endParaRPr lang="en-US" sz="1100" dirty="0"/>
          </a:p>
          <a:p>
            <a:pPr marL="342900" indent="-342900">
              <a:lnSpc>
                <a:spcPct val="103000"/>
              </a:lnSpc>
              <a:spcAft>
                <a:spcPts val="65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[27] Hubert &amp; Arabie 1985. Comparing partitions (ARI). J. Classification 2(1).   [28] Vinh et al. 2010. Info-theoretic clustering (NMI). JMLR 11.</a:t>
            </a:r>
            <a:endParaRPr lang="en-US" sz="1100" dirty="0"/>
          </a:p>
          <a:p>
            <a:pPr marL="342900" indent="-342900">
              <a:lnSpc>
                <a:spcPct val="103000"/>
              </a:lnSpc>
              <a:spcAft>
                <a:spcPts val="65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[29] Kuhn 1955. Hungarian method. Naval Res. Logistics 2.   [30] Palmer et al. 2002. Species lists. Environmetrics 13(2).</a:t>
            </a:r>
            <a:endParaRPr lang="en-US" sz="1100" dirty="0"/>
          </a:p>
          <a:p>
            <a:pPr marL="342900" indent="-342900">
              <a:lnSpc>
                <a:spcPct val="103000"/>
              </a:lnSpc>
              <a:spcAft>
                <a:spcPts val="65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[31] Rocchini et al. 2010. Spectral heterogeneity as diversity proxy. Ecol. Informatics 5(5).   [32] Féret &amp; Asner 2014. Canopy diversity. Ecol. Applications 24(6).</a:t>
            </a:r>
            <a:endParaRPr lang="en-US" sz="1100" dirty="0"/>
          </a:p>
          <a:p>
            <a:pPr marL="342900" indent="-342900">
              <a:lnSpc>
                <a:spcPct val="103000"/>
              </a:lnSpc>
              <a:spcAft>
                <a:spcPts val="65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[33] Torresani et al. 2020. Height Variation Hypothesis. Ecol. Indicators 117.   [34] Torresani et al. 2024. Reviewing the SVH. Ecol. Informatics.</a:t>
            </a:r>
            <a:endParaRPr lang="en-US" sz="1100" dirty="0"/>
          </a:p>
          <a:p>
            <a:pPr marL="342900" indent="-342900">
              <a:lnSpc>
                <a:spcPct val="103000"/>
              </a:lnSpc>
              <a:spcAft>
                <a:spcPts val="65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[35] Brown et al. 2025. AlphaEarth Foundations. arXiv:2507.22291.   [36] Feng et al. 2025. TESSERA. arXiv:2506.20380.</a:t>
            </a:r>
            <a:endParaRPr lang="en-US" sz="1100" dirty="0"/>
          </a:p>
          <a:p>
            <a:pPr marL="342900" indent="-342900">
              <a:lnSpc>
                <a:spcPct val="103000"/>
              </a:lnSpc>
              <a:spcAft>
                <a:spcPts val="65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[37] Schmidtlein &amp; Fassnacht 2017. SVH test. RSE.   [38] Nagendra 2010. Spectral diversity, Indian forest. Remote Sensing 2(2).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References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term, defined (1 / 2)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54480"/>
            <a:ext cx="11055096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— (NIR − Red)/(NIR + Red); greenness, −1 to 1.   NIRv — NDVI × NIR; productivity proxy, less soil/saturation confounded.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amplitude — √(b²+c²); size of the yearly swing.   Phase — atan2(c,b); timing of peak greenness (split sin/cos).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— linear per-year term; multi-year greening (+) / browning (−).   residual_variance — harmonic-fit residual variance; diagnostic, not clustered.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VV / VH — co- / cross-pol C-band backscatter (dB).   p10/p50/p90 — low/median/high backscatter over the series.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(p90 − p10) — temporal spread of backscatter.   Cross-pol contrast — VV median − VH median (dB).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Canopy height — ETH 10 m value (m).   Canopy roughness (_std) / _max — std / max in a 3×3 window.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/ slope / aspect — NASADEM terrain; aspect split sin/cos.   distance_to_water — metres to nearest JRC permanent water (capped).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annual_rainfall — CHIRPS climatological mean; computed but not clustered.   Habitat mask — binary forest/shrub layer applied before clustering.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Glossary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term, defined (2 / 2)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0"/>
          </a:xfrm>
          <a:prstGeom prst="line">
            <a:avLst/>
          </a:prstGeom>
          <a:noFill/>
          <a:ln w="12700">
            <a:solidFill>
              <a:srgbClr val="CB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54480"/>
            <a:ext cx="11055096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Superpixel / SNIC — a segment of adjacent, similar pixels; SNIC (Simple Non-Iterative Clustering) makes them.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/ standardise — (x − mean)/spread.   Robust scaling — (x − median)/IQR; outlier-resistant.   Log-transform — for right-skewed bands.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 sin/cos — splitting an angle so 0° and 360° aren’t "far apart".   k-means / k-means++ — partition into k groups; ++ spreads initial centres.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— internal cohesion vs separation, −1 to 1; no labels.   ARI — chance-corrected agreement of two partitions, −1 to 1.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 — information shared by two partitions, 0 to 1.   Hungarian — optimal one-to-one matching of cluster IDs.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— a learned per-pixel feature vector (AlphaEarth 64-D, TESSERA 128-D).   Agreement map — per-pixel 0/1 match after Hungarian alignment.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— per-stand mean of the agreement map (consensus, not correctness).   AOI — area of interest.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SVH / HVH — Spectral / Height Variation Hypothesis: spectral or structural heterogeneity as a biodiversity proxy.   Alpha / Beta diversity — within-unit richness / between-unit turnover.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· Forest Monitoring Units</a:t>
            </a:r>
            <a:pPr algn="l" indent="0" marL="0">
              <a:buNone/>
            </a:pPr>
            <a:r>
              <a:rPr lang="en-US" sz="900" dirty="0">
                <a:solidFill>
                  <a:srgbClr val="4E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Glossary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2026-07-28T23:16:13Z</dcterms:created>
  <dcterms:modified xsi:type="dcterms:W3CDTF">2026-07-28T23:16:13Z</dcterms:modified>
</cp:coreProperties>
</file>